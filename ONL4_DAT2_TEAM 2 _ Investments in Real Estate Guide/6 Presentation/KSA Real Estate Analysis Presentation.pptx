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6" r:id="rId21"/>
    <p:sldId id="276" r:id="rId22"/>
    <p:sldId id="277" r:id="rId23"/>
    <p:sldId id="278" r:id="rId24"/>
    <p:sldId id="279" r:id="rId25"/>
    <p:sldId id="280" r:id="rId26"/>
    <p:sldId id="281" r:id="rId27"/>
    <p:sldId id="282" r:id="rId28"/>
    <p:sldId id="283" r:id="rId29"/>
    <p:sldId id="284" r:id="rId30"/>
    <p:sldId id="285" r:id="rId31"/>
  </p:sldIdLst>
  <p:sldSz cx="18288000" cy="10287000"/>
  <p:notesSz cx="6858000" cy="9144000"/>
  <p:embeddedFontLst>
    <p:embeddedFont>
      <p:font typeface="Arial Bold" panose="020B0704020202020204" pitchFamily="34" charset="0"/>
      <p:regular r:id="rId32"/>
      <p:bold r:id="rId33"/>
    </p:embeddedFont>
    <p:embeddedFont>
      <p:font typeface="Cambria" panose="02040503050406030204" pitchFamily="18" charset="0"/>
      <p:regular r:id="rId34"/>
      <p:bold r:id="rId35"/>
      <p:italic r:id="rId36"/>
      <p:boldItalic r:id="rId37"/>
    </p:embeddedFont>
    <p:embeddedFont>
      <p:font typeface="Canva Sans" panose="020B0604020202020204" charset="0"/>
      <p:regular r:id="rId38"/>
    </p:embeddedFont>
    <p:embeddedFont>
      <p:font typeface="Canva Sans Bold" panose="020B0604020202020204" charset="0"/>
      <p:regular r:id="rId39"/>
    </p:embeddedFont>
    <p:embeddedFont>
      <p:font typeface="Horizon" panose="020B0604020202020204" charset="0"/>
      <p:regular r:id="rId40"/>
    </p:embeddedFont>
    <p:embeddedFont>
      <p:font typeface="Montserrat Bold" panose="020B0604020202020204" charset="0"/>
      <p:regular r:id="rId41"/>
      <p:bold r:id="rId42"/>
    </p:embeddedFont>
    <p:embeddedFont>
      <p:font typeface="Montserrat Ultra-Bold" panose="020B0604020202020204"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5A5C"/>
    <a:srgbClr val="F7F2DE"/>
    <a:srgbClr val="08B1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4.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8.svg"/><Relationship Id="rId4" Type="http://schemas.openxmlformats.org/officeDocument/2006/relationships/image" Target="../media/image4.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8.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8.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8.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8.sv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9.jpeg"/><Relationship Id="rId11" Type="http://schemas.openxmlformats.org/officeDocument/2006/relationships/image" Target="../media/image34.png"/><Relationship Id="rId5" Type="http://schemas.openxmlformats.org/officeDocument/2006/relationships/image" Target="../media/image8.svg"/><Relationship Id="rId10" Type="http://schemas.openxmlformats.org/officeDocument/2006/relationships/image" Target="../media/image33.png"/><Relationship Id="rId4" Type="http://schemas.openxmlformats.org/officeDocument/2006/relationships/image" Target="../media/image4.png"/><Relationship Id="rId9" Type="http://schemas.openxmlformats.org/officeDocument/2006/relationships/image" Target="../media/image32.jpeg"/></Relationships>
</file>

<file path=ppt/slides/_rels/slide19.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png"/><Relationship Id="rId7"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5.jpeg"/><Relationship Id="rId11" Type="http://schemas.openxmlformats.org/officeDocument/2006/relationships/image" Target="../media/image39.jpeg"/><Relationship Id="rId5" Type="http://schemas.openxmlformats.org/officeDocument/2006/relationships/image" Target="../media/image8.svg"/><Relationship Id="rId10" Type="http://schemas.openxmlformats.org/officeDocument/2006/relationships/image" Target="../media/image38.jpeg"/><Relationship Id="rId4" Type="http://schemas.openxmlformats.org/officeDocument/2006/relationships/image" Target="../media/image4.png"/><Relationship Id="rId9" Type="http://schemas.openxmlformats.org/officeDocument/2006/relationships/image" Target="../media/image37.jpeg"/></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pn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0.png"/><Relationship Id="rId11" Type="http://schemas.microsoft.com/office/2007/relationships/hdphoto" Target="../media/hdphoto3.wdp"/><Relationship Id="rId5" Type="http://schemas.openxmlformats.org/officeDocument/2006/relationships/image" Target="../media/image8.svg"/><Relationship Id="rId10" Type="http://schemas.openxmlformats.org/officeDocument/2006/relationships/image" Target="../media/image42.png"/><Relationship Id="rId4" Type="http://schemas.openxmlformats.org/officeDocument/2006/relationships/image" Target="../media/image4.png"/><Relationship Id="rId9" Type="http://schemas.microsoft.com/office/2007/relationships/hdphoto" Target="../media/hdphoto2.wdp"/></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8.sv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8.sv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8.svg"/><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8.sv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51.jpeg"/></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png"/><Relationship Id="rId7" Type="http://schemas.openxmlformats.org/officeDocument/2006/relationships/image" Target="../media/image53.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2.png"/><Relationship Id="rId5" Type="http://schemas.openxmlformats.org/officeDocument/2006/relationships/image" Target="../media/image8.svg"/><Relationship Id="rId10"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hyperlink" Target="https://predicting-real-estate-prices-in-saudi-arabia-ne64og9uhlvbyyzy.streamlit.app"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8.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5.jpeg"/><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43732">
                <a:alpha val="55686"/>
              </a:srgbClr>
            </a:solidFill>
          </p:spPr>
          <p:txBody>
            <a:bodyPr/>
            <a:lstStyle/>
            <a:p>
              <a:endParaRPr lang="ar-EG"/>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89647" y="768919"/>
            <a:ext cx="18288000" cy="1476385"/>
            <a:chOff x="0" y="0"/>
            <a:chExt cx="24384000" cy="1968513"/>
          </a:xfrm>
        </p:grpSpPr>
        <p:sp>
          <p:nvSpPr>
            <p:cNvPr id="7" name="Freeform 7"/>
            <p:cNvSpPr/>
            <p:nvPr/>
          </p:nvSpPr>
          <p:spPr>
            <a:xfrm>
              <a:off x="0" y="839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3"/>
              <a:stretch>
                <a:fillRect/>
              </a:stretch>
            </a:blipFill>
          </p:spPr>
          <p:txBody>
            <a:bodyPr/>
            <a:lstStyle/>
            <a:p>
              <a:endParaRPr lang="ar-EG"/>
            </a:p>
          </p:txBody>
        </p:sp>
        <p:sp>
          <p:nvSpPr>
            <p:cNvPr id="8" name="Freeform 8"/>
            <p:cNvSpPr/>
            <p:nvPr/>
          </p:nvSpPr>
          <p:spPr>
            <a:xfrm>
              <a:off x="1892958" y="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4"/>
              <a:stretch>
                <a:fillRect/>
              </a:stretch>
            </a:blipFill>
          </p:spPr>
          <p:txBody>
            <a:bodyPr/>
            <a:lstStyle/>
            <a:p>
              <a:endParaRPr lang="ar-EG"/>
            </a:p>
          </p:txBody>
        </p:sp>
        <p:sp>
          <p:nvSpPr>
            <p:cNvPr id="9" name="Freeform 9"/>
            <p:cNvSpPr/>
            <p:nvPr/>
          </p:nvSpPr>
          <p:spPr>
            <a:xfrm>
              <a:off x="21033698" y="83968"/>
              <a:ext cx="3350302" cy="1884545"/>
            </a:xfrm>
            <a:custGeom>
              <a:avLst/>
              <a:gdLst/>
              <a:ahLst/>
              <a:cxnLst/>
              <a:rect l="l" t="t" r="r" b="b"/>
              <a:pathLst>
                <a:path w="3350302" h="1884545">
                  <a:moveTo>
                    <a:pt x="0" y="0"/>
                  </a:moveTo>
                  <a:lnTo>
                    <a:pt x="3350302" y="0"/>
                  </a:lnTo>
                  <a:lnTo>
                    <a:pt x="3350302" y="1884545"/>
                  </a:lnTo>
                  <a:lnTo>
                    <a:pt x="0" y="1884545"/>
                  </a:lnTo>
                  <a:lnTo>
                    <a:pt x="0" y="0"/>
                  </a:lnTo>
                  <a:close/>
                </a:path>
              </a:pathLst>
            </a:custGeom>
            <a:blipFill>
              <a:blip r:embed="rId5"/>
              <a:stretch>
                <a:fillRect/>
              </a:stretch>
            </a:blipFill>
          </p:spPr>
          <p:txBody>
            <a:bodyPr/>
            <a:lstStyle/>
            <a:p>
              <a:endParaRPr lang="ar-EG"/>
            </a:p>
          </p:txBody>
        </p:sp>
      </p:grpSp>
      <p:grpSp>
        <p:nvGrpSpPr>
          <p:cNvPr id="10" name="Group 10"/>
          <p:cNvGrpSpPr/>
          <p:nvPr/>
        </p:nvGrpSpPr>
        <p:grpSpPr>
          <a:xfrm>
            <a:off x="0" y="3452495"/>
            <a:ext cx="18288000" cy="13781300"/>
            <a:chOff x="0" y="0"/>
            <a:chExt cx="1078598" cy="812800"/>
          </a:xfrm>
        </p:grpSpPr>
        <p:sp>
          <p:nvSpPr>
            <p:cNvPr id="11" name="Freeform 11"/>
            <p:cNvSpPr/>
            <p:nvPr/>
          </p:nvSpPr>
          <p:spPr>
            <a:xfrm>
              <a:off x="0" y="0"/>
              <a:ext cx="1078598" cy="812800"/>
            </a:xfrm>
            <a:custGeom>
              <a:avLst/>
              <a:gdLst/>
              <a:ahLst/>
              <a:cxnLst/>
              <a:rect l="l" t="t" r="r" b="b"/>
              <a:pathLst>
                <a:path w="1078598" h="812800">
                  <a:moveTo>
                    <a:pt x="539299" y="0"/>
                  </a:moveTo>
                  <a:cubicBezTo>
                    <a:pt x="241452" y="0"/>
                    <a:pt x="0" y="181951"/>
                    <a:pt x="0" y="406400"/>
                  </a:cubicBezTo>
                  <a:cubicBezTo>
                    <a:pt x="0" y="630849"/>
                    <a:pt x="241452" y="812800"/>
                    <a:pt x="539299" y="812800"/>
                  </a:cubicBezTo>
                  <a:cubicBezTo>
                    <a:pt x="837146" y="812800"/>
                    <a:pt x="1078598" y="630849"/>
                    <a:pt x="1078598" y="406400"/>
                  </a:cubicBezTo>
                  <a:cubicBezTo>
                    <a:pt x="1078598" y="181951"/>
                    <a:pt x="837146" y="0"/>
                    <a:pt x="539299" y="0"/>
                  </a:cubicBezTo>
                  <a:close/>
                </a:path>
              </a:pathLst>
            </a:custGeom>
            <a:solidFill>
              <a:srgbClr val="135A5C">
                <a:alpha val="60784"/>
              </a:srgbClr>
            </a:solidFill>
          </p:spPr>
          <p:txBody>
            <a:bodyPr/>
            <a:lstStyle/>
            <a:p>
              <a:endParaRPr lang="ar-EG"/>
            </a:p>
          </p:txBody>
        </p:sp>
        <p:sp>
          <p:nvSpPr>
            <p:cNvPr id="12" name="TextBox 12"/>
            <p:cNvSpPr txBox="1"/>
            <p:nvPr/>
          </p:nvSpPr>
          <p:spPr>
            <a:xfrm>
              <a:off x="101119" y="19050"/>
              <a:ext cx="876361" cy="717550"/>
            </a:xfrm>
            <a:prstGeom prst="rect">
              <a:avLst/>
            </a:prstGeom>
          </p:spPr>
          <p:txBody>
            <a:bodyPr lIns="50800" tIns="50800" rIns="50800" bIns="50800" rtlCol="0" anchor="ctr"/>
            <a:lstStyle/>
            <a:p>
              <a:pPr algn="ctr">
                <a:lnSpc>
                  <a:spcPts val="3359"/>
                </a:lnSpc>
              </a:pPr>
              <a:endParaRPr/>
            </a:p>
          </p:txBody>
        </p:sp>
      </p:grpSp>
      <p:grpSp>
        <p:nvGrpSpPr>
          <p:cNvPr id="13" name="Group 13"/>
          <p:cNvGrpSpPr/>
          <p:nvPr/>
        </p:nvGrpSpPr>
        <p:grpSpPr>
          <a:xfrm>
            <a:off x="0" y="3756847"/>
            <a:ext cx="18288000" cy="3382009"/>
            <a:chOff x="0" y="0"/>
            <a:chExt cx="24384000" cy="4509346"/>
          </a:xfrm>
        </p:grpSpPr>
        <p:sp>
          <p:nvSpPr>
            <p:cNvPr id="14" name="Freeform 14"/>
            <p:cNvSpPr/>
            <p:nvPr/>
          </p:nvSpPr>
          <p:spPr>
            <a:xfrm>
              <a:off x="18819233" y="2254673"/>
              <a:ext cx="1760830" cy="1805983"/>
            </a:xfrm>
            <a:custGeom>
              <a:avLst/>
              <a:gdLst/>
              <a:ahLst/>
              <a:cxnLst/>
              <a:rect l="l" t="t" r="r" b="b"/>
              <a:pathLst>
                <a:path w="1760830" h="1805983">
                  <a:moveTo>
                    <a:pt x="0" y="0"/>
                  </a:moveTo>
                  <a:lnTo>
                    <a:pt x="1760831" y="0"/>
                  </a:lnTo>
                  <a:lnTo>
                    <a:pt x="1760831" y="1805983"/>
                  </a:lnTo>
                  <a:lnTo>
                    <a:pt x="0" y="1805983"/>
                  </a:lnTo>
                  <a:lnTo>
                    <a:pt x="0" y="0"/>
                  </a:lnTo>
                  <a:close/>
                </a:path>
              </a:pathLst>
            </a:custGeom>
            <a:blipFill>
              <a:blip r:embed="rId6"/>
              <a:stretch>
                <a:fillRect l="-1282" r="-1282"/>
              </a:stretch>
            </a:blipFill>
          </p:spPr>
          <p:txBody>
            <a:bodyPr/>
            <a:lstStyle/>
            <a:p>
              <a:endParaRPr lang="ar-EG"/>
            </a:p>
          </p:txBody>
        </p:sp>
        <p:sp>
          <p:nvSpPr>
            <p:cNvPr id="15" name="TextBox 15"/>
            <p:cNvSpPr txBox="1"/>
            <p:nvPr/>
          </p:nvSpPr>
          <p:spPr>
            <a:xfrm>
              <a:off x="0" y="-276225"/>
              <a:ext cx="24384000" cy="4308051"/>
            </a:xfrm>
            <a:prstGeom prst="rect">
              <a:avLst/>
            </a:prstGeom>
          </p:spPr>
          <p:txBody>
            <a:bodyPr lIns="0" tIns="0" rIns="0" bIns="0" rtlCol="0" anchor="t">
              <a:spAutoFit/>
            </a:bodyPr>
            <a:lstStyle/>
            <a:p>
              <a:pPr algn="ctr">
                <a:lnSpc>
                  <a:spcPts val="12880"/>
                </a:lnSpc>
              </a:pPr>
              <a:r>
                <a:rPr lang="en-US" sz="9200">
                  <a:solidFill>
                    <a:srgbClr val="F7F2DE"/>
                  </a:solidFill>
                  <a:latin typeface="Horizon"/>
                  <a:ea typeface="Horizon"/>
                  <a:cs typeface="Horizon"/>
                  <a:sym typeface="Horizon"/>
                </a:rPr>
                <a:t>KSA Real Estate Analysis</a:t>
              </a:r>
            </a:p>
          </p:txBody>
        </p:sp>
        <p:sp>
          <p:nvSpPr>
            <p:cNvPr id="16" name="TextBox 16"/>
            <p:cNvSpPr txBox="1"/>
            <p:nvPr/>
          </p:nvSpPr>
          <p:spPr>
            <a:xfrm>
              <a:off x="2887186" y="3974676"/>
              <a:ext cx="18609628" cy="534670"/>
            </a:xfrm>
            <a:prstGeom prst="rect">
              <a:avLst/>
            </a:prstGeom>
          </p:spPr>
          <p:txBody>
            <a:bodyPr lIns="0" tIns="0" rIns="0" bIns="0" rtlCol="0" anchor="t">
              <a:spAutoFit/>
            </a:bodyPr>
            <a:lstStyle/>
            <a:p>
              <a:pPr algn="ctr">
                <a:lnSpc>
                  <a:spcPts val="3359"/>
                </a:lnSpc>
              </a:pPr>
              <a:r>
                <a:rPr lang="en-US" sz="2400" b="1">
                  <a:solidFill>
                    <a:srgbClr val="F7F2DE"/>
                  </a:solidFill>
                  <a:latin typeface="Arial Bold"/>
                  <a:ea typeface="Arial Bold"/>
                  <a:cs typeface="Arial Bold"/>
                  <a:sym typeface="Arial Bold"/>
                </a:rPr>
                <a:t>Your ultimate guide to real estate investment in KSA.</a:t>
              </a:r>
            </a:p>
          </p:txBody>
        </p:sp>
      </p:grpSp>
      <p:sp>
        <p:nvSpPr>
          <p:cNvPr id="17" name="AutoShape 17"/>
          <p:cNvSpPr/>
          <p:nvPr/>
        </p:nvSpPr>
        <p:spPr>
          <a:xfrm>
            <a:off x="0" y="294159"/>
            <a:ext cx="18288000" cy="0"/>
          </a:xfrm>
          <a:prstGeom prst="line">
            <a:avLst/>
          </a:prstGeom>
          <a:ln w="219075" cap="flat">
            <a:solidFill>
              <a:srgbClr val="135A5C"/>
            </a:solidFill>
            <a:prstDash val="solid"/>
            <a:headEnd type="none" w="sm" len="sm"/>
            <a:tailEnd type="none" w="sm" len="sm"/>
          </a:ln>
        </p:spPr>
        <p:txBody>
          <a:bodyPr/>
          <a:lstStyle/>
          <a:p>
            <a:endParaRPr lang="ar-EG"/>
          </a:p>
        </p:txBody>
      </p:sp>
      <p:sp>
        <p:nvSpPr>
          <p:cNvPr id="18" name="AutoShape 18"/>
          <p:cNvSpPr/>
          <p:nvPr/>
        </p:nvSpPr>
        <p:spPr>
          <a:xfrm flipV="1">
            <a:off x="89647" y="313209"/>
            <a:ext cx="18288000" cy="0"/>
          </a:xfrm>
          <a:prstGeom prst="line">
            <a:avLst/>
          </a:prstGeom>
          <a:ln w="38100" cap="flat">
            <a:solidFill>
              <a:srgbClr val="FAE2A6"/>
            </a:solidFill>
            <a:prstDash val="solid"/>
            <a:headEnd type="none" w="sm" len="sm"/>
            <a:tailEnd type="none" w="sm" len="sm"/>
          </a:ln>
        </p:spPr>
        <p:txBody>
          <a:bodyPr/>
          <a:lstStyle/>
          <a:p>
            <a:endParaRPr lang="ar-EG"/>
          </a:p>
        </p:txBody>
      </p:sp>
      <p:sp>
        <p:nvSpPr>
          <p:cNvPr id="19" name="AutoShape 19"/>
          <p:cNvSpPr/>
          <p:nvPr/>
        </p:nvSpPr>
        <p:spPr>
          <a:xfrm>
            <a:off x="0" y="9996805"/>
            <a:ext cx="18377647" cy="0"/>
          </a:xfrm>
          <a:prstGeom prst="line">
            <a:avLst/>
          </a:prstGeom>
          <a:ln w="38100" cap="flat">
            <a:solidFill>
              <a:srgbClr val="FAE2A6"/>
            </a:solidFill>
            <a:prstDash val="solid"/>
            <a:headEnd type="none" w="sm" len="sm"/>
            <a:tailEnd type="none" w="sm" len="sm"/>
          </a:ln>
        </p:spPr>
        <p:txBody>
          <a:bodyPr/>
          <a:lstStyle/>
          <a:p>
            <a:endParaRPr lang="ar-EG"/>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grpSp>
        <p:nvGrpSpPr>
          <p:cNvPr id="2" name="Group 2"/>
          <p:cNvGrpSpPr/>
          <p:nvPr/>
        </p:nvGrpSpPr>
        <p:grpSpPr>
          <a:xfrm>
            <a:off x="13235923" y="-132934"/>
            <a:ext cx="5052077" cy="6217941"/>
            <a:chOff x="0" y="0"/>
            <a:chExt cx="660400" cy="812800"/>
          </a:xfrm>
        </p:grpSpPr>
        <p:sp>
          <p:nvSpPr>
            <p:cNvPr id="3" name="Freeform 3"/>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135A5C"/>
            </a:solidFill>
          </p:spPr>
          <p:txBody>
            <a:bodyPr/>
            <a:lstStyle/>
            <a:p>
              <a:endParaRPr lang="ar-EG"/>
            </a:p>
          </p:txBody>
        </p:sp>
        <p:sp>
          <p:nvSpPr>
            <p:cNvPr id="4" name="TextBox 4"/>
            <p:cNvSpPr txBox="1"/>
            <p:nvPr/>
          </p:nvSpPr>
          <p:spPr>
            <a:xfrm>
              <a:off x="0" y="-28575"/>
              <a:ext cx="660400" cy="7143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82585" y="184622"/>
            <a:ext cx="18470585" cy="1695460"/>
            <a:chOff x="0" y="0"/>
            <a:chExt cx="24627447" cy="2260613"/>
          </a:xfrm>
        </p:grpSpPr>
        <p:sp>
          <p:nvSpPr>
            <p:cNvPr id="6" name="AutoShape 6"/>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7" name="AutoShape 7"/>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8" name="Freeform 8"/>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9" name="Freeform 9"/>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10" name="Freeform 10"/>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11" name="Group 11"/>
          <p:cNvGrpSpPr/>
          <p:nvPr/>
        </p:nvGrpSpPr>
        <p:grpSpPr>
          <a:xfrm>
            <a:off x="11299993" y="4482856"/>
            <a:ext cx="5131542" cy="6591120"/>
            <a:chOff x="0" y="0"/>
            <a:chExt cx="640151" cy="822230"/>
          </a:xfrm>
        </p:grpSpPr>
        <p:sp>
          <p:nvSpPr>
            <p:cNvPr id="12" name="Freeform 12"/>
            <p:cNvSpPr/>
            <p:nvPr/>
          </p:nvSpPr>
          <p:spPr>
            <a:xfrm>
              <a:off x="0" y="0"/>
              <a:ext cx="640151" cy="822230"/>
            </a:xfrm>
            <a:custGeom>
              <a:avLst/>
              <a:gdLst/>
              <a:ahLst/>
              <a:cxnLst/>
              <a:rect l="l" t="t" r="r" b="b"/>
              <a:pathLst>
                <a:path w="640151" h="822230">
                  <a:moveTo>
                    <a:pt x="213499" y="19070"/>
                  </a:moveTo>
                  <a:cubicBezTo>
                    <a:pt x="246212" y="7556"/>
                    <a:pt x="283629" y="0"/>
                    <a:pt x="320248" y="0"/>
                  </a:cubicBezTo>
                  <a:cubicBezTo>
                    <a:pt x="356868" y="0"/>
                    <a:pt x="392106" y="6476"/>
                    <a:pt x="424579" y="17990"/>
                  </a:cubicBezTo>
                  <a:cubicBezTo>
                    <a:pt x="425271" y="18350"/>
                    <a:pt x="425961" y="18350"/>
                    <a:pt x="426652" y="18710"/>
                  </a:cubicBezTo>
                  <a:cubicBezTo>
                    <a:pt x="548602" y="64765"/>
                    <a:pt x="638424" y="186379"/>
                    <a:pt x="640151" y="328712"/>
                  </a:cubicBezTo>
                  <a:lnTo>
                    <a:pt x="640151" y="822230"/>
                  </a:lnTo>
                  <a:lnTo>
                    <a:pt x="0" y="822230"/>
                  </a:lnTo>
                  <a:lnTo>
                    <a:pt x="0" y="329078"/>
                  </a:lnTo>
                  <a:cubicBezTo>
                    <a:pt x="1727" y="185660"/>
                    <a:pt x="90167" y="64045"/>
                    <a:pt x="213499" y="19070"/>
                  </a:cubicBezTo>
                  <a:close/>
                </a:path>
              </a:pathLst>
            </a:custGeom>
            <a:blipFill>
              <a:blip r:embed="rId5"/>
              <a:stretch>
                <a:fillRect l="-46332" r="-46332"/>
              </a:stretch>
            </a:blipFill>
          </p:spPr>
          <p:txBody>
            <a:bodyPr/>
            <a:lstStyle/>
            <a:p>
              <a:endParaRPr lang="ar-EG"/>
            </a:p>
          </p:txBody>
        </p:sp>
      </p:grpSp>
      <p:grpSp>
        <p:nvGrpSpPr>
          <p:cNvPr id="13" name="Group 13"/>
          <p:cNvGrpSpPr/>
          <p:nvPr/>
        </p:nvGrpSpPr>
        <p:grpSpPr>
          <a:xfrm>
            <a:off x="-19400" y="9909136"/>
            <a:ext cx="18470585" cy="221262"/>
            <a:chOff x="0" y="0"/>
            <a:chExt cx="24627447" cy="295016"/>
          </a:xfrm>
        </p:grpSpPr>
        <p:sp>
          <p:nvSpPr>
            <p:cNvPr id="14" name="AutoShape 14"/>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5" name="AutoShape 15"/>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6" name="TextBox 16"/>
          <p:cNvSpPr txBox="1"/>
          <p:nvPr/>
        </p:nvSpPr>
        <p:spPr>
          <a:xfrm>
            <a:off x="284062" y="3695700"/>
            <a:ext cx="9844023" cy="5478808"/>
          </a:xfrm>
          <a:prstGeom prst="rect">
            <a:avLst/>
          </a:prstGeom>
        </p:spPr>
        <p:txBody>
          <a:bodyPr lIns="0" tIns="0" rIns="0" bIns="0" rtlCol="0" anchor="t">
            <a:spAutoFit/>
          </a:bodyPr>
          <a:lstStyle/>
          <a:p>
            <a:pPr marL="457200" indent="-457200" algn="l">
              <a:lnSpc>
                <a:spcPts val="4759"/>
              </a:lnSpc>
              <a:buFont typeface="Arial" panose="020B0604020202020204" pitchFamily="34" charset="0"/>
              <a:buChar char="•"/>
            </a:pPr>
            <a:r>
              <a:rPr lang="en-US" sz="2400" dirty="0">
                <a:solidFill>
                  <a:srgbClr val="043732"/>
                </a:solidFill>
                <a:latin typeface="Canva Sans"/>
                <a:ea typeface="Canva Sans"/>
                <a:cs typeface="Canva Sans"/>
                <a:sym typeface="Canva Sans"/>
              </a:rPr>
              <a:t>Saving up a significant amount of money is a milestone most people dream of and investing it wisely in real estate is often the first goal that follows. </a:t>
            </a:r>
            <a:endParaRPr lang="ar-EG" sz="2400" dirty="0">
              <a:solidFill>
                <a:srgbClr val="043732"/>
              </a:solidFill>
              <a:latin typeface="Canva Sans"/>
              <a:ea typeface="Canva Sans"/>
              <a:cs typeface="Canva Sans"/>
              <a:sym typeface="Canva Sans"/>
            </a:endParaRPr>
          </a:p>
          <a:p>
            <a:pPr marL="457200" indent="-457200" algn="l">
              <a:lnSpc>
                <a:spcPts val="4759"/>
              </a:lnSpc>
              <a:buFont typeface="Arial" panose="020B0604020202020204" pitchFamily="34" charset="0"/>
              <a:buChar char="•"/>
            </a:pPr>
            <a:endParaRPr lang="ar-EG" sz="2400" dirty="0">
              <a:solidFill>
                <a:srgbClr val="043732"/>
              </a:solidFill>
              <a:latin typeface="Canva Sans"/>
              <a:ea typeface="Canva Sans"/>
              <a:cs typeface="Canva Sans"/>
              <a:sym typeface="Canva Sans"/>
            </a:endParaRPr>
          </a:p>
          <a:p>
            <a:pPr marL="457200" indent="-457200" algn="l">
              <a:lnSpc>
                <a:spcPts val="4759"/>
              </a:lnSpc>
              <a:buFont typeface="Arial" panose="020B0604020202020204" pitchFamily="34" charset="0"/>
              <a:buChar char="•"/>
            </a:pPr>
            <a:r>
              <a:rPr lang="en-US" sz="2400" dirty="0">
                <a:solidFill>
                  <a:srgbClr val="043732"/>
                </a:solidFill>
                <a:latin typeface="Canva Sans"/>
                <a:ea typeface="Canva Sans"/>
                <a:cs typeface="Canva Sans"/>
                <a:sym typeface="Canva Sans"/>
              </a:rPr>
              <a:t>Whether it's a villa, an apartment, or a chalet, the market offers no shortage of options. </a:t>
            </a:r>
            <a:endParaRPr lang="ar-EG" sz="2400" dirty="0">
              <a:solidFill>
                <a:srgbClr val="043732"/>
              </a:solidFill>
              <a:latin typeface="Canva Sans"/>
              <a:ea typeface="Canva Sans"/>
              <a:cs typeface="Canva Sans"/>
              <a:sym typeface="Canva Sans"/>
            </a:endParaRPr>
          </a:p>
          <a:p>
            <a:pPr marL="457200" indent="-457200" algn="l">
              <a:lnSpc>
                <a:spcPts val="4759"/>
              </a:lnSpc>
              <a:buFont typeface="Arial" panose="020B0604020202020204" pitchFamily="34" charset="0"/>
              <a:buChar char="•"/>
            </a:pPr>
            <a:endParaRPr lang="ar-EG" sz="2400" dirty="0">
              <a:solidFill>
                <a:srgbClr val="043732"/>
              </a:solidFill>
              <a:latin typeface="Canva Sans"/>
              <a:ea typeface="Canva Sans"/>
              <a:cs typeface="Canva Sans"/>
              <a:sym typeface="Canva Sans"/>
            </a:endParaRPr>
          </a:p>
          <a:p>
            <a:pPr marL="457200" indent="-457200" algn="l">
              <a:lnSpc>
                <a:spcPts val="4759"/>
              </a:lnSpc>
              <a:buFont typeface="Arial" panose="020B0604020202020204" pitchFamily="34" charset="0"/>
              <a:buChar char="•"/>
            </a:pPr>
            <a:r>
              <a:rPr lang="en-US" sz="2400" dirty="0">
                <a:solidFill>
                  <a:srgbClr val="043732"/>
                </a:solidFill>
                <a:latin typeface="Canva Sans"/>
                <a:ea typeface="Canva Sans"/>
                <a:cs typeface="Canva Sans"/>
                <a:sym typeface="Canva Sans"/>
              </a:rPr>
              <a:t>Yet for most clients, that abundance becomes a problem: too many choices, too little clarity.</a:t>
            </a:r>
          </a:p>
        </p:txBody>
      </p:sp>
      <p:grpSp>
        <p:nvGrpSpPr>
          <p:cNvPr id="17" name="Group 17"/>
          <p:cNvGrpSpPr/>
          <p:nvPr/>
        </p:nvGrpSpPr>
        <p:grpSpPr>
          <a:xfrm>
            <a:off x="11299993" y="-110063"/>
            <a:ext cx="1589393" cy="4592919"/>
            <a:chOff x="0" y="0"/>
            <a:chExt cx="418605" cy="1209658"/>
          </a:xfrm>
        </p:grpSpPr>
        <p:sp>
          <p:nvSpPr>
            <p:cNvPr id="18" name="Freeform 18"/>
            <p:cNvSpPr/>
            <p:nvPr/>
          </p:nvSpPr>
          <p:spPr>
            <a:xfrm>
              <a:off x="0" y="0"/>
              <a:ext cx="418606" cy="1209658"/>
            </a:xfrm>
            <a:custGeom>
              <a:avLst/>
              <a:gdLst/>
              <a:ahLst/>
              <a:cxnLst/>
              <a:rect l="l" t="t" r="r" b="b"/>
              <a:pathLst>
                <a:path w="418606" h="1209658">
                  <a:moveTo>
                    <a:pt x="139611" y="1190589"/>
                  </a:moveTo>
                  <a:cubicBezTo>
                    <a:pt x="161071" y="1202103"/>
                    <a:pt x="185470" y="1209658"/>
                    <a:pt x="209415" y="1209658"/>
                  </a:cubicBezTo>
                  <a:cubicBezTo>
                    <a:pt x="233362" y="1209658"/>
                    <a:pt x="256405" y="1203181"/>
                    <a:pt x="277639" y="1191667"/>
                  </a:cubicBezTo>
                  <a:cubicBezTo>
                    <a:pt x="278092" y="1191308"/>
                    <a:pt x="278543" y="1191308"/>
                    <a:pt x="278995" y="1190948"/>
                  </a:cubicBezTo>
                  <a:cubicBezTo>
                    <a:pt x="358740" y="1144893"/>
                    <a:pt x="417476" y="1023279"/>
                    <a:pt x="418606" y="872340"/>
                  </a:cubicBezTo>
                  <a:lnTo>
                    <a:pt x="418606" y="0"/>
                  </a:lnTo>
                  <a:lnTo>
                    <a:pt x="0" y="0"/>
                  </a:lnTo>
                  <a:lnTo>
                    <a:pt x="0" y="871693"/>
                  </a:lnTo>
                  <a:cubicBezTo>
                    <a:pt x="1130" y="1023998"/>
                    <a:pt x="58962" y="1145613"/>
                    <a:pt x="139611" y="1190589"/>
                  </a:cubicBezTo>
                  <a:close/>
                </a:path>
              </a:pathLst>
            </a:custGeom>
            <a:solidFill>
              <a:srgbClr val="135A5C"/>
            </a:solidFill>
          </p:spPr>
          <p:txBody>
            <a:bodyPr/>
            <a:lstStyle/>
            <a:p>
              <a:endParaRPr lang="ar-EG"/>
            </a:p>
          </p:txBody>
        </p:sp>
        <p:sp>
          <p:nvSpPr>
            <p:cNvPr id="19" name="TextBox 19"/>
            <p:cNvSpPr txBox="1"/>
            <p:nvPr/>
          </p:nvSpPr>
          <p:spPr>
            <a:xfrm>
              <a:off x="0" y="-28575"/>
              <a:ext cx="418605" cy="1111233"/>
            </a:xfrm>
            <a:prstGeom prst="rect">
              <a:avLst/>
            </a:prstGeom>
          </p:spPr>
          <p:txBody>
            <a:bodyPr lIns="50800" tIns="50800" rIns="50800" bIns="50800" rtlCol="0" anchor="ctr"/>
            <a:lstStyle/>
            <a:p>
              <a:pPr algn="ctr">
                <a:lnSpc>
                  <a:spcPts val="2520"/>
                </a:lnSpc>
              </a:pPr>
              <a:endParaRPr/>
            </a:p>
          </p:txBody>
        </p:sp>
      </p:grpSp>
      <p:sp>
        <p:nvSpPr>
          <p:cNvPr id="20" name="TextBox 20"/>
          <p:cNvSpPr txBox="1"/>
          <p:nvPr/>
        </p:nvSpPr>
        <p:spPr>
          <a:xfrm>
            <a:off x="-66110" y="2312462"/>
            <a:ext cx="9210110" cy="1193800"/>
          </a:xfrm>
          <a:prstGeom prst="rect">
            <a:avLst/>
          </a:prstGeom>
        </p:spPr>
        <p:txBody>
          <a:bodyPr lIns="0" tIns="0" rIns="0" bIns="0" rtlCol="0" anchor="t">
            <a:spAutoFit/>
          </a:bodyPr>
          <a:lstStyle/>
          <a:p>
            <a:pPr algn="ctr">
              <a:lnSpc>
                <a:spcPts val="9799"/>
              </a:lnSpc>
            </a:pPr>
            <a:r>
              <a:rPr lang="en-US" sz="6999" b="1">
                <a:solidFill>
                  <a:srgbClr val="043732"/>
                </a:solidFill>
                <a:latin typeface="Canva Sans Bold"/>
                <a:ea typeface="Canva Sans Bold"/>
                <a:cs typeface="Canva Sans Bold"/>
                <a:sym typeface="Canva Sans Bold"/>
              </a:rPr>
              <a:t>Problem Statement</a:t>
            </a:r>
          </a:p>
        </p:txBody>
      </p:sp>
    </p:spTree>
  </p:cSld>
  <p:clrMapOvr>
    <a:masterClrMapping/>
  </p:clrMapOvr>
  <p:transition spd="slow">
    <p:cover dir="l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grpSp>
        <p:nvGrpSpPr>
          <p:cNvPr id="2" name="Group 2"/>
          <p:cNvGrpSpPr/>
          <p:nvPr/>
        </p:nvGrpSpPr>
        <p:grpSpPr>
          <a:xfrm>
            <a:off x="13235923" y="-132934"/>
            <a:ext cx="5052077" cy="6217941"/>
            <a:chOff x="0" y="0"/>
            <a:chExt cx="660400" cy="812800"/>
          </a:xfrm>
        </p:grpSpPr>
        <p:sp>
          <p:nvSpPr>
            <p:cNvPr id="3" name="Freeform 3"/>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135A5C"/>
            </a:solidFill>
          </p:spPr>
          <p:txBody>
            <a:bodyPr/>
            <a:lstStyle/>
            <a:p>
              <a:endParaRPr lang="ar-EG"/>
            </a:p>
          </p:txBody>
        </p:sp>
        <p:sp>
          <p:nvSpPr>
            <p:cNvPr id="4" name="TextBox 4"/>
            <p:cNvSpPr txBox="1"/>
            <p:nvPr/>
          </p:nvSpPr>
          <p:spPr>
            <a:xfrm>
              <a:off x="0" y="-28575"/>
              <a:ext cx="660400" cy="7143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82585" y="184622"/>
            <a:ext cx="18470585" cy="1695460"/>
            <a:chOff x="0" y="0"/>
            <a:chExt cx="24627447" cy="2260613"/>
          </a:xfrm>
        </p:grpSpPr>
        <p:sp>
          <p:nvSpPr>
            <p:cNvPr id="6" name="AutoShape 6"/>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7" name="AutoShape 7"/>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8" name="Freeform 8"/>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9" name="Freeform 9"/>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10" name="Freeform 10"/>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11" name="Group 11"/>
          <p:cNvGrpSpPr/>
          <p:nvPr/>
        </p:nvGrpSpPr>
        <p:grpSpPr>
          <a:xfrm>
            <a:off x="11523185" y="4482856"/>
            <a:ext cx="5131542" cy="6591120"/>
            <a:chOff x="0" y="0"/>
            <a:chExt cx="640151" cy="822230"/>
          </a:xfrm>
        </p:grpSpPr>
        <p:sp>
          <p:nvSpPr>
            <p:cNvPr id="12" name="Freeform 12"/>
            <p:cNvSpPr/>
            <p:nvPr/>
          </p:nvSpPr>
          <p:spPr>
            <a:xfrm>
              <a:off x="0" y="0"/>
              <a:ext cx="640151" cy="822230"/>
            </a:xfrm>
            <a:custGeom>
              <a:avLst/>
              <a:gdLst/>
              <a:ahLst/>
              <a:cxnLst/>
              <a:rect l="l" t="t" r="r" b="b"/>
              <a:pathLst>
                <a:path w="640151" h="822230">
                  <a:moveTo>
                    <a:pt x="213499" y="19070"/>
                  </a:moveTo>
                  <a:cubicBezTo>
                    <a:pt x="246212" y="7556"/>
                    <a:pt x="283629" y="0"/>
                    <a:pt x="320248" y="0"/>
                  </a:cubicBezTo>
                  <a:cubicBezTo>
                    <a:pt x="356868" y="0"/>
                    <a:pt x="392106" y="6476"/>
                    <a:pt x="424579" y="17990"/>
                  </a:cubicBezTo>
                  <a:cubicBezTo>
                    <a:pt x="425271" y="18350"/>
                    <a:pt x="425961" y="18350"/>
                    <a:pt x="426652" y="18710"/>
                  </a:cubicBezTo>
                  <a:cubicBezTo>
                    <a:pt x="548602" y="64765"/>
                    <a:pt x="638424" y="186379"/>
                    <a:pt x="640151" y="328712"/>
                  </a:cubicBezTo>
                  <a:lnTo>
                    <a:pt x="640151" y="822230"/>
                  </a:lnTo>
                  <a:lnTo>
                    <a:pt x="0" y="822230"/>
                  </a:lnTo>
                  <a:lnTo>
                    <a:pt x="0" y="329078"/>
                  </a:lnTo>
                  <a:cubicBezTo>
                    <a:pt x="1727" y="185660"/>
                    <a:pt x="90167" y="64045"/>
                    <a:pt x="213499" y="19070"/>
                  </a:cubicBezTo>
                  <a:close/>
                </a:path>
              </a:pathLst>
            </a:custGeom>
            <a:blipFill>
              <a:blip r:embed="rId5"/>
              <a:stretch>
                <a:fillRect l="-46332" r="-46332"/>
              </a:stretch>
            </a:blipFill>
          </p:spPr>
          <p:txBody>
            <a:bodyPr/>
            <a:lstStyle/>
            <a:p>
              <a:endParaRPr lang="ar-EG"/>
            </a:p>
          </p:txBody>
        </p:sp>
      </p:grpSp>
      <p:grpSp>
        <p:nvGrpSpPr>
          <p:cNvPr id="13" name="Group 13"/>
          <p:cNvGrpSpPr/>
          <p:nvPr/>
        </p:nvGrpSpPr>
        <p:grpSpPr>
          <a:xfrm>
            <a:off x="-19400" y="9909136"/>
            <a:ext cx="18470585" cy="221262"/>
            <a:chOff x="0" y="0"/>
            <a:chExt cx="24627447" cy="295016"/>
          </a:xfrm>
        </p:grpSpPr>
        <p:sp>
          <p:nvSpPr>
            <p:cNvPr id="14" name="AutoShape 14"/>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5" name="AutoShape 15"/>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6" name="TextBox 16"/>
          <p:cNvSpPr txBox="1"/>
          <p:nvPr/>
        </p:nvSpPr>
        <p:spPr>
          <a:xfrm>
            <a:off x="284062" y="3951118"/>
            <a:ext cx="11239123" cy="4849982"/>
          </a:xfrm>
          <a:prstGeom prst="rect">
            <a:avLst/>
          </a:prstGeom>
        </p:spPr>
        <p:txBody>
          <a:bodyPr lIns="0" tIns="0" rIns="0" bIns="0" rtlCol="0" anchor="t">
            <a:spAutoFit/>
          </a:bodyPr>
          <a:lstStyle/>
          <a:p>
            <a:pPr marL="342900" indent="-342900" algn="l">
              <a:lnSpc>
                <a:spcPts val="4759"/>
              </a:lnSpc>
              <a:buFont typeface="Arial" panose="020B0604020202020204" pitchFamily="34" charset="0"/>
              <a:buChar char="•"/>
            </a:pPr>
            <a:r>
              <a:rPr lang="en-US" sz="2400" dirty="0">
                <a:solidFill>
                  <a:srgbClr val="043732"/>
                </a:solidFill>
                <a:latin typeface="Canva Sans"/>
                <a:ea typeface="Canva Sans"/>
                <a:cs typeface="Canva Sans"/>
                <a:sym typeface="Canva Sans"/>
              </a:rPr>
              <a:t>This project delivers an end-to-end analytical solution designed to transform market noise into investment clarity. </a:t>
            </a:r>
            <a:endParaRPr lang="ar-EG" sz="2400" dirty="0">
              <a:solidFill>
                <a:srgbClr val="043732"/>
              </a:solidFill>
              <a:latin typeface="Canva Sans"/>
              <a:ea typeface="Canva Sans"/>
              <a:cs typeface="Canva Sans"/>
              <a:sym typeface="Canva Sans"/>
            </a:endParaRPr>
          </a:p>
          <a:p>
            <a:pPr marL="342900" indent="-342900" algn="l">
              <a:lnSpc>
                <a:spcPts val="4759"/>
              </a:lnSpc>
              <a:buFont typeface="Arial" panose="020B0604020202020204" pitchFamily="34" charset="0"/>
              <a:buChar char="•"/>
            </a:pPr>
            <a:r>
              <a:rPr lang="en-US" sz="2400" dirty="0">
                <a:solidFill>
                  <a:srgbClr val="043732"/>
                </a:solidFill>
                <a:latin typeface="Canva Sans"/>
                <a:ea typeface="Canva Sans"/>
                <a:cs typeface="Canva Sans"/>
                <a:sym typeface="Canva Sans"/>
              </a:rPr>
              <a:t>By integrating deep exploratory data analysis, interactive visualization, and predictive modeling, we have developed an Intelligent Investment Consultant. </a:t>
            </a:r>
            <a:endParaRPr lang="ar-EG" sz="2400" dirty="0">
              <a:solidFill>
                <a:srgbClr val="043732"/>
              </a:solidFill>
              <a:latin typeface="Canva Sans"/>
              <a:ea typeface="Canva Sans"/>
              <a:cs typeface="Canva Sans"/>
              <a:sym typeface="Canva Sans"/>
            </a:endParaRPr>
          </a:p>
          <a:p>
            <a:pPr marL="342900" indent="-342900" algn="l">
              <a:lnSpc>
                <a:spcPts val="4759"/>
              </a:lnSpc>
              <a:buFont typeface="Arial" panose="020B0604020202020204" pitchFamily="34" charset="0"/>
              <a:buChar char="•"/>
            </a:pPr>
            <a:r>
              <a:rPr lang="en-US" sz="2400" dirty="0">
                <a:solidFill>
                  <a:srgbClr val="043732"/>
                </a:solidFill>
                <a:latin typeface="Canva Sans"/>
                <a:ea typeface="Canva Sans"/>
                <a:cs typeface="Canva Sans"/>
                <a:sym typeface="Canva Sans"/>
              </a:rPr>
              <a:t>The system accepts specific user preferences—such as property type and desired location—and provides optimized investment recommendations, complete with accurately predicted property valuations.</a:t>
            </a:r>
          </a:p>
        </p:txBody>
      </p:sp>
      <p:grpSp>
        <p:nvGrpSpPr>
          <p:cNvPr id="17" name="Group 17"/>
          <p:cNvGrpSpPr/>
          <p:nvPr/>
        </p:nvGrpSpPr>
        <p:grpSpPr>
          <a:xfrm rot="-10800000">
            <a:off x="16840638" y="5836112"/>
            <a:ext cx="1244461" cy="4450888"/>
            <a:chOff x="0" y="0"/>
            <a:chExt cx="327759" cy="1172250"/>
          </a:xfrm>
        </p:grpSpPr>
        <p:sp>
          <p:nvSpPr>
            <p:cNvPr id="18" name="Freeform 18"/>
            <p:cNvSpPr/>
            <p:nvPr/>
          </p:nvSpPr>
          <p:spPr>
            <a:xfrm>
              <a:off x="0" y="0"/>
              <a:ext cx="327759" cy="1172250"/>
            </a:xfrm>
            <a:custGeom>
              <a:avLst/>
              <a:gdLst/>
              <a:ahLst/>
              <a:cxnLst/>
              <a:rect l="l" t="t" r="r" b="b"/>
              <a:pathLst>
                <a:path w="327759" h="1172250">
                  <a:moveTo>
                    <a:pt x="109312" y="1153181"/>
                  </a:moveTo>
                  <a:cubicBezTo>
                    <a:pt x="126115" y="1164695"/>
                    <a:pt x="145219" y="1172250"/>
                    <a:pt x="163968" y="1172250"/>
                  </a:cubicBezTo>
                  <a:cubicBezTo>
                    <a:pt x="182718" y="1172250"/>
                    <a:pt x="200759" y="1165774"/>
                    <a:pt x="217386" y="1154260"/>
                  </a:cubicBezTo>
                  <a:cubicBezTo>
                    <a:pt x="217740" y="1153900"/>
                    <a:pt x="218093" y="1153900"/>
                    <a:pt x="218447" y="1153541"/>
                  </a:cubicBezTo>
                  <a:cubicBezTo>
                    <a:pt x="280886" y="1107486"/>
                    <a:pt x="326875" y="985872"/>
                    <a:pt x="327759" y="835764"/>
                  </a:cubicBezTo>
                  <a:lnTo>
                    <a:pt x="327759" y="0"/>
                  </a:lnTo>
                  <a:lnTo>
                    <a:pt x="0" y="0"/>
                  </a:lnTo>
                  <a:lnTo>
                    <a:pt x="0" y="835144"/>
                  </a:lnTo>
                  <a:cubicBezTo>
                    <a:pt x="884" y="986590"/>
                    <a:pt x="46166" y="1108206"/>
                    <a:pt x="109312" y="1153181"/>
                  </a:cubicBezTo>
                  <a:close/>
                </a:path>
              </a:pathLst>
            </a:custGeom>
            <a:solidFill>
              <a:srgbClr val="135A5C"/>
            </a:solidFill>
          </p:spPr>
          <p:txBody>
            <a:bodyPr/>
            <a:lstStyle/>
            <a:p>
              <a:endParaRPr lang="ar-EG"/>
            </a:p>
          </p:txBody>
        </p:sp>
        <p:sp>
          <p:nvSpPr>
            <p:cNvPr id="19" name="TextBox 19"/>
            <p:cNvSpPr txBox="1"/>
            <p:nvPr/>
          </p:nvSpPr>
          <p:spPr>
            <a:xfrm>
              <a:off x="0" y="-28575"/>
              <a:ext cx="327759" cy="1073825"/>
            </a:xfrm>
            <a:prstGeom prst="rect">
              <a:avLst/>
            </a:prstGeom>
          </p:spPr>
          <p:txBody>
            <a:bodyPr lIns="50800" tIns="50800" rIns="50800" bIns="50800" rtlCol="0" anchor="ctr"/>
            <a:lstStyle/>
            <a:p>
              <a:pPr algn="ctr">
                <a:lnSpc>
                  <a:spcPts val="2520"/>
                </a:lnSpc>
              </a:pPr>
              <a:endParaRPr/>
            </a:p>
          </p:txBody>
        </p:sp>
      </p:grpSp>
      <p:sp>
        <p:nvSpPr>
          <p:cNvPr id="20" name="TextBox 20"/>
          <p:cNvSpPr txBox="1"/>
          <p:nvPr/>
        </p:nvSpPr>
        <p:spPr>
          <a:xfrm>
            <a:off x="284062" y="2312462"/>
            <a:ext cx="9210110" cy="1193800"/>
          </a:xfrm>
          <a:prstGeom prst="rect">
            <a:avLst/>
          </a:prstGeom>
        </p:spPr>
        <p:txBody>
          <a:bodyPr lIns="0" tIns="0" rIns="0" bIns="0" rtlCol="0" anchor="t">
            <a:spAutoFit/>
          </a:bodyPr>
          <a:lstStyle/>
          <a:p>
            <a:pPr algn="l">
              <a:lnSpc>
                <a:spcPts val="9799"/>
              </a:lnSpc>
            </a:pPr>
            <a:r>
              <a:rPr lang="en-US" sz="6999" b="1" dirty="0">
                <a:solidFill>
                  <a:srgbClr val="043732"/>
                </a:solidFill>
                <a:latin typeface="Canva Sans Bold"/>
                <a:ea typeface="Canva Sans Bold"/>
                <a:cs typeface="Canva Sans Bold"/>
                <a:sym typeface="Canva Sans Bold"/>
              </a:rPr>
              <a:t>Our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69" name="Rectangle: Rounded Corners 68">
            <a:extLst>
              <a:ext uri="{FF2B5EF4-FFF2-40B4-BE49-F238E27FC236}">
                <a16:creationId xmlns:a16="http://schemas.microsoft.com/office/drawing/2014/main" id="{F160FDF6-42A0-0186-5518-F48BC225B716}"/>
              </a:ext>
            </a:extLst>
          </p:cNvPr>
          <p:cNvSpPr/>
          <p:nvPr/>
        </p:nvSpPr>
        <p:spPr>
          <a:xfrm>
            <a:off x="12436051" y="3034569"/>
            <a:ext cx="1597032" cy="333726"/>
          </a:xfrm>
          <a:prstGeom prst="roundRect">
            <a:avLst/>
          </a:prstGeom>
          <a:solidFill>
            <a:srgbClr val="135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70" name="Rectangle: Rounded Corners 69">
            <a:extLst>
              <a:ext uri="{FF2B5EF4-FFF2-40B4-BE49-F238E27FC236}">
                <a16:creationId xmlns:a16="http://schemas.microsoft.com/office/drawing/2014/main" id="{8AEC748D-D10E-32CA-C119-897E93FDB5DC}"/>
              </a:ext>
            </a:extLst>
          </p:cNvPr>
          <p:cNvSpPr/>
          <p:nvPr/>
        </p:nvSpPr>
        <p:spPr>
          <a:xfrm>
            <a:off x="6465629" y="3023271"/>
            <a:ext cx="2494450" cy="335200"/>
          </a:xfrm>
          <a:prstGeom prst="roundRect">
            <a:avLst/>
          </a:prstGeom>
          <a:solidFill>
            <a:srgbClr val="135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68" name="Rectangle: Rounded Corners 67">
            <a:extLst>
              <a:ext uri="{FF2B5EF4-FFF2-40B4-BE49-F238E27FC236}">
                <a16:creationId xmlns:a16="http://schemas.microsoft.com/office/drawing/2014/main" id="{C47771F5-CA02-3D2C-2CC6-C8452A522C60}"/>
              </a:ext>
            </a:extLst>
          </p:cNvPr>
          <p:cNvSpPr/>
          <p:nvPr/>
        </p:nvSpPr>
        <p:spPr>
          <a:xfrm>
            <a:off x="1108414" y="3033095"/>
            <a:ext cx="2494450" cy="335200"/>
          </a:xfrm>
          <a:prstGeom prst="roundRect">
            <a:avLst/>
          </a:prstGeom>
          <a:solidFill>
            <a:srgbClr val="135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64" name="Rectangle: Rounded Corners 63">
            <a:extLst>
              <a:ext uri="{FF2B5EF4-FFF2-40B4-BE49-F238E27FC236}">
                <a16:creationId xmlns:a16="http://schemas.microsoft.com/office/drawing/2014/main" id="{5FCC6226-9C8A-5AE2-76FC-44E3BFD1B350}"/>
              </a:ext>
            </a:extLst>
          </p:cNvPr>
          <p:cNvSpPr/>
          <p:nvPr/>
        </p:nvSpPr>
        <p:spPr>
          <a:xfrm>
            <a:off x="14884200" y="3059757"/>
            <a:ext cx="2142986" cy="312808"/>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63" name="Rectangle: Rounded Corners 62">
            <a:extLst>
              <a:ext uri="{FF2B5EF4-FFF2-40B4-BE49-F238E27FC236}">
                <a16:creationId xmlns:a16="http://schemas.microsoft.com/office/drawing/2014/main" id="{BA9EEFCE-CE37-29DC-5BB1-78E76F8B700B}"/>
              </a:ext>
            </a:extLst>
          </p:cNvPr>
          <p:cNvSpPr/>
          <p:nvPr/>
        </p:nvSpPr>
        <p:spPr>
          <a:xfrm>
            <a:off x="4006536" y="3059343"/>
            <a:ext cx="2142986" cy="312808"/>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65" name="Rectangle: Rounded Corners 64">
            <a:extLst>
              <a:ext uri="{FF2B5EF4-FFF2-40B4-BE49-F238E27FC236}">
                <a16:creationId xmlns:a16="http://schemas.microsoft.com/office/drawing/2014/main" id="{413E074D-6DF7-7534-07C0-F5B3111FA3B8}"/>
              </a:ext>
            </a:extLst>
          </p:cNvPr>
          <p:cNvSpPr/>
          <p:nvPr/>
        </p:nvSpPr>
        <p:spPr>
          <a:xfrm>
            <a:off x="9144000" y="3035940"/>
            <a:ext cx="2989245" cy="31991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sp>
        <p:nvSpPr>
          <p:cNvPr id="8" name="Freeform 8"/>
          <p:cNvSpPr/>
          <p:nvPr/>
        </p:nvSpPr>
        <p:spPr>
          <a:xfrm>
            <a:off x="1980159" y="5397720"/>
            <a:ext cx="626631" cy="895187"/>
          </a:xfrm>
          <a:custGeom>
            <a:avLst/>
            <a:gdLst/>
            <a:ahLst/>
            <a:cxnLst/>
            <a:rect l="l" t="t" r="r" b="b"/>
            <a:pathLst>
              <a:path w="626631" h="895187">
                <a:moveTo>
                  <a:pt x="0" y="0"/>
                </a:moveTo>
                <a:lnTo>
                  <a:pt x="626631" y="0"/>
                </a:lnTo>
                <a:lnTo>
                  <a:pt x="626631" y="895188"/>
                </a:lnTo>
                <a:lnTo>
                  <a:pt x="0" y="8951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9" name="Freeform 9"/>
          <p:cNvSpPr/>
          <p:nvPr/>
        </p:nvSpPr>
        <p:spPr>
          <a:xfrm>
            <a:off x="4795541" y="5397720"/>
            <a:ext cx="626631" cy="895187"/>
          </a:xfrm>
          <a:custGeom>
            <a:avLst/>
            <a:gdLst/>
            <a:ahLst/>
            <a:cxnLst/>
            <a:rect l="l" t="t" r="r" b="b"/>
            <a:pathLst>
              <a:path w="626631" h="895187">
                <a:moveTo>
                  <a:pt x="0" y="0"/>
                </a:moveTo>
                <a:lnTo>
                  <a:pt x="626631" y="0"/>
                </a:lnTo>
                <a:lnTo>
                  <a:pt x="626631" y="895188"/>
                </a:lnTo>
                <a:lnTo>
                  <a:pt x="0" y="89518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grpSp>
        <p:nvGrpSpPr>
          <p:cNvPr id="10" name="Group 10"/>
          <p:cNvGrpSpPr/>
          <p:nvPr/>
        </p:nvGrpSpPr>
        <p:grpSpPr>
          <a:xfrm>
            <a:off x="2156591" y="6591693"/>
            <a:ext cx="273766" cy="27376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A5C"/>
            </a:solidFill>
          </p:spPr>
          <p:txBody>
            <a:bodyPr/>
            <a:lstStyle/>
            <a:p>
              <a:endParaRPr lang="ar-EG"/>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1960"/>
                </a:lnSpc>
              </a:pPr>
              <a:endParaRPr/>
            </a:p>
          </p:txBody>
        </p:sp>
      </p:grpSp>
      <p:grpSp>
        <p:nvGrpSpPr>
          <p:cNvPr id="13" name="Group 13"/>
          <p:cNvGrpSpPr/>
          <p:nvPr/>
        </p:nvGrpSpPr>
        <p:grpSpPr>
          <a:xfrm>
            <a:off x="4971974" y="6591693"/>
            <a:ext cx="273766" cy="27376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B19E"/>
            </a:solidFill>
          </p:spPr>
          <p:txBody>
            <a:bodyPr/>
            <a:lstStyle/>
            <a:p>
              <a:endParaRPr lang="ar-EG"/>
            </a:p>
          </p:txBody>
        </p:sp>
        <p:sp>
          <p:nvSpPr>
            <p:cNvPr id="15" name="TextBox 15"/>
            <p:cNvSpPr txBox="1"/>
            <p:nvPr/>
          </p:nvSpPr>
          <p:spPr>
            <a:xfrm>
              <a:off x="76200" y="-19050"/>
              <a:ext cx="660400" cy="755650"/>
            </a:xfrm>
            <a:prstGeom prst="rect">
              <a:avLst/>
            </a:prstGeom>
          </p:spPr>
          <p:txBody>
            <a:bodyPr lIns="50800" tIns="50800" rIns="50800" bIns="50800" rtlCol="0" anchor="ctr"/>
            <a:lstStyle/>
            <a:p>
              <a:pPr marL="0" lvl="0" indent="0" algn="ctr">
                <a:lnSpc>
                  <a:spcPts val="7939"/>
                </a:lnSpc>
                <a:spcBef>
                  <a:spcPct val="0"/>
                </a:spcBef>
              </a:pPr>
              <a:endParaRPr/>
            </a:p>
          </p:txBody>
        </p:sp>
      </p:grpSp>
      <p:sp>
        <p:nvSpPr>
          <p:cNvPr id="16" name="AutoShape 16"/>
          <p:cNvSpPr/>
          <p:nvPr/>
        </p:nvSpPr>
        <p:spPr>
          <a:xfrm>
            <a:off x="2293474" y="4663336"/>
            <a:ext cx="0" cy="534359"/>
          </a:xfrm>
          <a:prstGeom prst="line">
            <a:avLst/>
          </a:prstGeom>
          <a:ln w="57150" cap="rnd">
            <a:solidFill>
              <a:srgbClr val="135A5C"/>
            </a:solidFill>
            <a:prstDash val="solid"/>
            <a:headEnd type="none" w="sm" len="sm"/>
            <a:tailEnd type="none" w="sm" len="sm"/>
          </a:ln>
        </p:spPr>
        <p:txBody>
          <a:bodyPr/>
          <a:lstStyle/>
          <a:p>
            <a:endParaRPr lang="ar-EG"/>
          </a:p>
        </p:txBody>
      </p:sp>
      <p:sp>
        <p:nvSpPr>
          <p:cNvPr id="17" name="AutoShape 17"/>
          <p:cNvSpPr/>
          <p:nvPr/>
        </p:nvSpPr>
        <p:spPr>
          <a:xfrm>
            <a:off x="5108857" y="4663336"/>
            <a:ext cx="0" cy="534359"/>
          </a:xfrm>
          <a:prstGeom prst="line">
            <a:avLst/>
          </a:prstGeom>
          <a:ln w="57150" cap="rnd">
            <a:solidFill>
              <a:srgbClr val="08B19E"/>
            </a:solidFill>
            <a:prstDash val="solid"/>
            <a:headEnd type="none" w="sm" len="sm"/>
            <a:tailEnd type="none" w="sm" len="sm"/>
          </a:ln>
        </p:spPr>
        <p:txBody>
          <a:bodyPr/>
          <a:lstStyle/>
          <a:p>
            <a:endParaRPr lang="ar-EG"/>
          </a:p>
        </p:txBody>
      </p:sp>
      <p:sp>
        <p:nvSpPr>
          <p:cNvPr id="18" name="Freeform 18"/>
          <p:cNvSpPr/>
          <p:nvPr/>
        </p:nvSpPr>
        <p:spPr>
          <a:xfrm>
            <a:off x="7525198" y="5397720"/>
            <a:ext cx="626631" cy="895187"/>
          </a:xfrm>
          <a:custGeom>
            <a:avLst/>
            <a:gdLst/>
            <a:ahLst/>
            <a:cxnLst/>
            <a:rect l="l" t="t" r="r" b="b"/>
            <a:pathLst>
              <a:path w="626631" h="895187">
                <a:moveTo>
                  <a:pt x="0" y="0"/>
                </a:moveTo>
                <a:lnTo>
                  <a:pt x="626631" y="0"/>
                </a:lnTo>
                <a:lnTo>
                  <a:pt x="626631" y="895188"/>
                </a:lnTo>
                <a:lnTo>
                  <a:pt x="0" y="8951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9" name="Freeform 19"/>
          <p:cNvSpPr/>
          <p:nvPr/>
        </p:nvSpPr>
        <p:spPr>
          <a:xfrm>
            <a:off x="10210839" y="5397720"/>
            <a:ext cx="626631" cy="895187"/>
          </a:xfrm>
          <a:custGeom>
            <a:avLst/>
            <a:gdLst/>
            <a:ahLst/>
            <a:cxnLst/>
            <a:rect l="l" t="t" r="r" b="b"/>
            <a:pathLst>
              <a:path w="626631" h="895187">
                <a:moveTo>
                  <a:pt x="0" y="0"/>
                </a:moveTo>
                <a:lnTo>
                  <a:pt x="626631" y="0"/>
                </a:lnTo>
                <a:lnTo>
                  <a:pt x="626631" y="895188"/>
                </a:lnTo>
                <a:lnTo>
                  <a:pt x="0" y="89518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grpSp>
        <p:nvGrpSpPr>
          <p:cNvPr id="20" name="Group 20"/>
          <p:cNvGrpSpPr/>
          <p:nvPr/>
        </p:nvGrpSpPr>
        <p:grpSpPr>
          <a:xfrm>
            <a:off x="7701631" y="6591693"/>
            <a:ext cx="273766" cy="273766"/>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A5C"/>
            </a:solidFill>
          </p:spPr>
          <p:txBody>
            <a:bodyPr/>
            <a:lstStyle/>
            <a:p>
              <a:endParaRPr lang="ar-EG"/>
            </a:p>
          </p:txBody>
        </p:sp>
        <p:sp>
          <p:nvSpPr>
            <p:cNvPr id="22" name="TextBox 22"/>
            <p:cNvSpPr txBox="1"/>
            <p:nvPr/>
          </p:nvSpPr>
          <p:spPr>
            <a:xfrm>
              <a:off x="76200" y="47625"/>
              <a:ext cx="660400" cy="688975"/>
            </a:xfrm>
            <a:prstGeom prst="rect">
              <a:avLst/>
            </a:prstGeom>
          </p:spPr>
          <p:txBody>
            <a:bodyPr lIns="50800" tIns="50800" rIns="50800" bIns="50800" rtlCol="0" anchor="ctr"/>
            <a:lstStyle/>
            <a:p>
              <a:pPr marL="0" lvl="0" indent="0" algn="ctr">
                <a:lnSpc>
                  <a:spcPts val="1960"/>
                </a:lnSpc>
                <a:spcBef>
                  <a:spcPct val="0"/>
                </a:spcBef>
              </a:pPr>
              <a:endParaRPr/>
            </a:p>
          </p:txBody>
        </p:sp>
      </p:grpSp>
      <p:grpSp>
        <p:nvGrpSpPr>
          <p:cNvPr id="23" name="Group 23"/>
          <p:cNvGrpSpPr/>
          <p:nvPr/>
        </p:nvGrpSpPr>
        <p:grpSpPr>
          <a:xfrm>
            <a:off x="10387272" y="6591693"/>
            <a:ext cx="273766" cy="273766"/>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B19E"/>
            </a:solidFill>
          </p:spPr>
          <p:txBody>
            <a:bodyPr/>
            <a:lstStyle/>
            <a:p>
              <a:endParaRPr lang="ar-EG"/>
            </a:p>
          </p:txBody>
        </p:sp>
        <p:sp>
          <p:nvSpPr>
            <p:cNvPr id="25" name="TextBox 25"/>
            <p:cNvSpPr txBox="1"/>
            <p:nvPr/>
          </p:nvSpPr>
          <p:spPr>
            <a:xfrm>
              <a:off x="76200" y="-19050"/>
              <a:ext cx="660400" cy="755650"/>
            </a:xfrm>
            <a:prstGeom prst="rect">
              <a:avLst/>
            </a:prstGeom>
          </p:spPr>
          <p:txBody>
            <a:bodyPr lIns="50800" tIns="50800" rIns="50800" bIns="50800" rtlCol="0" anchor="ctr"/>
            <a:lstStyle/>
            <a:p>
              <a:pPr marL="0" lvl="0" indent="0" algn="ctr">
                <a:lnSpc>
                  <a:spcPts val="7939"/>
                </a:lnSpc>
                <a:spcBef>
                  <a:spcPct val="0"/>
                </a:spcBef>
              </a:pPr>
              <a:endParaRPr/>
            </a:p>
          </p:txBody>
        </p:sp>
      </p:grpSp>
      <p:sp>
        <p:nvSpPr>
          <p:cNvPr id="26" name="AutoShape 26"/>
          <p:cNvSpPr/>
          <p:nvPr/>
        </p:nvSpPr>
        <p:spPr>
          <a:xfrm>
            <a:off x="7838514" y="4663336"/>
            <a:ext cx="0" cy="534359"/>
          </a:xfrm>
          <a:prstGeom prst="line">
            <a:avLst/>
          </a:prstGeom>
          <a:ln w="57150" cap="rnd">
            <a:solidFill>
              <a:srgbClr val="135A5C"/>
            </a:solidFill>
            <a:prstDash val="solid"/>
            <a:headEnd type="none" w="sm" len="sm"/>
            <a:tailEnd type="none" w="sm" len="sm"/>
          </a:ln>
        </p:spPr>
        <p:txBody>
          <a:bodyPr/>
          <a:lstStyle/>
          <a:p>
            <a:endParaRPr lang="ar-EG"/>
          </a:p>
        </p:txBody>
      </p:sp>
      <p:sp>
        <p:nvSpPr>
          <p:cNvPr id="27" name="AutoShape 27"/>
          <p:cNvSpPr/>
          <p:nvPr/>
        </p:nvSpPr>
        <p:spPr>
          <a:xfrm>
            <a:off x="10524155" y="4663336"/>
            <a:ext cx="0" cy="534359"/>
          </a:xfrm>
          <a:prstGeom prst="line">
            <a:avLst/>
          </a:prstGeom>
          <a:ln w="57150" cap="rnd">
            <a:solidFill>
              <a:srgbClr val="08B19E"/>
            </a:solidFill>
            <a:prstDash val="solid"/>
            <a:headEnd type="none" w="sm" len="sm"/>
            <a:tailEnd type="none" w="sm" len="sm"/>
          </a:ln>
        </p:spPr>
        <p:txBody>
          <a:bodyPr/>
          <a:lstStyle/>
          <a:p>
            <a:endParaRPr lang="ar-EG"/>
          </a:p>
        </p:txBody>
      </p:sp>
      <p:sp>
        <p:nvSpPr>
          <p:cNvPr id="28" name="Freeform 28"/>
          <p:cNvSpPr/>
          <p:nvPr/>
        </p:nvSpPr>
        <p:spPr>
          <a:xfrm>
            <a:off x="12915665" y="5397720"/>
            <a:ext cx="626631" cy="895187"/>
          </a:xfrm>
          <a:custGeom>
            <a:avLst/>
            <a:gdLst/>
            <a:ahLst/>
            <a:cxnLst/>
            <a:rect l="l" t="t" r="r" b="b"/>
            <a:pathLst>
              <a:path w="626631" h="895187">
                <a:moveTo>
                  <a:pt x="0" y="0"/>
                </a:moveTo>
                <a:lnTo>
                  <a:pt x="626631" y="0"/>
                </a:lnTo>
                <a:lnTo>
                  <a:pt x="626631" y="895188"/>
                </a:lnTo>
                <a:lnTo>
                  <a:pt x="0" y="8951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29" name="Group 29"/>
          <p:cNvGrpSpPr/>
          <p:nvPr/>
        </p:nvGrpSpPr>
        <p:grpSpPr>
          <a:xfrm>
            <a:off x="13092098" y="6591693"/>
            <a:ext cx="273766" cy="273766"/>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5A5C"/>
            </a:solidFill>
          </p:spPr>
          <p:txBody>
            <a:bodyPr/>
            <a:lstStyle/>
            <a:p>
              <a:endParaRPr lang="ar-EG"/>
            </a:p>
          </p:txBody>
        </p:sp>
        <p:sp>
          <p:nvSpPr>
            <p:cNvPr id="31" name="TextBox 31"/>
            <p:cNvSpPr txBox="1"/>
            <p:nvPr/>
          </p:nvSpPr>
          <p:spPr>
            <a:xfrm>
              <a:off x="76200" y="47625"/>
              <a:ext cx="660400" cy="688975"/>
            </a:xfrm>
            <a:prstGeom prst="rect">
              <a:avLst/>
            </a:prstGeom>
          </p:spPr>
          <p:txBody>
            <a:bodyPr lIns="50800" tIns="50800" rIns="50800" bIns="50800" rtlCol="0" anchor="ctr"/>
            <a:lstStyle/>
            <a:p>
              <a:pPr marL="0" lvl="0" indent="0" algn="ctr">
                <a:lnSpc>
                  <a:spcPts val="1960"/>
                </a:lnSpc>
                <a:spcBef>
                  <a:spcPct val="0"/>
                </a:spcBef>
              </a:pPr>
              <a:endParaRPr/>
            </a:p>
          </p:txBody>
        </p:sp>
      </p:grpSp>
      <p:sp>
        <p:nvSpPr>
          <p:cNvPr id="32" name="AutoShape 32"/>
          <p:cNvSpPr/>
          <p:nvPr/>
        </p:nvSpPr>
        <p:spPr>
          <a:xfrm>
            <a:off x="13228981" y="4663336"/>
            <a:ext cx="0" cy="534359"/>
          </a:xfrm>
          <a:prstGeom prst="line">
            <a:avLst/>
          </a:prstGeom>
          <a:ln w="57150" cap="rnd">
            <a:solidFill>
              <a:srgbClr val="135A5C"/>
            </a:solidFill>
            <a:prstDash val="solid"/>
            <a:headEnd type="none" w="sm" len="sm"/>
            <a:tailEnd type="none" w="sm" len="sm"/>
          </a:ln>
        </p:spPr>
        <p:txBody>
          <a:bodyPr/>
          <a:lstStyle/>
          <a:p>
            <a:endParaRPr lang="ar-EG"/>
          </a:p>
        </p:txBody>
      </p:sp>
      <p:sp>
        <p:nvSpPr>
          <p:cNvPr id="33" name="Freeform 33"/>
          <p:cNvSpPr/>
          <p:nvPr/>
        </p:nvSpPr>
        <p:spPr>
          <a:xfrm>
            <a:off x="15620491" y="5397720"/>
            <a:ext cx="626631" cy="895187"/>
          </a:xfrm>
          <a:custGeom>
            <a:avLst/>
            <a:gdLst/>
            <a:ahLst/>
            <a:cxnLst/>
            <a:rect l="l" t="t" r="r" b="b"/>
            <a:pathLst>
              <a:path w="626631" h="895187">
                <a:moveTo>
                  <a:pt x="0" y="0"/>
                </a:moveTo>
                <a:lnTo>
                  <a:pt x="626631" y="0"/>
                </a:lnTo>
                <a:lnTo>
                  <a:pt x="626631" y="895188"/>
                </a:lnTo>
                <a:lnTo>
                  <a:pt x="0" y="89518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grpSp>
        <p:nvGrpSpPr>
          <p:cNvPr id="34" name="Group 34"/>
          <p:cNvGrpSpPr/>
          <p:nvPr/>
        </p:nvGrpSpPr>
        <p:grpSpPr>
          <a:xfrm>
            <a:off x="15796924" y="6591693"/>
            <a:ext cx="273766" cy="273766"/>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B19E"/>
            </a:solidFill>
          </p:spPr>
          <p:txBody>
            <a:bodyPr/>
            <a:lstStyle/>
            <a:p>
              <a:endParaRPr lang="ar-EG"/>
            </a:p>
          </p:txBody>
        </p:sp>
        <p:sp>
          <p:nvSpPr>
            <p:cNvPr id="36" name="TextBox 36"/>
            <p:cNvSpPr txBox="1"/>
            <p:nvPr/>
          </p:nvSpPr>
          <p:spPr>
            <a:xfrm>
              <a:off x="76200" y="-19050"/>
              <a:ext cx="660400" cy="755650"/>
            </a:xfrm>
            <a:prstGeom prst="rect">
              <a:avLst/>
            </a:prstGeom>
          </p:spPr>
          <p:txBody>
            <a:bodyPr lIns="50800" tIns="50800" rIns="50800" bIns="50800" rtlCol="0" anchor="ctr"/>
            <a:lstStyle/>
            <a:p>
              <a:pPr marL="0" lvl="0" indent="0" algn="ctr">
                <a:lnSpc>
                  <a:spcPts val="7939"/>
                </a:lnSpc>
                <a:spcBef>
                  <a:spcPct val="0"/>
                </a:spcBef>
              </a:pPr>
              <a:endParaRPr/>
            </a:p>
          </p:txBody>
        </p:sp>
      </p:grpSp>
      <p:sp>
        <p:nvSpPr>
          <p:cNvPr id="37" name="AutoShape 37"/>
          <p:cNvSpPr/>
          <p:nvPr/>
        </p:nvSpPr>
        <p:spPr>
          <a:xfrm>
            <a:off x="15933807" y="4663336"/>
            <a:ext cx="0" cy="534359"/>
          </a:xfrm>
          <a:prstGeom prst="line">
            <a:avLst/>
          </a:prstGeom>
          <a:ln w="57150" cap="rnd">
            <a:solidFill>
              <a:srgbClr val="08B19E"/>
            </a:solidFill>
            <a:prstDash val="solid"/>
            <a:headEnd type="none" w="sm" len="sm"/>
            <a:tailEnd type="none" w="sm" len="sm"/>
          </a:ln>
        </p:spPr>
        <p:txBody>
          <a:bodyPr/>
          <a:lstStyle/>
          <a:p>
            <a:endParaRPr lang="ar-EG"/>
          </a:p>
        </p:txBody>
      </p:sp>
      <p:sp>
        <p:nvSpPr>
          <p:cNvPr id="38" name="TextBox 38"/>
          <p:cNvSpPr txBox="1"/>
          <p:nvPr/>
        </p:nvSpPr>
        <p:spPr>
          <a:xfrm>
            <a:off x="1140514" y="3061606"/>
            <a:ext cx="2295353" cy="304426"/>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F7F2DE"/>
                </a:solidFill>
                <a:latin typeface="Montserrat Bold"/>
                <a:ea typeface="Montserrat Bold"/>
                <a:cs typeface="Montserrat Bold"/>
                <a:sym typeface="Montserrat Bold"/>
              </a:rPr>
              <a:t>Dataset Overview</a:t>
            </a:r>
          </a:p>
        </p:txBody>
      </p:sp>
      <p:sp>
        <p:nvSpPr>
          <p:cNvPr id="39" name="TextBox 39"/>
          <p:cNvSpPr txBox="1"/>
          <p:nvPr/>
        </p:nvSpPr>
        <p:spPr>
          <a:xfrm>
            <a:off x="4006536" y="3059343"/>
            <a:ext cx="2142986" cy="306689"/>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043732"/>
                </a:solidFill>
                <a:latin typeface="Montserrat Bold"/>
                <a:ea typeface="Montserrat Bold"/>
                <a:cs typeface="Montserrat Bold"/>
                <a:sym typeface="Montserrat Bold"/>
              </a:rPr>
              <a:t>Cleaning &amp; EDA</a:t>
            </a:r>
          </a:p>
        </p:txBody>
      </p:sp>
      <p:sp>
        <p:nvSpPr>
          <p:cNvPr id="40" name="TextBox 40"/>
          <p:cNvSpPr txBox="1"/>
          <p:nvPr/>
        </p:nvSpPr>
        <p:spPr>
          <a:xfrm>
            <a:off x="6520556" y="3059343"/>
            <a:ext cx="2439523" cy="306689"/>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F7F2DE"/>
                </a:solidFill>
                <a:latin typeface="Montserrat Bold"/>
                <a:ea typeface="Montserrat Bold"/>
                <a:cs typeface="Montserrat Bold"/>
                <a:sym typeface="Montserrat Bold"/>
              </a:rPr>
              <a:t>SQL Management</a:t>
            </a:r>
          </a:p>
        </p:txBody>
      </p:sp>
      <p:sp>
        <p:nvSpPr>
          <p:cNvPr id="41" name="TextBox 41"/>
          <p:cNvSpPr txBox="1"/>
          <p:nvPr/>
        </p:nvSpPr>
        <p:spPr>
          <a:xfrm>
            <a:off x="9331113" y="3061606"/>
            <a:ext cx="2659850" cy="306689"/>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043732"/>
                </a:solidFill>
                <a:latin typeface="Montserrat Bold"/>
                <a:ea typeface="Montserrat Bold"/>
                <a:cs typeface="Montserrat Bold"/>
                <a:sym typeface="Montserrat Bold"/>
              </a:rPr>
              <a:t>Power BI Dashboard</a:t>
            </a:r>
          </a:p>
        </p:txBody>
      </p:sp>
      <p:sp>
        <p:nvSpPr>
          <p:cNvPr id="42" name="TextBox 42"/>
          <p:cNvSpPr txBox="1"/>
          <p:nvPr/>
        </p:nvSpPr>
        <p:spPr>
          <a:xfrm>
            <a:off x="11876568" y="3059343"/>
            <a:ext cx="2704826" cy="306689"/>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F7F2DE"/>
                </a:solidFill>
                <a:latin typeface="Montserrat Bold"/>
                <a:ea typeface="Montserrat Bold"/>
                <a:cs typeface="Montserrat Bold"/>
                <a:sym typeface="Montserrat Bold"/>
              </a:rPr>
              <a:t>ML model</a:t>
            </a:r>
          </a:p>
        </p:txBody>
      </p:sp>
      <p:sp>
        <p:nvSpPr>
          <p:cNvPr id="43" name="TextBox 43"/>
          <p:cNvSpPr txBox="1"/>
          <p:nvPr/>
        </p:nvSpPr>
        <p:spPr>
          <a:xfrm>
            <a:off x="14436755" y="3061606"/>
            <a:ext cx="2994103" cy="306689"/>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043732"/>
                </a:solidFill>
                <a:latin typeface="Montserrat Bold"/>
                <a:ea typeface="Montserrat Bold"/>
                <a:cs typeface="Montserrat Bold"/>
                <a:sym typeface="Montserrat Bold"/>
              </a:rPr>
              <a:t>Conclusion </a:t>
            </a:r>
          </a:p>
        </p:txBody>
      </p:sp>
      <p:grpSp>
        <p:nvGrpSpPr>
          <p:cNvPr id="44" name="Group 44"/>
          <p:cNvGrpSpPr/>
          <p:nvPr/>
        </p:nvGrpSpPr>
        <p:grpSpPr>
          <a:xfrm>
            <a:off x="-4587547" y="6658516"/>
            <a:ext cx="27463093" cy="1336096"/>
            <a:chOff x="0" y="0"/>
            <a:chExt cx="36617458" cy="1781461"/>
          </a:xfrm>
        </p:grpSpPr>
        <p:sp>
          <p:nvSpPr>
            <p:cNvPr id="45" name="Freeform 45"/>
            <p:cNvSpPr/>
            <p:nvPr/>
          </p:nvSpPr>
          <p:spPr>
            <a:xfrm>
              <a:off x="0" y="0"/>
              <a:ext cx="18404586" cy="1539293"/>
            </a:xfrm>
            <a:custGeom>
              <a:avLst/>
              <a:gdLst/>
              <a:ahLst/>
              <a:cxnLst/>
              <a:rect l="l" t="t" r="r" b="b"/>
              <a:pathLst>
                <a:path w="18404586" h="1539293">
                  <a:moveTo>
                    <a:pt x="0" y="0"/>
                  </a:moveTo>
                  <a:lnTo>
                    <a:pt x="18404586" y="0"/>
                  </a:lnTo>
                  <a:lnTo>
                    <a:pt x="18404586" y="1539293"/>
                  </a:lnTo>
                  <a:lnTo>
                    <a:pt x="0" y="153929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ar-EG"/>
            </a:p>
          </p:txBody>
        </p:sp>
        <p:sp>
          <p:nvSpPr>
            <p:cNvPr id="46" name="Freeform 46"/>
            <p:cNvSpPr/>
            <p:nvPr/>
          </p:nvSpPr>
          <p:spPr>
            <a:xfrm>
              <a:off x="18212872" y="0"/>
              <a:ext cx="18404586" cy="1539293"/>
            </a:xfrm>
            <a:custGeom>
              <a:avLst/>
              <a:gdLst/>
              <a:ahLst/>
              <a:cxnLst/>
              <a:rect l="l" t="t" r="r" b="b"/>
              <a:pathLst>
                <a:path w="18404586" h="1539293">
                  <a:moveTo>
                    <a:pt x="0" y="0"/>
                  </a:moveTo>
                  <a:lnTo>
                    <a:pt x="18404586" y="0"/>
                  </a:lnTo>
                  <a:lnTo>
                    <a:pt x="18404586" y="1539293"/>
                  </a:lnTo>
                  <a:lnTo>
                    <a:pt x="0" y="1539293"/>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ar-EG"/>
            </a:p>
          </p:txBody>
        </p:sp>
        <p:sp>
          <p:nvSpPr>
            <p:cNvPr id="47" name="TextBox 47"/>
            <p:cNvSpPr txBox="1"/>
            <p:nvPr/>
          </p:nvSpPr>
          <p:spPr>
            <a:xfrm>
              <a:off x="8467501" y="510875"/>
              <a:ext cx="1400297" cy="1248859"/>
            </a:xfrm>
            <a:prstGeom prst="rect">
              <a:avLst/>
            </a:prstGeom>
          </p:spPr>
          <p:txBody>
            <a:bodyPr lIns="0" tIns="0" rIns="0" bIns="0" rtlCol="0" anchor="t">
              <a:spAutoFit/>
            </a:bodyPr>
            <a:lstStyle/>
            <a:p>
              <a:pPr marL="0" lvl="0" indent="0" algn="ctr">
                <a:lnSpc>
                  <a:spcPts val="7840"/>
                </a:lnSpc>
              </a:pPr>
              <a:r>
                <a:rPr lang="en-US" sz="5764" b="1">
                  <a:solidFill>
                    <a:srgbClr val="043732"/>
                  </a:solidFill>
                  <a:latin typeface="Montserrat Ultra-Bold"/>
                  <a:ea typeface="Montserrat Ultra-Bold"/>
                  <a:cs typeface="Montserrat Ultra-Bold"/>
                  <a:sym typeface="Montserrat Ultra-Bold"/>
                </a:rPr>
                <a:t>1</a:t>
              </a:r>
            </a:p>
          </p:txBody>
        </p:sp>
        <p:sp>
          <p:nvSpPr>
            <p:cNvPr id="48" name="TextBox 48"/>
            <p:cNvSpPr txBox="1"/>
            <p:nvPr/>
          </p:nvSpPr>
          <p:spPr>
            <a:xfrm>
              <a:off x="12228389" y="510875"/>
              <a:ext cx="1400297" cy="1270586"/>
            </a:xfrm>
            <a:prstGeom prst="rect">
              <a:avLst/>
            </a:prstGeom>
          </p:spPr>
          <p:txBody>
            <a:bodyPr lIns="0" tIns="0" rIns="0" bIns="0" rtlCol="0" anchor="t">
              <a:spAutoFit/>
            </a:bodyPr>
            <a:lstStyle/>
            <a:p>
              <a:pPr marL="0" lvl="0" indent="0" algn="ctr">
                <a:lnSpc>
                  <a:spcPts val="7939"/>
                </a:lnSpc>
              </a:pPr>
              <a:r>
                <a:rPr lang="en-US" sz="5837" b="1">
                  <a:solidFill>
                    <a:srgbClr val="08B19E"/>
                  </a:solidFill>
                  <a:latin typeface="Montserrat Ultra-Bold"/>
                  <a:ea typeface="Montserrat Ultra-Bold"/>
                  <a:cs typeface="Montserrat Ultra-Bold"/>
                  <a:sym typeface="Montserrat Ultra-Bold"/>
                </a:rPr>
                <a:t>2</a:t>
              </a:r>
            </a:p>
          </p:txBody>
        </p:sp>
        <p:sp>
          <p:nvSpPr>
            <p:cNvPr id="49" name="TextBox 49"/>
            <p:cNvSpPr txBox="1"/>
            <p:nvPr/>
          </p:nvSpPr>
          <p:spPr>
            <a:xfrm>
              <a:off x="15867932" y="510875"/>
              <a:ext cx="1400297" cy="1270586"/>
            </a:xfrm>
            <a:prstGeom prst="rect">
              <a:avLst/>
            </a:prstGeom>
          </p:spPr>
          <p:txBody>
            <a:bodyPr lIns="0" tIns="0" rIns="0" bIns="0" rtlCol="0" anchor="t">
              <a:spAutoFit/>
            </a:bodyPr>
            <a:lstStyle/>
            <a:p>
              <a:pPr marL="0" lvl="0" indent="0" algn="ctr">
                <a:lnSpc>
                  <a:spcPts val="7939"/>
                </a:lnSpc>
              </a:pPr>
              <a:r>
                <a:rPr lang="en-US" sz="5837" b="1">
                  <a:solidFill>
                    <a:srgbClr val="043732"/>
                  </a:solidFill>
                  <a:latin typeface="Montserrat Ultra-Bold"/>
                  <a:ea typeface="Montserrat Ultra-Bold"/>
                  <a:cs typeface="Montserrat Ultra-Bold"/>
                  <a:sym typeface="Montserrat Ultra-Bold"/>
                </a:rPr>
                <a:t>3</a:t>
              </a:r>
            </a:p>
          </p:txBody>
        </p:sp>
        <p:sp>
          <p:nvSpPr>
            <p:cNvPr id="50" name="TextBox 50"/>
            <p:cNvSpPr txBox="1"/>
            <p:nvPr/>
          </p:nvSpPr>
          <p:spPr>
            <a:xfrm>
              <a:off x="19448787" y="510875"/>
              <a:ext cx="1400297" cy="1270586"/>
            </a:xfrm>
            <a:prstGeom prst="rect">
              <a:avLst/>
            </a:prstGeom>
          </p:spPr>
          <p:txBody>
            <a:bodyPr lIns="0" tIns="0" rIns="0" bIns="0" rtlCol="0" anchor="t">
              <a:spAutoFit/>
            </a:bodyPr>
            <a:lstStyle/>
            <a:p>
              <a:pPr marL="0" lvl="0" indent="0" algn="ctr">
                <a:lnSpc>
                  <a:spcPts val="7939"/>
                </a:lnSpc>
              </a:pPr>
              <a:r>
                <a:rPr lang="en-US" sz="5837" b="1">
                  <a:solidFill>
                    <a:srgbClr val="08B19E"/>
                  </a:solidFill>
                  <a:latin typeface="Montserrat Ultra-Bold"/>
                  <a:ea typeface="Montserrat Ultra-Bold"/>
                  <a:cs typeface="Montserrat Ultra-Bold"/>
                  <a:sym typeface="Montserrat Ultra-Bold"/>
                </a:rPr>
                <a:t>4</a:t>
              </a:r>
            </a:p>
          </p:txBody>
        </p:sp>
        <p:sp>
          <p:nvSpPr>
            <p:cNvPr id="51" name="TextBox 51"/>
            <p:cNvSpPr txBox="1"/>
            <p:nvPr/>
          </p:nvSpPr>
          <p:spPr>
            <a:xfrm>
              <a:off x="23055221" y="510875"/>
              <a:ext cx="1400297" cy="1270586"/>
            </a:xfrm>
            <a:prstGeom prst="rect">
              <a:avLst/>
            </a:prstGeom>
          </p:spPr>
          <p:txBody>
            <a:bodyPr lIns="0" tIns="0" rIns="0" bIns="0" rtlCol="0" anchor="t">
              <a:spAutoFit/>
            </a:bodyPr>
            <a:lstStyle/>
            <a:p>
              <a:pPr marL="0" lvl="0" indent="0" algn="ctr">
                <a:lnSpc>
                  <a:spcPts val="7939"/>
                </a:lnSpc>
              </a:pPr>
              <a:r>
                <a:rPr lang="en-US" sz="5837" b="1">
                  <a:solidFill>
                    <a:srgbClr val="043732"/>
                  </a:solidFill>
                  <a:latin typeface="Montserrat Ultra-Bold"/>
                  <a:ea typeface="Montserrat Ultra-Bold"/>
                  <a:cs typeface="Montserrat Ultra-Bold"/>
                  <a:sym typeface="Montserrat Ultra-Bold"/>
                </a:rPr>
                <a:t>5</a:t>
              </a:r>
            </a:p>
          </p:txBody>
        </p:sp>
        <p:sp>
          <p:nvSpPr>
            <p:cNvPr id="52" name="TextBox 52"/>
            <p:cNvSpPr txBox="1"/>
            <p:nvPr/>
          </p:nvSpPr>
          <p:spPr>
            <a:xfrm>
              <a:off x="26661656" y="510875"/>
              <a:ext cx="1400297" cy="1270586"/>
            </a:xfrm>
            <a:prstGeom prst="rect">
              <a:avLst/>
            </a:prstGeom>
          </p:spPr>
          <p:txBody>
            <a:bodyPr lIns="0" tIns="0" rIns="0" bIns="0" rtlCol="0" anchor="t">
              <a:spAutoFit/>
            </a:bodyPr>
            <a:lstStyle/>
            <a:p>
              <a:pPr marL="0" lvl="0" indent="0" algn="ctr">
                <a:lnSpc>
                  <a:spcPts val="7939"/>
                </a:lnSpc>
              </a:pPr>
              <a:r>
                <a:rPr lang="en-US" sz="5837" b="1">
                  <a:solidFill>
                    <a:srgbClr val="08B19E"/>
                  </a:solidFill>
                  <a:latin typeface="Montserrat Ultra-Bold"/>
                  <a:ea typeface="Montserrat Ultra-Bold"/>
                  <a:cs typeface="Montserrat Ultra-Bold"/>
                  <a:sym typeface="Montserrat Ultra-Bold"/>
                </a:rPr>
                <a:t>6</a:t>
              </a:r>
            </a:p>
          </p:txBody>
        </p:sp>
      </p:grpSp>
      <p:grpSp>
        <p:nvGrpSpPr>
          <p:cNvPr id="53" name="Group 53"/>
          <p:cNvGrpSpPr/>
          <p:nvPr/>
        </p:nvGrpSpPr>
        <p:grpSpPr>
          <a:xfrm>
            <a:off x="-19400" y="9909136"/>
            <a:ext cx="18470585" cy="221262"/>
            <a:chOff x="0" y="0"/>
            <a:chExt cx="24627447" cy="295016"/>
          </a:xfrm>
        </p:grpSpPr>
        <p:sp>
          <p:nvSpPr>
            <p:cNvPr id="54" name="AutoShape 54"/>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55" name="AutoShape 55"/>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56" name="TextBox 56"/>
          <p:cNvSpPr txBox="1"/>
          <p:nvPr/>
        </p:nvSpPr>
        <p:spPr>
          <a:xfrm>
            <a:off x="1282681" y="3537482"/>
            <a:ext cx="2112159" cy="925829"/>
          </a:xfrm>
          <a:prstGeom prst="rect">
            <a:avLst/>
          </a:prstGeom>
        </p:spPr>
        <p:txBody>
          <a:bodyPr lIns="0" tIns="0" rIns="0" bIns="0" rtlCol="0" anchor="t">
            <a:spAutoFit/>
          </a:bodyPr>
          <a:lstStyle/>
          <a:p>
            <a:pPr algn="ctr">
              <a:lnSpc>
                <a:spcPts val="2520"/>
              </a:lnSpc>
            </a:pPr>
            <a:r>
              <a:rPr lang="en-US" sz="1800">
                <a:solidFill>
                  <a:srgbClr val="000000"/>
                </a:solidFill>
                <a:latin typeface="Canva Sans"/>
                <a:ea typeface="Canva Sans"/>
                <a:cs typeface="Canva Sans"/>
                <a:sym typeface="Canva Sans"/>
              </a:rPr>
              <a:t>Quick overview on what the data looks like</a:t>
            </a:r>
          </a:p>
        </p:txBody>
      </p:sp>
      <p:sp>
        <p:nvSpPr>
          <p:cNvPr id="57" name="TextBox 57"/>
          <p:cNvSpPr txBox="1"/>
          <p:nvPr/>
        </p:nvSpPr>
        <p:spPr>
          <a:xfrm>
            <a:off x="4037364" y="3537482"/>
            <a:ext cx="2112159" cy="925829"/>
          </a:xfrm>
          <a:prstGeom prst="rect">
            <a:avLst/>
          </a:prstGeom>
        </p:spPr>
        <p:txBody>
          <a:bodyPr lIns="0" tIns="0" rIns="0" bIns="0" rtlCol="0" anchor="t">
            <a:spAutoFit/>
          </a:bodyPr>
          <a:lstStyle/>
          <a:p>
            <a:pPr algn="ctr">
              <a:lnSpc>
                <a:spcPts val="2520"/>
              </a:lnSpc>
            </a:pPr>
            <a:r>
              <a:rPr lang="en-US" sz="1800">
                <a:solidFill>
                  <a:srgbClr val="000000"/>
                </a:solidFill>
                <a:latin typeface="Canva Sans"/>
                <a:ea typeface="Canva Sans"/>
                <a:cs typeface="Canva Sans"/>
                <a:sym typeface="Canva Sans"/>
              </a:rPr>
              <a:t>Preparing &amp; exploring data for the analysis </a:t>
            </a:r>
          </a:p>
        </p:txBody>
      </p:sp>
      <p:sp>
        <p:nvSpPr>
          <p:cNvPr id="58" name="TextBox 58"/>
          <p:cNvSpPr txBox="1"/>
          <p:nvPr/>
        </p:nvSpPr>
        <p:spPr>
          <a:xfrm>
            <a:off x="6520556" y="3537482"/>
            <a:ext cx="2374037" cy="925829"/>
          </a:xfrm>
          <a:prstGeom prst="rect">
            <a:avLst/>
          </a:prstGeom>
        </p:spPr>
        <p:txBody>
          <a:bodyPr lIns="0" tIns="0" rIns="0" bIns="0" rtlCol="0" anchor="t">
            <a:spAutoFit/>
          </a:bodyPr>
          <a:lstStyle/>
          <a:p>
            <a:pPr algn="ctr">
              <a:lnSpc>
                <a:spcPts val="2520"/>
              </a:lnSpc>
            </a:pPr>
            <a:r>
              <a:rPr lang="en-US" sz="1800">
                <a:solidFill>
                  <a:srgbClr val="000000"/>
                </a:solidFill>
                <a:latin typeface="Canva Sans"/>
                <a:ea typeface="Canva Sans"/>
                <a:cs typeface="Canva Sans"/>
                <a:sym typeface="Canva Sans"/>
              </a:rPr>
              <a:t>Managing the transformed data for high performance</a:t>
            </a:r>
          </a:p>
        </p:txBody>
      </p:sp>
      <p:sp>
        <p:nvSpPr>
          <p:cNvPr id="59" name="TextBox 59"/>
          <p:cNvSpPr txBox="1"/>
          <p:nvPr/>
        </p:nvSpPr>
        <p:spPr>
          <a:xfrm>
            <a:off x="9604958" y="3537482"/>
            <a:ext cx="2112159" cy="925829"/>
          </a:xfrm>
          <a:prstGeom prst="rect">
            <a:avLst/>
          </a:prstGeom>
        </p:spPr>
        <p:txBody>
          <a:bodyPr lIns="0" tIns="0" rIns="0" bIns="0" rtlCol="0" anchor="t">
            <a:spAutoFit/>
          </a:bodyPr>
          <a:lstStyle/>
          <a:p>
            <a:pPr algn="ctr">
              <a:lnSpc>
                <a:spcPts val="2520"/>
              </a:lnSpc>
            </a:pPr>
            <a:r>
              <a:rPr lang="en-US" sz="1800">
                <a:solidFill>
                  <a:srgbClr val="000000"/>
                </a:solidFill>
                <a:latin typeface="Canva Sans"/>
                <a:ea typeface="Canva Sans"/>
                <a:cs typeface="Canva Sans"/>
                <a:sym typeface="Canva Sans"/>
              </a:rPr>
              <a:t>Visualing useful insights to help investors</a:t>
            </a:r>
          </a:p>
        </p:txBody>
      </p:sp>
      <p:sp>
        <p:nvSpPr>
          <p:cNvPr id="60" name="TextBox 60"/>
          <p:cNvSpPr txBox="1"/>
          <p:nvPr/>
        </p:nvSpPr>
        <p:spPr>
          <a:xfrm>
            <a:off x="12172901" y="3537482"/>
            <a:ext cx="2112159" cy="925829"/>
          </a:xfrm>
          <a:prstGeom prst="rect">
            <a:avLst/>
          </a:prstGeom>
        </p:spPr>
        <p:txBody>
          <a:bodyPr lIns="0" tIns="0" rIns="0" bIns="0" rtlCol="0" anchor="t">
            <a:spAutoFit/>
          </a:bodyPr>
          <a:lstStyle/>
          <a:p>
            <a:pPr algn="ctr">
              <a:lnSpc>
                <a:spcPts val="2520"/>
              </a:lnSpc>
            </a:pPr>
            <a:r>
              <a:rPr lang="en-US" sz="1800">
                <a:solidFill>
                  <a:srgbClr val="000000"/>
                </a:solidFill>
                <a:latin typeface="Canva Sans"/>
                <a:ea typeface="Canva Sans"/>
                <a:cs typeface="Canva Sans"/>
                <a:sym typeface="Canva Sans"/>
              </a:rPr>
              <a:t>The ultimate solution for the choice paradox</a:t>
            </a:r>
          </a:p>
        </p:txBody>
      </p:sp>
      <p:sp>
        <p:nvSpPr>
          <p:cNvPr id="61" name="TextBox 61"/>
          <p:cNvSpPr txBox="1"/>
          <p:nvPr/>
        </p:nvSpPr>
        <p:spPr>
          <a:xfrm>
            <a:off x="14877727" y="3537482"/>
            <a:ext cx="2112159" cy="925829"/>
          </a:xfrm>
          <a:prstGeom prst="rect">
            <a:avLst/>
          </a:prstGeom>
        </p:spPr>
        <p:txBody>
          <a:bodyPr lIns="0" tIns="0" rIns="0" bIns="0" rtlCol="0" anchor="t">
            <a:spAutoFit/>
          </a:bodyPr>
          <a:lstStyle/>
          <a:p>
            <a:pPr algn="ctr">
              <a:lnSpc>
                <a:spcPts val="2520"/>
              </a:lnSpc>
            </a:pPr>
            <a:r>
              <a:rPr lang="en-US" sz="1800">
                <a:solidFill>
                  <a:srgbClr val="000000"/>
                </a:solidFill>
                <a:latin typeface="Canva Sans"/>
                <a:ea typeface="Canva Sans"/>
                <a:cs typeface="Canva Sans"/>
                <a:sym typeface="Canva Sans"/>
              </a:rPr>
              <a:t>What we concluded from this analysis </a:t>
            </a:r>
          </a:p>
        </p:txBody>
      </p:sp>
      <p:sp>
        <p:nvSpPr>
          <p:cNvPr id="62" name="TextBox 62"/>
          <p:cNvSpPr txBox="1"/>
          <p:nvPr/>
        </p:nvSpPr>
        <p:spPr>
          <a:xfrm>
            <a:off x="4307323" y="1011085"/>
            <a:ext cx="9991563" cy="1566544"/>
          </a:xfrm>
          <a:prstGeom prst="rect">
            <a:avLst/>
          </a:prstGeom>
        </p:spPr>
        <p:txBody>
          <a:bodyPr wrap="square" lIns="0" tIns="0" rIns="0" bIns="0" rtlCol="0" anchor="t">
            <a:spAutoFit/>
          </a:bodyPr>
          <a:lstStyle/>
          <a:p>
            <a:pPr algn="ctr">
              <a:lnSpc>
                <a:spcPts val="12880"/>
              </a:lnSpc>
            </a:pPr>
            <a:r>
              <a:rPr lang="en-US" sz="9200" b="1" dirty="0">
                <a:solidFill>
                  <a:srgbClr val="043732"/>
                </a:solidFill>
                <a:latin typeface="Canva Sans Bold"/>
                <a:ea typeface="Canva Sans Bold"/>
                <a:cs typeface="Canva Sans Bold"/>
                <a:sym typeface="Canva Sans Bold"/>
              </a:rPr>
              <a:t>Working Stations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47" name="Rectangle: Rounded Corners 46">
            <a:extLst>
              <a:ext uri="{FF2B5EF4-FFF2-40B4-BE49-F238E27FC236}">
                <a16:creationId xmlns:a16="http://schemas.microsoft.com/office/drawing/2014/main" id="{DD7F6E21-0088-3BEE-FE70-38ED5BB0882B}"/>
              </a:ext>
            </a:extLst>
          </p:cNvPr>
          <p:cNvSpPr/>
          <p:nvPr/>
        </p:nvSpPr>
        <p:spPr>
          <a:xfrm>
            <a:off x="3809999" y="2329496"/>
            <a:ext cx="2547141" cy="346351"/>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899862" y="2872057"/>
            <a:ext cx="9561200" cy="2522558"/>
            <a:chOff x="0" y="0"/>
            <a:chExt cx="12748267" cy="3363410"/>
          </a:xfrm>
        </p:grpSpPr>
        <p:grpSp>
          <p:nvGrpSpPr>
            <p:cNvPr id="13" name="Group 13"/>
            <p:cNvGrpSpPr/>
            <p:nvPr/>
          </p:nvGrpSpPr>
          <p:grpSpPr>
            <a:xfrm rot="-5400000">
              <a:off x="5180949" y="-3986016"/>
              <a:ext cx="3363410" cy="11335443"/>
              <a:chOff x="0" y="0"/>
              <a:chExt cx="651003" cy="2194026"/>
            </a:xfrm>
          </p:grpSpPr>
          <p:sp>
            <p:nvSpPr>
              <p:cNvPr id="14" name="Freeform 14"/>
              <p:cNvSpPr/>
              <p:nvPr/>
            </p:nvSpPr>
            <p:spPr>
              <a:xfrm>
                <a:off x="0" y="0"/>
                <a:ext cx="651003" cy="2194026"/>
              </a:xfrm>
              <a:custGeom>
                <a:avLst/>
                <a:gdLst/>
                <a:ahLst/>
                <a:cxnLst/>
                <a:rect l="l" t="t" r="r" b="b"/>
                <a:pathLst>
                  <a:path w="651003" h="2194026">
                    <a:moveTo>
                      <a:pt x="217118" y="2174957"/>
                    </a:moveTo>
                    <a:cubicBezTo>
                      <a:pt x="250493" y="2186471"/>
                      <a:pt x="288437" y="2194026"/>
                      <a:pt x="325677" y="2194026"/>
                    </a:cubicBezTo>
                    <a:cubicBezTo>
                      <a:pt x="362918" y="2194026"/>
                      <a:pt x="398753" y="2187549"/>
                      <a:pt x="431777" y="2176035"/>
                    </a:cubicBezTo>
                    <a:cubicBezTo>
                      <a:pt x="432480" y="2175676"/>
                      <a:pt x="433182" y="2175676"/>
                      <a:pt x="433885" y="2175316"/>
                    </a:cubicBezTo>
                    <a:cubicBezTo>
                      <a:pt x="557902" y="2129261"/>
                      <a:pt x="649247" y="2007647"/>
                      <a:pt x="651003" y="1834843"/>
                    </a:cubicBezTo>
                    <a:lnTo>
                      <a:pt x="651003" y="0"/>
                    </a:lnTo>
                    <a:lnTo>
                      <a:pt x="0" y="0"/>
                    </a:lnTo>
                    <a:lnTo>
                      <a:pt x="0" y="1833481"/>
                    </a:lnTo>
                    <a:cubicBezTo>
                      <a:pt x="1757" y="2008366"/>
                      <a:pt x="91696" y="2129981"/>
                      <a:pt x="217118" y="2174957"/>
                    </a:cubicBezTo>
                    <a:close/>
                  </a:path>
                </a:pathLst>
              </a:custGeom>
              <a:solidFill>
                <a:srgbClr val="043732"/>
              </a:solidFill>
            </p:spPr>
            <p:txBody>
              <a:bodyPr/>
              <a:lstStyle/>
              <a:p>
                <a:endParaRPr lang="ar-EG"/>
              </a:p>
            </p:txBody>
          </p:sp>
          <p:sp>
            <p:nvSpPr>
              <p:cNvPr id="15" name="TextBox 15"/>
              <p:cNvSpPr txBox="1"/>
              <p:nvPr/>
            </p:nvSpPr>
            <p:spPr>
              <a:xfrm>
                <a:off x="0" y="-28575"/>
                <a:ext cx="651003" cy="2095601"/>
              </a:xfrm>
              <a:prstGeom prst="rect">
                <a:avLst/>
              </a:prstGeom>
            </p:spPr>
            <p:txBody>
              <a:bodyPr lIns="50800" tIns="50800" rIns="50800" bIns="50800" rtlCol="0" anchor="ctr"/>
              <a:lstStyle/>
              <a:p>
                <a:pPr algn="ctr">
                  <a:lnSpc>
                    <a:spcPts val="2520"/>
                  </a:lnSpc>
                </a:pPr>
                <a:endParaRPr/>
              </a:p>
            </p:txBody>
          </p:sp>
        </p:grpSp>
        <p:grpSp>
          <p:nvGrpSpPr>
            <p:cNvPr id="16" name="Group 16"/>
            <p:cNvGrpSpPr/>
            <p:nvPr/>
          </p:nvGrpSpPr>
          <p:grpSpPr>
            <a:xfrm>
              <a:off x="0" y="233376"/>
              <a:ext cx="8260396" cy="824393"/>
              <a:chOff x="0" y="0"/>
              <a:chExt cx="1631683" cy="162843"/>
            </a:xfrm>
          </p:grpSpPr>
          <p:sp>
            <p:nvSpPr>
              <p:cNvPr id="17" name="Freeform 17"/>
              <p:cNvSpPr/>
              <p:nvPr/>
            </p:nvSpPr>
            <p:spPr>
              <a:xfrm>
                <a:off x="0" y="0"/>
                <a:ext cx="1631683" cy="162843"/>
              </a:xfrm>
              <a:custGeom>
                <a:avLst/>
                <a:gdLst/>
                <a:ahLst/>
                <a:cxnLst/>
                <a:rect l="l" t="t" r="r" b="b"/>
                <a:pathLst>
                  <a:path w="1631683" h="162843">
                    <a:moveTo>
                      <a:pt x="0" y="0"/>
                    </a:moveTo>
                    <a:lnTo>
                      <a:pt x="1428483" y="0"/>
                    </a:lnTo>
                    <a:lnTo>
                      <a:pt x="1631683" y="81422"/>
                    </a:lnTo>
                    <a:lnTo>
                      <a:pt x="1428483" y="162843"/>
                    </a:lnTo>
                    <a:lnTo>
                      <a:pt x="0" y="162843"/>
                    </a:lnTo>
                    <a:lnTo>
                      <a:pt x="203200" y="81422"/>
                    </a:lnTo>
                    <a:lnTo>
                      <a:pt x="0" y="0"/>
                    </a:lnTo>
                    <a:close/>
                  </a:path>
                </a:pathLst>
              </a:custGeom>
              <a:solidFill>
                <a:srgbClr val="F7F2DE"/>
              </a:solidFill>
            </p:spPr>
            <p:txBody>
              <a:bodyPr/>
              <a:lstStyle/>
              <a:p>
                <a:endParaRPr lang="ar-EG"/>
              </a:p>
            </p:txBody>
          </p:sp>
          <p:sp>
            <p:nvSpPr>
              <p:cNvPr id="18" name="TextBox 18"/>
              <p:cNvSpPr txBox="1"/>
              <p:nvPr/>
            </p:nvSpPr>
            <p:spPr>
              <a:xfrm>
                <a:off x="177800" y="-28575"/>
                <a:ext cx="1377683" cy="191418"/>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19" name="TextBox 19"/>
            <p:cNvSpPr txBox="1"/>
            <p:nvPr/>
          </p:nvSpPr>
          <p:spPr>
            <a:xfrm>
              <a:off x="1575145" y="166701"/>
              <a:ext cx="11173122"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Data Source</a:t>
              </a:r>
            </a:p>
          </p:txBody>
        </p:sp>
        <p:sp>
          <p:nvSpPr>
            <p:cNvPr id="20" name="TextBox 20"/>
            <p:cNvSpPr txBox="1"/>
            <p:nvPr/>
          </p:nvSpPr>
          <p:spPr>
            <a:xfrm>
              <a:off x="1575145" y="1179939"/>
              <a:ext cx="10284611" cy="1797897"/>
            </a:xfrm>
            <a:prstGeom prst="rect">
              <a:avLst/>
            </a:prstGeom>
          </p:spPr>
          <p:txBody>
            <a:bodyPr lIns="0" tIns="0" rIns="0" bIns="0" rtlCol="0" anchor="t">
              <a:spAutoFit/>
            </a:bodyPr>
            <a:lstStyle/>
            <a:p>
              <a:pPr algn="l">
                <a:lnSpc>
                  <a:spcPts val="3640"/>
                </a:lnSpc>
              </a:pPr>
              <a:r>
                <a:rPr lang="en-US" sz="2600">
                  <a:solidFill>
                    <a:srgbClr val="F7F2DE"/>
                  </a:solidFill>
                  <a:latin typeface="Canva Sans"/>
                  <a:ea typeface="Canva Sans"/>
                  <a:cs typeface="Canva Sans"/>
                  <a:sym typeface="Canva Sans"/>
                </a:rPr>
                <a:t>To find the perfect dataset for this project, we fetched the internet until we found the saudi_real_estate_sale dataset on Kaggle.</a:t>
              </a:r>
            </a:p>
          </p:txBody>
        </p:sp>
      </p:grpSp>
      <p:grpSp>
        <p:nvGrpSpPr>
          <p:cNvPr id="21" name="Group 21"/>
          <p:cNvGrpSpPr/>
          <p:nvPr/>
        </p:nvGrpSpPr>
        <p:grpSpPr>
          <a:xfrm>
            <a:off x="-899862" y="5971640"/>
            <a:ext cx="9745659" cy="3760255"/>
            <a:chOff x="0" y="0"/>
            <a:chExt cx="12994213" cy="5013674"/>
          </a:xfrm>
        </p:grpSpPr>
        <p:grpSp>
          <p:nvGrpSpPr>
            <p:cNvPr id="22" name="Group 22"/>
            <p:cNvGrpSpPr/>
            <p:nvPr/>
          </p:nvGrpSpPr>
          <p:grpSpPr>
            <a:xfrm rot="-5400000">
              <a:off x="4577245" y="-3403295"/>
              <a:ext cx="5013674" cy="11820263"/>
              <a:chOff x="0" y="0"/>
              <a:chExt cx="970419" cy="2287865"/>
            </a:xfrm>
          </p:grpSpPr>
          <p:sp>
            <p:nvSpPr>
              <p:cNvPr id="23" name="Freeform 23"/>
              <p:cNvSpPr/>
              <p:nvPr/>
            </p:nvSpPr>
            <p:spPr>
              <a:xfrm>
                <a:off x="0" y="0"/>
                <a:ext cx="970419" cy="2287865"/>
              </a:xfrm>
              <a:custGeom>
                <a:avLst/>
                <a:gdLst/>
                <a:ahLst/>
                <a:cxnLst/>
                <a:rect l="l" t="t" r="r" b="b"/>
                <a:pathLst>
                  <a:path w="970419" h="2287865">
                    <a:moveTo>
                      <a:pt x="323648" y="2268796"/>
                    </a:moveTo>
                    <a:cubicBezTo>
                      <a:pt x="373399" y="2280310"/>
                      <a:pt x="429959" y="2287865"/>
                      <a:pt x="485471" y="2287865"/>
                    </a:cubicBezTo>
                    <a:cubicBezTo>
                      <a:pt x="540984" y="2287865"/>
                      <a:pt x="594402" y="2281388"/>
                      <a:pt x="643629" y="2269874"/>
                    </a:cubicBezTo>
                    <a:cubicBezTo>
                      <a:pt x="644677" y="2269515"/>
                      <a:pt x="645724" y="2269515"/>
                      <a:pt x="646771" y="2269155"/>
                    </a:cubicBezTo>
                    <a:cubicBezTo>
                      <a:pt x="831638" y="2223100"/>
                      <a:pt x="967801" y="2101486"/>
                      <a:pt x="970419" y="1926598"/>
                    </a:cubicBezTo>
                    <a:lnTo>
                      <a:pt x="970419" y="0"/>
                    </a:lnTo>
                    <a:lnTo>
                      <a:pt x="0" y="0"/>
                    </a:lnTo>
                    <a:lnTo>
                      <a:pt x="0" y="1925168"/>
                    </a:lnTo>
                    <a:cubicBezTo>
                      <a:pt x="2619" y="2102205"/>
                      <a:pt x="136686" y="2223820"/>
                      <a:pt x="323648" y="2268796"/>
                    </a:cubicBezTo>
                    <a:close/>
                  </a:path>
                </a:pathLst>
              </a:custGeom>
              <a:solidFill>
                <a:srgbClr val="043732"/>
              </a:solidFill>
            </p:spPr>
            <p:txBody>
              <a:bodyPr/>
              <a:lstStyle/>
              <a:p>
                <a:endParaRPr lang="ar-EG"/>
              </a:p>
            </p:txBody>
          </p:sp>
          <p:sp>
            <p:nvSpPr>
              <p:cNvPr id="24" name="TextBox 24"/>
              <p:cNvSpPr txBox="1"/>
              <p:nvPr/>
            </p:nvSpPr>
            <p:spPr>
              <a:xfrm>
                <a:off x="0" y="-28575"/>
                <a:ext cx="970419" cy="2189440"/>
              </a:xfrm>
              <a:prstGeom prst="rect">
                <a:avLst/>
              </a:prstGeom>
            </p:spPr>
            <p:txBody>
              <a:bodyPr lIns="50800" tIns="50800" rIns="50800" bIns="50800" rtlCol="0" anchor="ctr"/>
              <a:lstStyle/>
              <a:p>
                <a:pPr algn="ctr">
                  <a:lnSpc>
                    <a:spcPts val="2520"/>
                  </a:lnSpc>
                </a:pPr>
                <a:endParaRPr/>
              </a:p>
            </p:txBody>
          </p:sp>
        </p:grpSp>
        <p:grpSp>
          <p:nvGrpSpPr>
            <p:cNvPr id="25" name="Group 25"/>
            <p:cNvGrpSpPr/>
            <p:nvPr/>
          </p:nvGrpSpPr>
          <p:grpSpPr>
            <a:xfrm>
              <a:off x="0" y="183133"/>
              <a:ext cx="8356892" cy="757381"/>
              <a:chOff x="0" y="0"/>
              <a:chExt cx="1650744" cy="149606"/>
            </a:xfrm>
          </p:grpSpPr>
          <p:sp>
            <p:nvSpPr>
              <p:cNvPr id="26" name="Freeform 26"/>
              <p:cNvSpPr/>
              <p:nvPr/>
            </p:nvSpPr>
            <p:spPr>
              <a:xfrm>
                <a:off x="0" y="0"/>
                <a:ext cx="1650744" cy="149606"/>
              </a:xfrm>
              <a:custGeom>
                <a:avLst/>
                <a:gdLst/>
                <a:ahLst/>
                <a:cxnLst/>
                <a:rect l="l" t="t" r="r" b="b"/>
                <a:pathLst>
                  <a:path w="1650744" h="149606">
                    <a:moveTo>
                      <a:pt x="0" y="0"/>
                    </a:moveTo>
                    <a:lnTo>
                      <a:pt x="1447544" y="0"/>
                    </a:lnTo>
                    <a:lnTo>
                      <a:pt x="1650744" y="74803"/>
                    </a:lnTo>
                    <a:lnTo>
                      <a:pt x="1447544" y="149606"/>
                    </a:lnTo>
                    <a:lnTo>
                      <a:pt x="0" y="149606"/>
                    </a:lnTo>
                    <a:lnTo>
                      <a:pt x="203200" y="74803"/>
                    </a:lnTo>
                    <a:lnTo>
                      <a:pt x="0" y="0"/>
                    </a:lnTo>
                    <a:close/>
                  </a:path>
                </a:pathLst>
              </a:custGeom>
              <a:solidFill>
                <a:srgbClr val="F7F2DE"/>
              </a:solidFill>
            </p:spPr>
            <p:txBody>
              <a:bodyPr/>
              <a:lstStyle/>
              <a:p>
                <a:endParaRPr lang="ar-EG"/>
              </a:p>
            </p:txBody>
          </p:sp>
          <p:sp>
            <p:nvSpPr>
              <p:cNvPr id="27" name="TextBox 27"/>
              <p:cNvSpPr txBox="1"/>
              <p:nvPr/>
            </p:nvSpPr>
            <p:spPr>
              <a:xfrm>
                <a:off x="177800" y="-28575"/>
                <a:ext cx="1396744" cy="178181"/>
              </a:xfrm>
              <a:prstGeom prst="rect">
                <a:avLst/>
              </a:prstGeom>
            </p:spPr>
            <p:txBody>
              <a:bodyPr lIns="50800" tIns="50800" rIns="50800" bIns="50800" rtlCol="0" anchor="ctr"/>
              <a:lstStyle/>
              <a:p>
                <a:pPr marL="0" lvl="0" indent="0" algn="ctr">
                  <a:lnSpc>
                    <a:spcPts val="2520"/>
                  </a:lnSpc>
                  <a:spcBef>
                    <a:spcPct val="0"/>
                  </a:spcBef>
                </a:pPr>
                <a:endParaRPr/>
              </a:p>
            </p:txBody>
          </p:sp>
        </p:grpSp>
        <p:sp>
          <p:nvSpPr>
            <p:cNvPr id="28" name="TextBox 28"/>
            <p:cNvSpPr txBox="1"/>
            <p:nvPr/>
          </p:nvSpPr>
          <p:spPr>
            <a:xfrm>
              <a:off x="1575145" y="188885"/>
              <a:ext cx="9664142"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Data Architecture </a:t>
              </a:r>
            </a:p>
          </p:txBody>
        </p:sp>
        <p:sp>
          <p:nvSpPr>
            <p:cNvPr id="29" name="TextBox 29"/>
            <p:cNvSpPr txBox="1"/>
            <p:nvPr/>
          </p:nvSpPr>
          <p:spPr>
            <a:xfrm>
              <a:off x="1575145" y="1175464"/>
              <a:ext cx="10887870" cy="3626696"/>
            </a:xfrm>
            <a:prstGeom prst="rect">
              <a:avLst/>
            </a:prstGeom>
          </p:spPr>
          <p:txBody>
            <a:bodyPr wrap="square" lIns="0" tIns="0" rIns="0" bIns="0" rtlCol="0" anchor="t">
              <a:spAutoFit/>
            </a:bodyPr>
            <a:lstStyle/>
            <a:p>
              <a:pPr algn="l">
                <a:lnSpc>
                  <a:spcPts val="3640"/>
                </a:lnSpc>
              </a:pPr>
              <a:r>
                <a:rPr lang="en-US" sz="2600" dirty="0">
                  <a:solidFill>
                    <a:srgbClr val="F7F2DE"/>
                  </a:solidFill>
                  <a:latin typeface="Canva Sans"/>
                  <a:ea typeface="Canva Sans"/>
                  <a:cs typeface="Canva Sans"/>
                  <a:sym typeface="Canva Sans"/>
                </a:rPr>
                <a:t>To ensure the Intelligent Investment Consultant operates on high-quality, structured data, the raw real estate records were transformed into a Star Schema architecture. This structure allows for seamless filtering across cities and districts while maintaining a core record of sales performance.</a:t>
              </a:r>
            </a:p>
          </p:txBody>
        </p:sp>
      </p:grpSp>
      <p:grpSp>
        <p:nvGrpSpPr>
          <p:cNvPr id="30" name="Group 30"/>
          <p:cNvGrpSpPr/>
          <p:nvPr/>
        </p:nvGrpSpPr>
        <p:grpSpPr>
          <a:xfrm>
            <a:off x="4738646" y="1606214"/>
            <a:ext cx="8869086" cy="551020"/>
            <a:chOff x="0" y="0"/>
            <a:chExt cx="11825449" cy="734694"/>
          </a:xfrm>
        </p:grpSpPr>
        <p:sp>
          <p:nvSpPr>
            <p:cNvPr id="31" name="TextBox 31"/>
            <p:cNvSpPr txBox="1"/>
            <p:nvPr/>
          </p:nvSpPr>
          <p:spPr>
            <a:xfrm>
              <a:off x="0" y="-41033"/>
              <a:ext cx="838881" cy="738722"/>
            </a:xfrm>
            <a:prstGeom prst="rect">
              <a:avLst/>
            </a:prstGeom>
          </p:spPr>
          <p:txBody>
            <a:bodyPr lIns="0" tIns="0" rIns="0" bIns="0" rtlCol="0" anchor="t">
              <a:spAutoFit/>
            </a:bodyPr>
            <a:lstStyle/>
            <a:p>
              <a:pPr marL="0" lvl="0" indent="0" algn="ctr">
                <a:lnSpc>
                  <a:spcPts val="4696"/>
                </a:lnSpc>
              </a:pPr>
              <a:r>
                <a:rPr lang="en-US" sz="3453" b="1">
                  <a:solidFill>
                    <a:srgbClr val="08B19E"/>
                  </a:solidFill>
                  <a:latin typeface="Montserrat Ultra-Bold"/>
                  <a:ea typeface="Montserrat Ultra-Bold"/>
                  <a:cs typeface="Montserrat Ultra-Bold"/>
                  <a:sym typeface="Montserrat Ultra-Bold"/>
                </a:rPr>
                <a:t>1</a:t>
              </a:r>
            </a:p>
          </p:txBody>
        </p:sp>
        <p:sp>
          <p:nvSpPr>
            <p:cNvPr id="32" name="TextBox 32"/>
            <p:cNvSpPr txBox="1"/>
            <p:nvPr/>
          </p:nvSpPr>
          <p:spPr>
            <a:xfrm>
              <a:off x="2157993" y="-47625"/>
              <a:ext cx="838881" cy="745314"/>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33" name="TextBox 33"/>
            <p:cNvSpPr txBox="1"/>
            <p:nvPr/>
          </p:nvSpPr>
          <p:spPr>
            <a:xfrm>
              <a:off x="4366787" y="-41033"/>
              <a:ext cx="838881" cy="745314"/>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34" name="TextBox 34"/>
            <p:cNvSpPr txBox="1"/>
            <p:nvPr/>
          </p:nvSpPr>
          <p:spPr>
            <a:xfrm>
              <a:off x="6526468" y="-17044"/>
              <a:ext cx="838881" cy="745314"/>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35" name="TextBox 35"/>
            <p:cNvSpPr txBox="1"/>
            <p:nvPr/>
          </p:nvSpPr>
          <p:spPr>
            <a:xfrm>
              <a:off x="8776087" y="-26569"/>
              <a:ext cx="838881" cy="761263"/>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36" name="TextBox 36"/>
            <p:cNvSpPr txBox="1"/>
            <p:nvPr/>
          </p:nvSpPr>
          <p:spPr>
            <a:xfrm>
              <a:off x="10986568" y="-47625"/>
              <a:ext cx="838881" cy="745314"/>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grpSp>
      <p:sp>
        <p:nvSpPr>
          <p:cNvPr id="37" name="TextBox 37"/>
          <p:cNvSpPr txBox="1"/>
          <p:nvPr/>
        </p:nvSpPr>
        <p:spPr>
          <a:xfrm>
            <a:off x="3905550" y="2339031"/>
            <a:ext cx="2295354" cy="291362"/>
          </a:xfrm>
          <a:prstGeom prst="rect">
            <a:avLst/>
          </a:prstGeom>
        </p:spPr>
        <p:txBody>
          <a:bodyPr wrap="square" lIns="0" tIns="0" rIns="0" bIns="0" rtlCol="0" anchor="t">
            <a:spAutoFit/>
          </a:bodyPr>
          <a:lstStyle/>
          <a:p>
            <a:pPr marL="0" lvl="0" indent="0" algn="ctr">
              <a:lnSpc>
                <a:spcPts val="2447"/>
              </a:lnSpc>
              <a:spcBef>
                <a:spcPct val="0"/>
              </a:spcBef>
            </a:pPr>
            <a:r>
              <a:rPr lang="en-US" sz="1911" b="1" u="none" strike="noStrike" dirty="0">
                <a:solidFill>
                  <a:srgbClr val="043732"/>
                </a:solidFill>
                <a:latin typeface="Montserrat Bold"/>
                <a:ea typeface="Montserrat Bold"/>
                <a:cs typeface="Montserrat Bold"/>
                <a:sym typeface="Montserrat Bold"/>
              </a:rPr>
              <a:t>Dataset Overview</a:t>
            </a:r>
          </a:p>
        </p:txBody>
      </p:sp>
      <p:grpSp>
        <p:nvGrpSpPr>
          <p:cNvPr id="38" name="Group 38"/>
          <p:cNvGrpSpPr/>
          <p:nvPr/>
        </p:nvGrpSpPr>
        <p:grpSpPr>
          <a:xfrm>
            <a:off x="9459794" y="2872057"/>
            <a:ext cx="11989427" cy="5906202"/>
            <a:chOff x="0" y="0"/>
            <a:chExt cx="15985903" cy="7874936"/>
          </a:xfrm>
        </p:grpSpPr>
        <p:grpSp>
          <p:nvGrpSpPr>
            <p:cNvPr id="39" name="Group 39"/>
            <p:cNvGrpSpPr/>
            <p:nvPr/>
          </p:nvGrpSpPr>
          <p:grpSpPr>
            <a:xfrm rot="5400000">
              <a:off x="1948003" y="-1948003"/>
              <a:ext cx="7874936" cy="11770942"/>
              <a:chOff x="0" y="0"/>
              <a:chExt cx="1555543" cy="2325124"/>
            </a:xfrm>
          </p:grpSpPr>
          <p:sp>
            <p:nvSpPr>
              <p:cNvPr id="40" name="Freeform 40"/>
              <p:cNvSpPr/>
              <p:nvPr/>
            </p:nvSpPr>
            <p:spPr>
              <a:xfrm>
                <a:off x="0" y="0"/>
                <a:ext cx="1555543" cy="2325124"/>
              </a:xfrm>
              <a:custGeom>
                <a:avLst/>
                <a:gdLst/>
                <a:ahLst/>
                <a:cxnLst/>
                <a:rect l="l" t="t" r="r" b="b"/>
                <a:pathLst>
                  <a:path w="1555543" h="2325124">
                    <a:moveTo>
                      <a:pt x="518794" y="2306055"/>
                    </a:moveTo>
                    <a:cubicBezTo>
                      <a:pt x="598543" y="2317569"/>
                      <a:pt x="689207" y="2325124"/>
                      <a:pt x="778190" y="2325124"/>
                    </a:cubicBezTo>
                    <a:cubicBezTo>
                      <a:pt x="867176" y="2325124"/>
                      <a:pt x="952803" y="2318647"/>
                      <a:pt x="1031711" y="2307133"/>
                    </a:cubicBezTo>
                    <a:cubicBezTo>
                      <a:pt x="1033392" y="2306774"/>
                      <a:pt x="1035070" y="2306774"/>
                      <a:pt x="1036748" y="2306415"/>
                    </a:cubicBezTo>
                    <a:cubicBezTo>
                      <a:pt x="1333082" y="2260359"/>
                      <a:pt x="1551346" y="2138745"/>
                      <a:pt x="1555543" y="1963029"/>
                    </a:cubicBezTo>
                    <a:lnTo>
                      <a:pt x="1555543" y="0"/>
                    </a:lnTo>
                    <a:lnTo>
                      <a:pt x="0" y="0"/>
                    </a:lnTo>
                    <a:lnTo>
                      <a:pt x="0" y="1961573"/>
                    </a:lnTo>
                    <a:cubicBezTo>
                      <a:pt x="4197" y="2139464"/>
                      <a:pt x="219102" y="2261079"/>
                      <a:pt x="518794" y="2306055"/>
                    </a:cubicBezTo>
                    <a:close/>
                  </a:path>
                </a:pathLst>
              </a:custGeom>
              <a:solidFill>
                <a:srgbClr val="043732"/>
              </a:solidFill>
            </p:spPr>
            <p:txBody>
              <a:bodyPr/>
              <a:lstStyle/>
              <a:p>
                <a:endParaRPr lang="ar-EG"/>
              </a:p>
            </p:txBody>
          </p:sp>
          <p:sp>
            <p:nvSpPr>
              <p:cNvPr id="41" name="TextBox 41"/>
              <p:cNvSpPr txBox="1"/>
              <p:nvPr/>
            </p:nvSpPr>
            <p:spPr>
              <a:xfrm>
                <a:off x="0" y="-28575"/>
                <a:ext cx="1555543" cy="2226699"/>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42" name="Group 42"/>
            <p:cNvGrpSpPr/>
            <p:nvPr/>
          </p:nvGrpSpPr>
          <p:grpSpPr>
            <a:xfrm>
              <a:off x="2669074" y="233376"/>
              <a:ext cx="10596390" cy="824393"/>
              <a:chOff x="0" y="0"/>
              <a:chExt cx="1739080" cy="135299"/>
            </a:xfrm>
          </p:grpSpPr>
          <p:sp>
            <p:nvSpPr>
              <p:cNvPr id="43" name="Freeform 43"/>
              <p:cNvSpPr/>
              <p:nvPr/>
            </p:nvSpPr>
            <p:spPr>
              <a:xfrm>
                <a:off x="0" y="0"/>
                <a:ext cx="1739080" cy="135299"/>
              </a:xfrm>
              <a:custGeom>
                <a:avLst/>
                <a:gdLst/>
                <a:ahLst/>
                <a:cxnLst/>
                <a:rect l="l" t="t" r="r" b="b"/>
                <a:pathLst>
                  <a:path w="1739080" h="135299">
                    <a:moveTo>
                      <a:pt x="0" y="0"/>
                    </a:moveTo>
                    <a:lnTo>
                      <a:pt x="1535880" y="0"/>
                    </a:lnTo>
                    <a:lnTo>
                      <a:pt x="1739080" y="67650"/>
                    </a:lnTo>
                    <a:lnTo>
                      <a:pt x="1535880" y="135299"/>
                    </a:lnTo>
                    <a:lnTo>
                      <a:pt x="0" y="135299"/>
                    </a:lnTo>
                    <a:lnTo>
                      <a:pt x="203200" y="67650"/>
                    </a:lnTo>
                    <a:lnTo>
                      <a:pt x="0" y="0"/>
                    </a:lnTo>
                    <a:close/>
                  </a:path>
                </a:pathLst>
              </a:custGeom>
              <a:solidFill>
                <a:srgbClr val="F7F2DE"/>
              </a:solidFill>
            </p:spPr>
            <p:txBody>
              <a:bodyPr/>
              <a:lstStyle/>
              <a:p>
                <a:endParaRPr lang="ar-EG"/>
              </a:p>
            </p:txBody>
          </p:sp>
          <p:sp>
            <p:nvSpPr>
              <p:cNvPr id="44" name="TextBox 44"/>
              <p:cNvSpPr txBox="1"/>
              <p:nvPr/>
            </p:nvSpPr>
            <p:spPr>
              <a:xfrm>
                <a:off x="177800" y="-28575"/>
                <a:ext cx="1485080" cy="163874"/>
              </a:xfrm>
              <a:prstGeom prst="rect">
                <a:avLst/>
              </a:prstGeom>
            </p:spPr>
            <p:txBody>
              <a:bodyPr lIns="61142" tIns="61142" rIns="61142" bIns="61142" rtlCol="0" anchor="ctr"/>
              <a:lstStyle/>
              <a:p>
                <a:pPr algn="ctr">
                  <a:lnSpc>
                    <a:spcPts val="2520"/>
                  </a:lnSpc>
                </a:pPr>
                <a:endParaRPr/>
              </a:p>
            </p:txBody>
          </p:sp>
        </p:grpSp>
        <p:sp>
          <p:nvSpPr>
            <p:cNvPr id="45" name="TextBox 45"/>
            <p:cNvSpPr txBox="1"/>
            <p:nvPr/>
          </p:nvSpPr>
          <p:spPr>
            <a:xfrm>
              <a:off x="4812781" y="236421"/>
              <a:ext cx="11173122"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Table Dimensions</a:t>
              </a:r>
            </a:p>
          </p:txBody>
        </p:sp>
        <p:sp>
          <p:nvSpPr>
            <p:cNvPr id="46" name="TextBox 46"/>
            <p:cNvSpPr txBox="1"/>
            <p:nvPr/>
          </p:nvSpPr>
          <p:spPr>
            <a:xfrm>
              <a:off x="1070485" y="1179939"/>
              <a:ext cx="10667873" cy="6065097"/>
            </a:xfrm>
            <a:prstGeom prst="rect">
              <a:avLst/>
            </a:prstGeom>
          </p:spPr>
          <p:txBody>
            <a:bodyPr lIns="0" tIns="0" rIns="0" bIns="0" rtlCol="0" anchor="t">
              <a:spAutoFit/>
            </a:bodyPr>
            <a:lstStyle/>
            <a:p>
              <a:pPr marL="561341" lvl="1" indent="-280670" algn="l">
                <a:lnSpc>
                  <a:spcPts val="3640"/>
                </a:lnSpc>
                <a:buFont typeface="Arial"/>
                <a:buChar char="•"/>
              </a:pPr>
              <a:r>
                <a:rPr lang="en-US" sz="2600">
                  <a:solidFill>
                    <a:srgbClr val="F7F2DE"/>
                  </a:solidFill>
                  <a:latin typeface="Canva Sans"/>
                  <a:ea typeface="Canva Sans"/>
                  <a:cs typeface="Canva Sans"/>
                  <a:sym typeface="Canva Sans"/>
                </a:rPr>
                <a:t>Fact_Sales Table: The central repository for all property transactions across KSA, containing 1959 unique district records and 97 unique cities.</a:t>
              </a:r>
            </a:p>
            <a:p>
              <a:pPr marL="561341" lvl="1" indent="-280670" algn="l">
                <a:lnSpc>
                  <a:spcPts val="3640"/>
                </a:lnSpc>
                <a:buFont typeface="Arial"/>
                <a:buChar char="•"/>
              </a:pPr>
              <a:r>
                <a:rPr lang="en-US" sz="2600">
                  <a:solidFill>
                    <a:srgbClr val="F7F2DE"/>
                  </a:solidFill>
                  <a:latin typeface="Canva Sans"/>
                  <a:ea typeface="Canva Sans"/>
                  <a:cs typeface="Canva Sans"/>
                  <a:sym typeface="Canva Sans"/>
                </a:rPr>
                <a:t>Dim_Cities: A dimension table providing geographical context, including city names in both Arabic and English.</a:t>
              </a:r>
            </a:p>
            <a:p>
              <a:pPr marL="561341" lvl="1" indent="-280670" algn="l">
                <a:lnSpc>
                  <a:spcPts val="3640"/>
                </a:lnSpc>
                <a:buFont typeface="Arial"/>
                <a:buChar char="•"/>
              </a:pPr>
              <a:r>
                <a:rPr lang="en-US" sz="2600">
                  <a:solidFill>
                    <a:srgbClr val="F7F2DE"/>
                  </a:solidFill>
                  <a:latin typeface="Canva Sans"/>
                  <a:ea typeface="Canva Sans"/>
                  <a:cs typeface="Canva Sans"/>
                  <a:sym typeface="Canva Sans"/>
                </a:rPr>
                <a:t>Dim_Districts: A granular dimension table mapping properties to specific neighborhoods.</a:t>
              </a:r>
            </a:p>
          </p:txBody>
        </p:sp>
      </p:grpSp>
    </p:spTree>
  </p:cSld>
  <p:clrMapOvr>
    <a:masterClrMapping/>
  </p:clrMapOvr>
  <p:transition spd="slow">
    <p:cover dir="l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67C0F440-C306-1E00-B94C-C4E24F7884C8}"/>
              </a:ext>
            </a:extLst>
          </p:cNvPr>
          <p:cNvSpPr/>
          <p:nvPr/>
        </p:nvSpPr>
        <p:spPr>
          <a:xfrm>
            <a:off x="5600228" y="2332601"/>
            <a:ext cx="2142986" cy="353716"/>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3" name="TextBox 13"/>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2</a:t>
            </a:r>
          </a:p>
        </p:txBody>
      </p:sp>
      <p:sp>
        <p:nvSpPr>
          <p:cNvPr id="14" name="TextBox 14"/>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15" name="TextBox 15"/>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16" name="TextBox 16"/>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17" name="TextBox 17"/>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18" name="TextBox 18"/>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19" name="TextBox 19"/>
          <p:cNvSpPr txBox="1"/>
          <p:nvPr/>
        </p:nvSpPr>
        <p:spPr>
          <a:xfrm>
            <a:off x="5600228" y="2339031"/>
            <a:ext cx="2142986" cy="306689"/>
          </a:xfrm>
          <a:prstGeom prst="rect">
            <a:avLst/>
          </a:prstGeom>
        </p:spPr>
        <p:txBody>
          <a:bodyPr lIns="0" tIns="0" rIns="0" bIns="0" rtlCol="0" anchor="t">
            <a:spAutoFit/>
          </a:bodyPr>
          <a:lstStyle/>
          <a:p>
            <a:pPr marL="0" lvl="0" indent="0" algn="ctr">
              <a:lnSpc>
                <a:spcPts val="2447"/>
              </a:lnSpc>
              <a:spcBef>
                <a:spcPct val="0"/>
              </a:spcBef>
            </a:pPr>
            <a:r>
              <a:rPr lang="en-US" sz="1911" b="1" dirty="0">
                <a:solidFill>
                  <a:srgbClr val="043732"/>
                </a:solidFill>
                <a:latin typeface="Montserrat Bold"/>
                <a:ea typeface="Montserrat Bold"/>
                <a:cs typeface="Montserrat Bold"/>
                <a:sym typeface="Montserrat Bold"/>
              </a:rPr>
              <a:t>Cleaning &amp; EDA</a:t>
            </a:r>
          </a:p>
        </p:txBody>
      </p:sp>
      <p:grpSp>
        <p:nvGrpSpPr>
          <p:cNvPr id="20" name="Group 20"/>
          <p:cNvGrpSpPr/>
          <p:nvPr/>
        </p:nvGrpSpPr>
        <p:grpSpPr>
          <a:xfrm>
            <a:off x="-899862" y="2872057"/>
            <a:ext cx="10533359" cy="3922576"/>
            <a:chOff x="0" y="0"/>
            <a:chExt cx="14044479" cy="5230102"/>
          </a:xfrm>
        </p:grpSpPr>
        <p:grpSp>
          <p:nvGrpSpPr>
            <p:cNvPr id="21" name="Group 21"/>
            <p:cNvGrpSpPr/>
            <p:nvPr/>
          </p:nvGrpSpPr>
          <p:grpSpPr>
            <a:xfrm rot="-5400000">
              <a:off x="5004655" y="-3809722"/>
              <a:ext cx="5230102" cy="12849546"/>
              <a:chOff x="0" y="0"/>
              <a:chExt cx="1012310" cy="2487087"/>
            </a:xfrm>
          </p:grpSpPr>
          <p:sp>
            <p:nvSpPr>
              <p:cNvPr id="22" name="Freeform 22"/>
              <p:cNvSpPr/>
              <p:nvPr/>
            </p:nvSpPr>
            <p:spPr>
              <a:xfrm>
                <a:off x="0" y="0"/>
                <a:ext cx="1012310" cy="2487087"/>
              </a:xfrm>
              <a:custGeom>
                <a:avLst/>
                <a:gdLst/>
                <a:ahLst/>
                <a:cxnLst/>
                <a:rect l="l" t="t" r="r" b="b"/>
                <a:pathLst>
                  <a:path w="1012310" h="2487087">
                    <a:moveTo>
                      <a:pt x="337619" y="2468018"/>
                    </a:moveTo>
                    <a:cubicBezTo>
                      <a:pt x="389517" y="2479532"/>
                      <a:pt x="448519" y="2487087"/>
                      <a:pt x="506427" y="2487087"/>
                    </a:cubicBezTo>
                    <a:cubicBezTo>
                      <a:pt x="564337" y="2487087"/>
                      <a:pt x="620061" y="2480610"/>
                      <a:pt x="671412" y="2469097"/>
                    </a:cubicBezTo>
                    <a:cubicBezTo>
                      <a:pt x="672507" y="2468737"/>
                      <a:pt x="673599" y="2468737"/>
                      <a:pt x="674691" y="2468378"/>
                    </a:cubicBezTo>
                    <a:cubicBezTo>
                      <a:pt x="867538" y="2422322"/>
                      <a:pt x="1009578" y="2300708"/>
                      <a:pt x="1012310" y="2121395"/>
                    </a:cubicBezTo>
                    <a:lnTo>
                      <a:pt x="1012310" y="0"/>
                    </a:lnTo>
                    <a:lnTo>
                      <a:pt x="0" y="0"/>
                    </a:lnTo>
                    <a:lnTo>
                      <a:pt x="0" y="2119820"/>
                    </a:lnTo>
                    <a:cubicBezTo>
                      <a:pt x="2732" y="2301427"/>
                      <a:pt x="142587" y="2423042"/>
                      <a:pt x="337619" y="2468018"/>
                    </a:cubicBezTo>
                    <a:close/>
                  </a:path>
                </a:pathLst>
              </a:custGeom>
              <a:solidFill>
                <a:srgbClr val="043732"/>
              </a:solidFill>
            </p:spPr>
            <p:txBody>
              <a:bodyPr/>
              <a:lstStyle/>
              <a:p>
                <a:endParaRPr lang="ar-EG"/>
              </a:p>
            </p:txBody>
          </p:sp>
          <p:sp>
            <p:nvSpPr>
              <p:cNvPr id="23" name="TextBox 23"/>
              <p:cNvSpPr txBox="1"/>
              <p:nvPr/>
            </p:nvSpPr>
            <p:spPr>
              <a:xfrm>
                <a:off x="0" y="-28575"/>
                <a:ext cx="1012310" cy="2388662"/>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0" y="330200"/>
              <a:ext cx="13270093" cy="610314"/>
              <a:chOff x="0" y="0"/>
              <a:chExt cx="2621253" cy="120556"/>
            </a:xfrm>
          </p:grpSpPr>
          <p:sp>
            <p:nvSpPr>
              <p:cNvPr id="25" name="Freeform 25"/>
              <p:cNvSpPr/>
              <p:nvPr/>
            </p:nvSpPr>
            <p:spPr>
              <a:xfrm>
                <a:off x="0" y="0"/>
                <a:ext cx="2621253" cy="120556"/>
              </a:xfrm>
              <a:custGeom>
                <a:avLst/>
                <a:gdLst/>
                <a:ahLst/>
                <a:cxnLst/>
                <a:rect l="l" t="t" r="r" b="b"/>
                <a:pathLst>
                  <a:path w="2621253" h="120556">
                    <a:moveTo>
                      <a:pt x="0" y="0"/>
                    </a:moveTo>
                    <a:lnTo>
                      <a:pt x="2418053" y="0"/>
                    </a:lnTo>
                    <a:lnTo>
                      <a:pt x="2621253" y="60278"/>
                    </a:lnTo>
                    <a:lnTo>
                      <a:pt x="2418053" y="120556"/>
                    </a:lnTo>
                    <a:lnTo>
                      <a:pt x="0" y="120556"/>
                    </a:lnTo>
                    <a:lnTo>
                      <a:pt x="203200" y="60278"/>
                    </a:lnTo>
                    <a:lnTo>
                      <a:pt x="0" y="0"/>
                    </a:lnTo>
                    <a:close/>
                  </a:path>
                </a:pathLst>
              </a:custGeom>
              <a:solidFill>
                <a:srgbClr val="F7F2DE"/>
              </a:solidFill>
            </p:spPr>
            <p:txBody>
              <a:bodyPr/>
              <a:lstStyle/>
              <a:p>
                <a:endParaRPr lang="ar-EG"/>
              </a:p>
            </p:txBody>
          </p:sp>
          <p:sp>
            <p:nvSpPr>
              <p:cNvPr id="26" name="TextBox 26"/>
              <p:cNvSpPr txBox="1"/>
              <p:nvPr/>
            </p:nvSpPr>
            <p:spPr>
              <a:xfrm>
                <a:off x="177800" y="-28575"/>
                <a:ext cx="2367253" cy="149131"/>
              </a:xfrm>
              <a:prstGeom prst="rect">
                <a:avLst/>
              </a:prstGeom>
            </p:spPr>
            <p:txBody>
              <a:bodyPr lIns="50800" tIns="50800" rIns="50800" bIns="50800" rtlCol="0" anchor="ctr"/>
              <a:lstStyle/>
              <a:p>
                <a:pPr algn="ctr">
                  <a:lnSpc>
                    <a:spcPts val="2520"/>
                  </a:lnSpc>
                </a:pPr>
                <a:endParaRPr/>
              </a:p>
            </p:txBody>
          </p:sp>
        </p:grpSp>
        <p:sp>
          <p:nvSpPr>
            <p:cNvPr id="27" name="TextBox 27"/>
            <p:cNvSpPr txBox="1"/>
            <p:nvPr/>
          </p:nvSpPr>
          <p:spPr>
            <a:xfrm>
              <a:off x="1553603" y="188885"/>
              <a:ext cx="11173122"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 Data Selection &amp; Feature Engineering</a:t>
              </a:r>
            </a:p>
          </p:txBody>
        </p:sp>
        <p:sp>
          <p:nvSpPr>
            <p:cNvPr id="28" name="TextBox 28"/>
            <p:cNvSpPr txBox="1"/>
            <p:nvPr/>
          </p:nvSpPr>
          <p:spPr>
            <a:xfrm>
              <a:off x="1553603" y="1188164"/>
              <a:ext cx="10759886" cy="3626696"/>
            </a:xfrm>
            <a:prstGeom prst="rect">
              <a:avLst/>
            </a:prstGeom>
          </p:spPr>
          <p:txBody>
            <a:bodyPr wrap="square" lIns="0" tIns="0" rIns="0" bIns="0" rtlCol="0" anchor="t">
              <a:spAutoFit/>
            </a:bodyPr>
            <a:lstStyle/>
            <a:p>
              <a:pPr algn="l">
                <a:lnSpc>
                  <a:spcPts val="3640"/>
                </a:lnSpc>
              </a:pPr>
              <a:r>
                <a:rPr lang="en-US" sz="2600" dirty="0">
                  <a:solidFill>
                    <a:srgbClr val="F7F2DE"/>
                  </a:solidFill>
                  <a:latin typeface="Canva Sans"/>
                  <a:ea typeface="Canva Sans"/>
                  <a:cs typeface="Canva Sans"/>
                  <a:sym typeface="Canva Sans"/>
                </a:rPr>
                <a:t>The initial dataset was filtered to include only residential sale properties, reducing the volume to 307,706 high-quality records. We introduced four new calculated features to enhance the predictive power of our "Intelligent Consultant": price_per_m2, </a:t>
              </a:r>
              <a:r>
                <a:rPr lang="en-US" sz="2600" dirty="0" err="1">
                  <a:solidFill>
                    <a:srgbClr val="F7F2DE"/>
                  </a:solidFill>
                  <a:latin typeface="Canva Sans"/>
                  <a:ea typeface="Canva Sans"/>
                  <a:cs typeface="Canva Sans"/>
                  <a:sym typeface="Canva Sans"/>
                </a:rPr>
                <a:t>total_rooms</a:t>
              </a:r>
              <a:r>
                <a:rPr lang="en-US" sz="2600" dirty="0">
                  <a:solidFill>
                    <a:srgbClr val="F7F2DE"/>
                  </a:solidFill>
                  <a:latin typeface="Canva Sans"/>
                  <a:ea typeface="Canva Sans"/>
                  <a:cs typeface="Canva Sans"/>
                  <a:sym typeface="Canva Sans"/>
                </a:rPr>
                <a:t>, </a:t>
              </a:r>
              <a:r>
                <a:rPr lang="en-US" sz="2600" dirty="0" err="1">
                  <a:solidFill>
                    <a:srgbClr val="F7F2DE"/>
                  </a:solidFill>
                  <a:latin typeface="Canva Sans"/>
                  <a:ea typeface="Canva Sans"/>
                  <a:cs typeface="Canva Sans"/>
                  <a:sym typeface="Canva Sans"/>
                </a:rPr>
                <a:t>is_riyadh</a:t>
              </a:r>
              <a:r>
                <a:rPr lang="en-US" sz="2600" dirty="0">
                  <a:solidFill>
                    <a:srgbClr val="F7F2DE"/>
                  </a:solidFill>
                  <a:latin typeface="Canva Sans"/>
                  <a:ea typeface="Canva Sans"/>
                  <a:cs typeface="Canva Sans"/>
                  <a:sym typeface="Canva Sans"/>
                </a:rPr>
                <a:t>, and </a:t>
              </a:r>
              <a:r>
                <a:rPr lang="en-US" sz="2600" dirty="0" err="1">
                  <a:solidFill>
                    <a:srgbClr val="F7F2DE"/>
                  </a:solidFill>
                  <a:latin typeface="Canva Sans"/>
                  <a:ea typeface="Canva Sans"/>
                  <a:cs typeface="Canva Sans"/>
                  <a:sym typeface="Canva Sans"/>
                </a:rPr>
                <a:t>is_new</a:t>
              </a:r>
              <a:r>
                <a:rPr lang="en-US" sz="2600" dirty="0">
                  <a:solidFill>
                    <a:srgbClr val="F7F2DE"/>
                  </a:solidFill>
                  <a:latin typeface="Canva Sans"/>
                  <a:ea typeface="Canva Sans"/>
                  <a:cs typeface="Canva Sans"/>
                  <a:sym typeface="Canva Sans"/>
                </a:rPr>
                <a:t>.</a:t>
              </a:r>
            </a:p>
          </p:txBody>
        </p:sp>
      </p:grpSp>
      <p:grpSp>
        <p:nvGrpSpPr>
          <p:cNvPr id="29" name="Group 29"/>
          <p:cNvGrpSpPr/>
          <p:nvPr/>
        </p:nvGrpSpPr>
        <p:grpSpPr>
          <a:xfrm>
            <a:off x="-1100479" y="7283362"/>
            <a:ext cx="10733975" cy="2137045"/>
            <a:chOff x="0" y="0"/>
            <a:chExt cx="14311967" cy="2849393"/>
          </a:xfrm>
        </p:grpSpPr>
        <p:grpSp>
          <p:nvGrpSpPr>
            <p:cNvPr id="30" name="Group 30"/>
            <p:cNvGrpSpPr/>
            <p:nvPr/>
          </p:nvGrpSpPr>
          <p:grpSpPr>
            <a:xfrm rot="-5400000">
              <a:off x="6389343" y="-5073231"/>
              <a:ext cx="2849393" cy="12995856"/>
              <a:chOff x="0" y="0"/>
              <a:chExt cx="551513" cy="2515406"/>
            </a:xfrm>
          </p:grpSpPr>
          <p:sp>
            <p:nvSpPr>
              <p:cNvPr id="31" name="Freeform 31"/>
              <p:cNvSpPr/>
              <p:nvPr/>
            </p:nvSpPr>
            <p:spPr>
              <a:xfrm>
                <a:off x="0" y="0"/>
                <a:ext cx="551513" cy="2515406"/>
              </a:xfrm>
              <a:custGeom>
                <a:avLst/>
                <a:gdLst/>
                <a:ahLst/>
                <a:cxnLst/>
                <a:rect l="l" t="t" r="r" b="b"/>
                <a:pathLst>
                  <a:path w="551513" h="2515406">
                    <a:moveTo>
                      <a:pt x="183937" y="2496337"/>
                    </a:moveTo>
                    <a:cubicBezTo>
                      <a:pt x="212212" y="2507851"/>
                      <a:pt x="244356" y="2515406"/>
                      <a:pt x="275905" y="2515406"/>
                    </a:cubicBezTo>
                    <a:cubicBezTo>
                      <a:pt x="307455" y="2515406"/>
                      <a:pt x="337813" y="2508929"/>
                      <a:pt x="365790" y="2497415"/>
                    </a:cubicBezTo>
                    <a:cubicBezTo>
                      <a:pt x="366386" y="2497056"/>
                      <a:pt x="366981" y="2497056"/>
                      <a:pt x="367576" y="2496696"/>
                    </a:cubicBezTo>
                    <a:cubicBezTo>
                      <a:pt x="472640" y="2450641"/>
                      <a:pt x="550025" y="2329027"/>
                      <a:pt x="551513" y="2149085"/>
                    </a:cubicBezTo>
                    <a:lnTo>
                      <a:pt x="551513" y="0"/>
                    </a:lnTo>
                    <a:lnTo>
                      <a:pt x="0" y="0"/>
                    </a:lnTo>
                    <a:lnTo>
                      <a:pt x="0" y="2147490"/>
                    </a:lnTo>
                    <a:cubicBezTo>
                      <a:pt x="1488" y="2329746"/>
                      <a:pt x="77682" y="2451361"/>
                      <a:pt x="183937" y="2496337"/>
                    </a:cubicBezTo>
                    <a:close/>
                  </a:path>
                </a:pathLst>
              </a:custGeom>
              <a:solidFill>
                <a:srgbClr val="043732"/>
              </a:solidFill>
            </p:spPr>
            <p:txBody>
              <a:bodyPr/>
              <a:lstStyle/>
              <a:p>
                <a:endParaRPr lang="ar-EG"/>
              </a:p>
            </p:txBody>
          </p:sp>
          <p:sp>
            <p:nvSpPr>
              <p:cNvPr id="32" name="TextBox 32"/>
              <p:cNvSpPr txBox="1"/>
              <p:nvPr/>
            </p:nvSpPr>
            <p:spPr>
              <a:xfrm>
                <a:off x="0" y="-28575"/>
                <a:ext cx="551513" cy="2416981"/>
              </a:xfrm>
              <a:prstGeom prst="rect">
                <a:avLst/>
              </a:prstGeom>
            </p:spPr>
            <p:txBody>
              <a:bodyPr lIns="50800" tIns="50800" rIns="50800" bIns="50800" rtlCol="0" anchor="ctr"/>
              <a:lstStyle/>
              <a:p>
                <a:pPr algn="ctr">
                  <a:lnSpc>
                    <a:spcPts val="2520"/>
                  </a:lnSpc>
                </a:pPr>
                <a:endParaRPr/>
              </a:p>
            </p:txBody>
          </p:sp>
        </p:grpSp>
        <p:grpSp>
          <p:nvGrpSpPr>
            <p:cNvPr id="33" name="Group 33"/>
            <p:cNvGrpSpPr/>
            <p:nvPr/>
          </p:nvGrpSpPr>
          <p:grpSpPr>
            <a:xfrm>
              <a:off x="0" y="330200"/>
              <a:ext cx="12966740" cy="535674"/>
              <a:chOff x="0" y="0"/>
              <a:chExt cx="2561331" cy="105812"/>
            </a:xfrm>
          </p:grpSpPr>
          <p:sp>
            <p:nvSpPr>
              <p:cNvPr id="34" name="Freeform 34"/>
              <p:cNvSpPr/>
              <p:nvPr/>
            </p:nvSpPr>
            <p:spPr>
              <a:xfrm>
                <a:off x="0" y="0"/>
                <a:ext cx="2561331" cy="105812"/>
              </a:xfrm>
              <a:custGeom>
                <a:avLst/>
                <a:gdLst/>
                <a:ahLst/>
                <a:cxnLst/>
                <a:rect l="l" t="t" r="r" b="b"/>
                <a:pathLst>
                  <a:path w="2561331" h="105812">
                    <a:moveTo>
                      <a:pt x="0" y="0"/>
                    </a:moveTo>
                    <a:lnTo>
                      <a:pt x="2358131" y="0"/>
                    </a:lnTo>
                    <a:lnTo>
                      <a:pt x="2561331" y="52906"/>
                    </a:lnTo>
                    <a:lnTo>
                      <a:pt x="2358131" y="105812"/>
                    </a:lnTo>
                    <a:lnTo>
                      <a:pt x="0" y="105812"/>
                    </a:lnTo>
                    <a:lnTo>
                      <a:pt x="203200" y="52906"/>
                    </a:lnTo>
                    <a:lnTo>
                      <a:pt x="0" y="0"/>
                    </a:lnTo>
                    <a:close/>
                  </a:path>
                </a:pathLst>
              </a:custGeom>
              <a:solidFill>
                <a:srgbClr val="F7F2DE"/>
              </a:solidFill>
            </p:spPr>
            <p:txBody>
              <a:bodyPr/>
              <a:lstStyle/>
              <a:p>
                <a:endParaRPr lang="ar-EG"/>
              </a:p>
            </p:txBody>
          </p:sp>
          <p:sp>
            <p:nvSpPr>
              <p:cNvPr id="35" name="TextBox 35"/>
              <p:cNvSpPr txBox="1"/>
              <p:nvPr/>
            </p:nvSpPr>
            <p:spPr>
              <a:xfrm>
                <a:off x="177800" y="-28575"/>
                <a:ext cx="2307331" cy="134387"/>
              </a:xfrm>
              <a:prstGeom prst="rect">
                <a:avLst/>
              </a:prstGeom>
            </p:spPr>
            <p:txBody>
              <a:bodyPr lIns="50800" tIns="50800" rIns="50800" bIns="50800" rtlCol="0" anchor="ctr"/>
              <a:lstStyle/>
              <a:p>
                <a:pPr algn="ctr">
                  <a:lnSpc>
                    <a:spcPts val="2520"/>
                  </a:lnSpc>
                </a:pPr>
                <a:endParaRPr/>
              </a:p>
            </p:txBody>
          </p:sp>
        </p:grpSp>
        <p:sp>
          <p:nvSpPr>
            <p:cNvPr id="36" name="TextBox 36"/>
            <p:cNvSpPr txBox="1"/>
            <p:nvPr/>
          </p:nvSpPr>
          <p:spPr>
            <a:xfrm>
              <a:off x="2005770" y="188885"/>
              <a:ext cx="12306197"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 Data Cleaning &amp; Sanity Check</a:t>
              </a:r>
            </a:p>
          </p:txBody>
        </p:sp>
        <p:sp>
          <p:nvSpPr>
            <p:cNvPr id="37" name="TextBox 37"/>
            <p:cNvSpPr txBox="1"/>
            <p:nvPr/>
          </p:nvSpPr>
          <p:spPr>
            <a:xfrm>
              <a:off x="2005770" y="1188164"/>
              <a:ext cx="11327581" cy="1188297"/>
            </a:xfrm>
            <a:prstGeom prst="rect">
              <a:avLst/>
            </a:prstGeom>
          </p:spPr>
          <p:txBody>
            <a:bodyPr lIns="0" tIns="0" rIns="0" bIns="0" rtlCol="0" anchor="t">
              <a:spAutoFit/>
            </a:bodyPr>
            <a:lstStyle/>
            <a:p>
              <a:pPr algn="l">
                <a:lnSpc>
                  <a:spcPts val="3640"/>
                </a:lnSpc>
              </a:pPr>
              <a:r>
                <a:rPr lang="en-US" sz="2600">
                  <a:solidFill>
                    <a:srgbClr val="F7F2DE"/>
                  </a:solidFill>
                  <a:latin typeface="Canva Sans"/>
                  <a:ea typeface="Canva Sans"/>
                  <a:cs typeface="Canva Sans"/>
                  <a:sym typeface="Canva Sans"/>
                </a:rPr>
                <a:t>To ensure the integrity of our insights, we performed a rigorous cleaning process as outlined in this table:</a:t>
              </a:r>
            </a:p>
          </p:txBody>
        </p:sp>
      </p:grpSp>
      <p:graphicFrame>
        <p:nvGraphicFramePr>
          <p:cNvPr id="40" name="Table 39">
            <a:extLst>
              <a:ext uri="{FF2B5EF4-FFF2-40B4-BE49-F238E27FC236}">
                <a16:creationId xmlns:a16="http://schemas.microsoft.com/office/drawing/2014/main" id="{08445030-C9D4-D058-60E4-6CB9E50E4336}"/>
              </a:ext>
            </a:extLst>
          </p:cNvPr>
          <p:cNvGraphicFramePr>
            <a:graphicFrameLocks noGrp="1"/>
          </p:cNvGraphicFramePr>
          <p:nvPr>
            <p:extLst>
              <p:ext uri="{D42A27DB-BD31-4B8C-83A1-F6EECF244321}">
                <p14:modId xmlns:p14="http://schemas.microsoft.com/office/powerpoint/2010/main" val="1156973453"/>
              </p:ext>
            </p:extLst>
          </p:nvPr>
        </p:nvGraphicFramePr>
        <p:xfrm>
          <a:off x="9838182" y="3060699"/>
          <a:ext cx="8184478" cy="5667588"/>
        </p:xfrm>
        <a:graphic>
          <a:graphicData uri="http://schemas.openxmlformats.org/drawingml/2006/table">
            <a:tbl>
              <a:tblPr/>
              <a:tblGrid>
                <a:gridCol w="1923702">
                  <a:extLst>
                    <a:ext uri="{9D8B030D-6E8A-4147-A177-3AD203B41FA5}">
                      <a16:colId xmlns:a16="http://schemas.microsoft.com/office/drawing/2014/main" val="1249311707"/>
                    </a:ext>
                  </a:extLst>
                </a:gridCol>
                <a:gridCol w="3217829">
                  <a:extLst>
                    <a:ext uri="{9D8B030D-6E8A-4147-A177-3AD203B41FA5}">
                      <a16:colId xmlns:a16="http://schemas.microsoft.com/office/drawing/2014/main" val="3180028711"/>
                    </a:ext>
                  </a:extLst>
                </a:gridCol>
                <a:gridCol w="3042947">
                  <a:extLst>
                    <a:ext uri="{9D8B030D-6E8A-4147-A177-3AD203B41FA5}">
                      <a16:colId xmlns:a16="http://schemas.microsoft.com/office/drawing/2014/main" val="4047312614"/>
                    </a:ext>
                  </a:extLst>
                </a:gridCol>
              </a:tblGrid>
              <a:tr h="688387">
                <a:tc>
                  <a:txBody>
                    <a:bodyPr/>
                    <a:lstStyle/>
                    <a:p>
                      <a:pPr marL="0" marR="0" algn="ctr" rtl="0">
                        <a:buNone/>
                      </a:pPr>
                      <a:r>
                        <a:rPr lang="en-US" sz="2000" b="1" dirty="0">
                          <a:solidFill>
                            <a:srgbClr val="FFFFFF"/>
                          </a:solidFill>
                          <a:effectLst/>
                          <a:latin typeface="Arial" panose="020B0604020202020204" pitchFamily="34" charset="0"/>
                          <a:ea typeface="Arial" panose="020B0604020202020204" pitchFamily="34" charset="0"/>
                        </a:rPr>
                        <a:t>Technical Step</a:t>
                      </a:r>
                      <a:endParaRPr lang="en-US" sz="2000" dirty="0">
                        <a:solidFill>
                          <a:srgbClr val="1A1A1A"/>
                        </a:solidFill>
                        <a:effectLst/>
                        <a:latin typeface="Arial" panose="020B0604020202020204" pitchFamily="34" charset="0"/>
                        <a:ea typeface="Arial" panose="020B0604020202020204" pitchFamily="34" charset="0"/>
                      </a:endParaRPr>
                    </a:p>
                  </a:txBody>
                  <a:tcPr marL="76200" marR="762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35A5C"/>
                    </a:solidFill>
                  </a:tcPr>
                </a:tc>
                <a:tc>
                  <a:txBody>
                    <a:bodyPr/>
                    <a:lstStyle/>
                    <a:p>
                      <a:pPr marL="0" marR="0" algn="ctr" rtl="0">
                        <a:buNone/>
                      </a:pPr>
                      <a:r>
                        <a:rPr lang="en-US" sz="2000" b="1">
                          <a:solidFill>
                            <a:srgbClr val="FFFFFF"/>
                          </a:solidFill>
                          <a:effectLst/>
                          <a:latin typeface="Arial" panose="020B0604020202020204" pitchFamily="34" charset="0"/>
                          <a:ea typeface="Arial" panose="020B0604020202020204" pitchFamily="34" charset="0"/>
                        </a:rPr>
                        <a:t>Action Taken</a:t>
                      </a:r>
                      <a:endParaRPr lang="en-US" sz="2000">
                        <a:solidFill>
                          <a:srgbClr val="1A1A1A"/>
                        </a:solidFill>
                        <a:effectLst/>
                        <a:latin typeface="Arial" panose="020B0604020202020204" pitchFamily="34" charset="0"/>
                        <a:ea typeface="Arial" panose="020B0604020202020204" pitchFamily="34" charset="0"/>
                      </a:endParaRPr>
                    </a:p>
                  </a:txBody>
                  <a:tcPr marL="76200" marR="762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35A5C"/>
                    </a:solidFill>
                  </a:tcPr>
                </a:tc>
                <a:tc>
                  <a:txBody>
                    <a:bodyPr/>
                    <a:lstStyle/>
                    <a:p>
                      <a:pPr marL="0" marR="0" algn="ctr" rtl="0">
                        <a:buNone/>
                      </a:pPr>
                      <a:r>
                        <a:rPr lang="en-US" sz="2000" b="1">
                          <a:solidFill>
                            <a:srgbClr val="FFFFFF"/>
                          </a:solidFill>
                          <a:effectLst/>
                          <a:latin typeface="Arial" panose="020B0604020202020204" pitchFamily="34" charset="0"/>
                          <a:ea typeface="Arial" panose="020B0604020202020204" pitchFamily="34" charset="0"/>
                        </a:rPr>
                        <a:t>Strategic Observation</a:t>
                      </a:r>
                      <a:endParaRPr lang="en-US" sz="2000">
                        <a:solidFill>
                          <a:srgbClr val="1A1A1A"/>
                        </a:solidFill>
                        <a:effectLst/>
                        <a:latin typeface="Arial" panose="020B0604020202020204" pitchFamily="34" charset="0"/>
                        <a:ea typeface="Arial" panose="020B0604020202020204" pitchFamily="34" charset="0"/>
                      </a:endParaRPr>
                    </a:p>
                  </a:txBody>
                  <a:tcPr marL="76200" marR="762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35A5C"/>
                    </a:solidFill>
                  </a:tcPr>
                </a:tc>
                <a:extLst>
                  <a:ext uri="{0D108BD9-81ED-4DB2-BD59-A6C34878D82A}">
                    <a16:rowId xmlns:a16="http://schemas.microsoft.com/office/drawing/2014/main" val="2566337723"/>
                  </a:ext>
                </a:extLst>
              </a:tr>
              <a:tr h="1445613">
                <a:tc>
                  <a:txBody>
                    <a:bodyPr/>
                    <a:lstStyle/>
                    <a:p>
                      <a:pPr marL="0" marR="0" algn="l" rtl="0">
                        <a:buNone/>
                      </a:pPr>
                      <a:r>
                        <a:rPr lang="en-US" sz="2000" dirty="0">
                          <a:solidFill>
                            <a:srgbClr val="1A1A1A"/>
                          </a:solidFill>
                          <a:effectLst/>
                          <a:latin typeface="Arial" panose="020B0604020202020204" pitchFamily="34" charset="0"/>
                          <a:ea typeface="Arial" panose="020B0604020202020204" pitchFamily="34" charset="0"/>
                        </a:rPr>
                        <a:t>Missing Data</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Imputed via Median/Mean after distribution analysis. Some values replaced by 0 or 1.</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Addressed 7 key columns, specifically focusing on Kitchen and Age.</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extLst>
                  <a:ext uri="{0D108BD9-81ED-4DB2-BD59-A6C34878D82A}">
                    <a16:rowId xmlns:a16="http://schemas.microsoft.com/office/drawing/2014/main" val="978844554"/>
                  </a:ext>
                </a:extLst>
              </a:tr>
              <a:tr h="1445613">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Outlier Handling</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IQR (Interquartile Range) for 1st and 3rd quartiles.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Stabilized price and area distributions to prevent model skewing.</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838177498"/>
                  </a:ext>
                </a:extLst>
              </a:tr>
              <a:tr h="1032581">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Range Validation</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"Gauge Value" checks for typos and anomalies.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Confirmed no weird characters or unrealistic values in numeric fields.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extLst>
                  <a:ext uri="{0D108BD9-81ED-4DB2-BD59-A6C34878D82A}">
                    <a16:rowId xmlns:a16="http://schemas.microsoft.com/office/drawing/2014/main" val="1524815724"/>
                  </a:ext>
                </a:extLst>
              </a:tr>
              <a:tr h="1032581">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Duplicates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Verification check.</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dirty="0">
                          <a:solidFill>
                            <a:srgbClr val="1A1A1A"/>
                          </a:solidFill>
                          <a:effectLst/>
                          <a:latin typeface="Arial" panose="020B0604020202020204" pitchFamily="34" charset="0"/>
                          <a:ea typeface="Arial" panose="020B0604020202020204" pitchFamily="34" charset="0"/>
                        </a:rPr>
                        <a:t>Found 0 duplicates — confirming high source data quality.</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864934910"/>
                  </a:ext>
                </a:extLst>
              </a:tr>
            </a:tbl>
          </a:graphicData>
        </a:graphic>
      </p:graphicFrame>
    </p:spTree>
  </p:cSld>
  <p:clrMapOvr>
    <a:masterClrMapping/>
  </p:clrMapOvr>
  <p:transition spd="slow">
    <p:cover dir="l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CBF3E87E-48C4-B211-F7EE-C2699C09AB38}"/>
              </a:ext>
            </a:extLst>
          </p:cNvPr>
          <p:cNvSpPr/>
          <p:nvPr/>
        </p:nvSpPr>
        <p:spPr>
          <a:xfrm>
            <a:off x="5600228" y="2332601"/>
            <a:ext cx="2142986" cy="353716"/>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265328" y="4300766"/>
            <a:ext cx="17901131" cy="5383773"/>
            <a:chOff x="0" y="0"/>
            <a:chExt cx="23868174" cy="7178364"/>
          </a:xfrm>
        </p:grpSpPr>
        <p:sp>
          <p:nvSpPr>
            <p:cNvPr id="13" name="Freeform 13"/>
            <p:cNvSpPr/>
            <p:nvPr/>
          </p:nvSpPr>
          <p:spPr>
            <a:xfrm>
              <a:off x="0" y="0"/>
              <a:ext cx="4018091" cy="7178364"/>
            </a:xfrm>
            <a:custGeom>
              <a:avLst/>
              <a:gdLst/>
              <a:ahLst/>
              <a:cxnLst/>
              <a:rect l="l" t="t" r="r" b="b"/>
              <a:pathLst>
                <a:path w="4018091" h="7178364">
                  <a:moveTo>
                    <a:pt x="0" y="0"/>
                  </a:moveTo>
                  <a:lnTo>
                    <a:pt x="4018091" y="0"/>
                  </a:lnTo>
                  <a:lnTo>
                    <a:pt x="4018091" y="7178364"/>
                  </a:lnTo>
                  <a:lnTo>
                    <a:pt x="0" y="7178364"/>
                  </a:lnTo>
                  <a:lnTo>
                    <a:pt x="0" y="0"/>
                  </a:lnTo>
                  <a:close/>
                </a:path>
              </a:pathLst>
            </a:custGeom>
            <a:blipFill>
              <a:blip r:embed="rId6"/>
              <a:stretch>
                <a:fillRect t="-17713" r="-85508"/>
              </a:stretch>
            </a:blipFill>
          </p:spPr>
          <p:txBody>
            <a:bodyPr/>
            <a:lstStyle/>
            <a:p>
              <a:endParaRPr lang="ar-EG"/>
            </a:p>
          </p:txBody>
        </p:sp>
        <p:sp>
          <p:nvSpPr>
            <p:cNvPr id="14" name="Freeform 14"/>
            <p:cNvSpPr/>
            <p:nvPr/>
          </p:nvSpPr>
          <p:spPr>
            <a:xfrm>
              <a:off x="4303837" y="0"/>
              <a:ext cx="11238626" cy="7166448"/>
            </a:xfrm>
            <a:custGeom>
              <a:avLst/>
              <a:gdLst/>
              <a:ahLst/>
              <a:cxnLst/>
              <a:rect l="l" t="t" r="r" b="b"/>
              <a:pathLst>
                <a:path w="11238626" h="7166448">
                  <a:moveTo>
                    <a:pt x="0" y="0"/>
                  </a:moveTo>
                  <a:lnTo>
                    <a:pt x="11238625" y="0"/>
                  </a:lnTo>
                  <a:lnTo>
                    <a:pt x="11238625" y="7166448"/>
                  </a:lnTo>
                  <a:lnTo>
                    <a:pt x="0" y="7166448"/>
                  </a:lnTo>
                  <a:lnTo>
                    <a:pt x="0" y="0"/>
                  </a:lnTo>
                  <a:close/>
                </a:path>
              </a:pathLst>
            </a:custGeom>
            <a:blipFill>
              <a:blip r:embed="rId7"/>
              <a:stretch>
                <a:fillRect/>
              </a:stretch>
            </a:blipFill>
          </p:spPr>
          <p:txBody>
            <a:bodyPr/>
            <a:lstStyle/>
            <a:p>
              <a:endParaRPr lang="ar-EG"/>
            </a:p>
          </p:txBody>
        </p:sp>
        <p:sp>
          <p:nvSpPr>
            <p:cNvPr id="15" name="Freeform 15"/>
            <p:cNvSpPr/>
            <p:nvPr/>
          </p:nvSpPr>
          <p:spPr>
            <a:xfrm>
              <a:off x="15821862" y="0"/>
              <a:ext cx="8046312" cy="3625264"/>
            </a:xfrm>
            <a:custGeom>
              <a:avLst/>
              <a:gdLst/>
              <a:ahLst/>
              <a:cxnLst/>
              <a:rect l="l" t="t" r="r" b="b"/>
              <a:pathLst>
                <a:path w="8046312" h="3625264">
                  <a:moveTo>
                    <a:pt x="0" y="0"/>
                  </a:moveTo>
                  <a:lnTo>
                    <a:pt x="8046312" y="0"/>
                  </a:lnTo>
                  <a:lnTo>
                    <a:pt x="8046312" y="3625264"/>
                  </a:lnTo>
                  <a:lnTo>
                    <a:pt x="0" y="3625264"/>
                  </a:lnTo>
                  <a:lnTo>
                    <a:pt x="0" y="0"/>
                  </a:lnTo>
                  <a:close/>
                </a:path>
              </a:pathLst>
            </a:custGeom>
            <a:blipFill>
              <a:blip r:embed="rId8"/>
              <a:stretch>
                <a:fillRect l="-672" r="-118423"/>
              </a:stretch>
            </a:blipFill>
          </p:spPr>
          <p:txBody>
            <a:bodyPr/>
            <a:lstStyle/>
            <a:p>
              <a:endParaRPr lang="ar-EG"/>
            </a:p>
          </p:txBody>
        </p:sp>
        <p:sp>
          <p:nvSpPr>
            <p:cNvPr id="16" name="Freeform 16"/>
            <p:cNvSpPr/>
            <p:nvPr/>
          </p:nvSpPr>
          <p:spPr>
            <a:xfrm>
              <a:off x="15834688" y="3930064"/>
              <a:ext cx="8033486" cy="3248301"/>
            </a:xfrm>
            <a:custGeom>
              <a:avLst/>
              <a:gdLst/>
              <a:ahLst/>
              <a:cxnLst/>
              <a:rect l="l" t="t" r="r" b="b"/>
              <a:pathLst>
                <a:path w="8033486" h="3248301">
                  <a:moveTo>
                    <a:pt x="0" y="0"/>
                  </a:moveTo>
                  <a:lnTo>
                    <a:pt x="8033486" y="0"/>
                  </a:lnTo>
                  <a:lnTo>
                    <a:pt x="8033486" y="3248300"/>
                  </a:lnTo>
                  <a:lnTo>
                    <a:pt x="0" y="3248300"/>
                  </a:lnTo>
                  <a:lnTo>
                    <a:pt x="0" y="0"/>
                  </a:lnTo>
                  <a:close/>
                </a:path>
              </a:pathLst>
            </a:custGeom>
            <a:blipFill>
              <a:blip r:embed="rId9"/>
              <a:stretch>
                <a:fillRect r="-36912" b="-13952"/>
              </a:stretch>
            </a:blipFill>
          </p:spPr>
          <p:txBody>
            <a:bodyPr/>
            <a:lstStyle/>
            <a:p>
              <a:endParaRPr lang="ar-EG"/>
            </a:p>
          </p:txBody>
        </p:sp>
      </p:grpSp>
      <p:sp>
        <p:nvSpPr>
          <p:cNvPr id="17" name="TextBox 17"/>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2</a:t>
            </a:r>
          </a:p>
        </p:txBody>
      </p:sp>
      <p:sp>
        <p:nvSpPr>
          <p:cNvPr id="18" name="TextBox 18"/>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19" name="TextBox 19"/>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0" name="TextBox 20"/>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21" name="TextBox 21"/>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22" name="TextBox 22"/>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23" name="TextBox 23"/>
          <p:cNvSpPr txBox="1"/>
          <p:nvPr/>
        </p:nvSpPr>
        <p:spPr>
          <a:xfrm>
            <a:off x="5600228" y="2339031"/>
            <a:ext cx="2142986"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Cleaning &amp; EDA</a:t>
            </a:r>
          </a:p>
        </p:txBody>
      </p:sp>
      <p:grpSp>
        <p:nvGrpSpPr>
          <p:cNvPr id="24" name="Group 24"/>
          <p:cNvGrpSpPr/>
          <p:nvPr/>
        </p:nvGrpSpPr>
        <p:grpSpPr>
          <a:xfrm>
            <a:off x="0" y="2889202"/>
            <a:ext cx="16068767" cy="1182964"/>
            <a:chOff x="0" y="0"/>
            <a:chExt cx="21425023" cy="1577286"/>
          </a:xfrm>
        </p:grpSpPr>
        <p:grpSp>
          <p:nvGrpSpPr>
            <p:cNvPr id="25" name="Group 25"/>
            <p:cNvGrpSpPr/>
            <p:nvPr/>
          </p:nvGrpSpPr>
          <p:grpSpPr>
            <a:xfrm rot="-5400000">
              <a:off x="9923869" y="-9923869"/>
              <a:ext cx="1577286" cy="21425023"/>
              <a:chOff x="0" y="0"/>
              <a:chExt cx="311563" cy="4232103"/>
            </a:xfrm>
          </p:grpSpPr>
          <p:sp>
            <p:nvSpPr>
              <p:cNvPr id="26" name="Freeform 26"/>
              <p:cNvSpPr/>
              <p:nvPr/>
            </p:nvSpPr>
            <p:spPr>
              <a:xfrm>
                <a:off x="0" y="0"/>
                <a:ext cx="311563" cy="4232103"/>
              </a:xfrm>
              <a:custGeom>
                <a:avLst/>
                <a:gdLst/>
                <a:ahLst/>
                <a:cxnLst/>
                <a:rect l="l" t="t" r="r" b="b"/>
                <a:pathLst>
                  <a:path w="311563" h="4232103">
                    <a:moveTo>
                      <a:pt x="103910" y="4213034"/>
                    </a:moveTo>
                    <a:cubicBezTo>
                      <a:pt x="119883" y="4224548"/>
                      <a:pt x="138043" y="4232103"/>
                      <a:pt x="155865" y="4232103"/>
                    </a:cubicBezTo>
                    <a:cubicBezTo>
                      <a:pt x="173688" y="4232103"/>
                      <a:pt x="190839" y="4225626"/>
                      <a:pt x="206643" y="4214113"/>
                    </a:cubicBezTo>
                    <a:cubicBezTo>
                      <a:pt x="206980" y="4213753"/>
                      <a:pt x="207316" y="4213753"/>
                      <a:pt x="207652" y="4213394"/>
                    </a:cubicBezTo>
                    <a:cubicBezTo>
                      <a:pt x="267006" y="4167338"/>
                      <a:pt x="310722" y="4045724"/>
                      <a:pt x="311563" y="3827649"/>
                    </a:cubicBezTo>
                    <a:lnTo>
                      <a:pt x="311563" y="0"/>
                    </a:lnTo>
                    <a:lnTo>
                      <a:pt x="0" y="0"/>
                    </a:lnTo>
                    <a:lnTo>
                      <a:pt x="0" y="3824808"/>
                    </a:lnTo>
                    <a:cubicBezTo>
                      <a:pt x="841" y="4046443"/>
                      <a:pt x="43884" y="4168058"/>
                      <a:pt x="103910" y="4213034"/>
                    </a:cubicBezTo>
                    <a:close/>
                  </a:path>
                </a:pathLst>
              </a:custGeom>
              <a:solidFill>
                <a:srgbClr val="043732"/>
              </a:solidFill>
            </p:spPr>
            <p:txBody>
              <a:bodyPr/>
              <a:lstStyle/>
              <a:p>
                <a:endParaRPr lang="ar-EG"/>
              </a:p>
            </p:txBody>
          </p:sp>
          <p:sp>
            <p:nvSpPr>
              <p:cNvPr id="27" name="TextBox 27"/>
              <p:cNvSpPr txBox="1"/>
              <p:nvPr/>
            </p:nvSpPr>
            <p:spPr>
              <a:xfrm>
                <a:off x="0" y="-28575"/>
                <a:ext cx="311563" cy="4133678"/>
              </a:xfrm>
              <a:prstGeom prst="rect">
                <a:avLst/>
              </a:prstGeom>
            </p:spPr>
            <p:txBody>
              <a:bodyPr lIns="50800" tIns="50800" rIns="50800" bIns="50800" rtlCol="0" anchor="ctr"/>
              <a:lstStyle/>
              <a:p>
                <a:pPr algn="ctr">
                  <a:lnSpc>
                    <a:spcPts val="2520"/>
                  </a:lnSpc>
                </a:pPr>
                <a:endParaRPr/>
              </a:p>
            </p:txBody>
          </p:sp>
        </p:grpSp>
        <p:sp>
          <p:nvSpPr>
            <p:cNvPr id="28" name="TextBox 28"/>
            <p:cNvSpPr txBox="1"/>
            <p:nvPr/>
          </p:nvSpPr>
          <p:spPr>
            <a:xfrm>
              <a:off x="279457" y="255243"/>
              <a:ext cx="20926747" cy="1006600"/>
            </a:xfrm>
            <a:prstGeom prst="rect">
              <a:avLst/>
            </a:prstGeom>
          </p:spPr>
          <p:txBody>
            <a:bodyPr wrap="square" lIns="0" tIns="0" rIns="0" bIns="0" rtlCol="0" anchor="t">
              <a:spAutoFit/>
            </a:bodyPr>
            <a:lstStyle/>
            <a:p>
              <a:pPr algn="ctr">
                <a:lnSpc>
                  <a:spcPts val="6299"/>
                </a:lnSpc>
              </a:pPr>
              <a:r>
                <a:rPr lang="en-US" sz="4500" b="1" dirty="0">
                  <a:solidFill>
                    <a:srgbClr val="F7F2DE"/>
                  </a:solidFill>
                  <a:latin typeface="Canva Sans Bold"/>
                  <a:ea typeface="Canva Sans Bold"/>
                  <a:cs typeface="Canva Sans Bold"/>
                  <a:sym typeface="Canva Sans Bold"/>
                </a:rPr>
                <a:t>After dealing with missing, duplicate and gauge values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B18C74F2-C13E-3EB1-E589-1373EE9674A3}"/>
              </a:ext>
            </a:extLst>
          </p:cNvPr>
          <p:cNvSpPr/>
          <p:nvPr/>
        </p:nvSpPr>
        <p:spPr>
          <a:xfrm>
            <a:off x="5600228" y="2332601"/>
            <a:ext cx="2142986" cy="353716"/>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0" y="2889202"/>
            <a:ext cx="8155617" cy="1182964"/>
            <a:chOff x="0" y="0"/>
            <a:chExt cx="10874157" cy="1577286"/>
          </a:xfrm>
        </p:grpSpPr>
        <p:grpSp>
          <p:nvGrpSpPr>
            <p:cNvPr id="13" name="Group 13"/>
            <p:cNvGrpSpPr/>
            <p:nvPr/>
          </p:nvGrpSpPr>
          <p:grpSpPr>
            <a:xfrm rot="-5400000">
              <a:off x="4648436" y="-4648436"/>
              <a:ext cx="1577286" cy="10874157"/>
              <a:chOff x="0" y="0"/>
              <a:chExt cx="311563" cy="2147982"/>
            </a:xfrm>
          </p:grpSpPr>
          <p:sp>
            <p:nvSpPr>
              <p:cNvPr id="14" name="Freeform 14"/>
              <p:cNvSpPr/>
              <p:nvPr/>
            </p:nvSpPr>
            <p:spPr>
              <a:xfrm>
                <a:off x="0" y="0"/>
                <a:ext cx="311563" cy="2147981"/>
              </a:xfrm>
              <a:custGeom>
                <a:avLst/>
                <a:gdLst/>
                <a:ahLst/>
                <a:cxnLst/>
                <a:rect l="l" t="t" r="r" b="b"/>
                <a:pathLst>
                  <a:path w="311563" h="2147981">
                    <a:moveTo>
                      <a:pt x="103910" y="2128912"/>
                    </a:moveTo>
                    <a:cubicBezTo>
                      <a:pt x="119883" y="2140426"/>
                      <a:pt x="138043" y="2147981"/>
                      <a:pt x="155865" y="2147981"/>
                    </a:cubicBezTo>
                    <a:cubicBezTo>
                      <a:pt x="173688" y="2147981"/>
                      <a:pt x="190839" y="2141505"/>
                      <a:pt x="206643" y="2129991"/>
                    </a:cubicBezTo>
                    <a:cubicBezTo>
                      <a:pt x="206980" y="2129631"/>
                      <a:pt x="207316" y="2129631"/>
                      <a:pt x="207652" y="2129272"/>
                    </a:cubicBezTo>
                    <a:cubicBezTo>
                      <a:pt x="267006" y="2083217"/>
                      <a:pt x="310722" y="1961603"/>
                      <a:pt x="311563" y="1789821"/>
                    </a:cubicBezTo>
                    <a:lnTo>
                      <a:pt x="311563" y="0"/>
                    </a:lnTo>
                    <a:lnTo>
                      <a:pt x="0" y="0"/>
                    </a:lnTo>
                    <a:lnTo>
                      <a:pt x="0" y="1788493"/>
                    </a:lnTo>
                    <a:cubicBezTo>
                      <a:pt x="841" y="1962322"/>
                      <a:pt x="43884" y="2083937"/>
                      <a:pt x="103910" y="2128912"/>
                    </a:cubicBezTo>
                    <a:close/>
                  </a:path>
                </a:pathLst>
              </a:custGeom>
              <a:solidFill>
                <a:srgbClr val="043732"/>
              </a:solidFill>
            </p:spPr>
            <p:txBody>
              <a:bodyPr/>
              <a:lstStyle/>
              <a:p>
                <a:endParaRPr lang="ar-EG"/>
              </a:p>
            </p:txBody>
          </p:sp>
          <p:sp>
            <p:nvSpPr>
              <p:cNvPr id="15" name="TextBox 15"/>
              <p:cNvSpPr txBox="1"/>
              <p:nvPr/>
            </p:nvSpPr>
            <p:spPr>
              <a:xfrm>
                <a:off x="0" y="-28575"/>
                <a:ext cx="311563" cy="2049557"/>
              </a:xfrm>
              <a:prstGeom prst="rect">
                <a:avLst/>
              </a:prstGeom>
            </p:spPr>
            <p:txBody>
              <a:bodyPr lIns="50800" tIns="50800" rIns="50800" bIns="50800" rtlCol="0" anchor="ctr"/>
              <a:lstStyle/>
              <a:p>
                <a:pPr algn="ctr">
                  <a:lnSpc>
                    <a:spcPts val="2520"/>
                  </a:lnSpc>
                </a:pPr>
                <a:endParaRPr/>
              </a:p>
            </p:txBody>
          </p:sp>
        </p:grpSp>
        <p:sp>
          <p:nvSpPr>
            <p:cNvPr id="16" name="TextBox 16"/>
            <p:cNvSpPr txBox="1"/>
            <p:nvPr/>
          </p:nvSpPr>
          <p:spPr>
            <a:xfrm>
              <a:off x="338880" y="255243"/>
              <a:ext cx="10196397" cy="990600"/>
            </a:xfrm>
            <a:prstGeom prst="rect">
              <a:avLst/>
            </a:prstGeom>
          </p:spPr>
          <p:txBody>
            <a:bodyPr lIns="0" tIns="0" rIns="0" bIns="0" rtlCol="0" anchor="t">
              <a:spAutoFit/>
            </a:bodyPr>
            <a:lstStyle/>
            <a:p>
              <a:pPr algn="l">
                <a:lnSpc>
                  <a:spcPts val="6299"/>
                </a:lnSpc>
              </a:pPr>
              <a:r>
                <a:rPr lang="en-US" sz="4500" b="1">
                  <a:solidFill>
                    <a:srgbClr val="F7F2DE"/>
                  </a:solidFill>
                  <a:latin typeface="Canva Sans Bold"/>
                  <a:ea typeface="Canva Sans Bold"/>
                  <a:cs typeface="Canva Sans Bold"/>
                  <a:sym typeface="Canva Sans Bold"/>
                </a:rPr>
                <a:t>After dealing with outliers</a:t>
              </a:r>
            </a:p>
          </p:txBody>
        </p:sp>
      </p:grpSp>
      <p:grpSp>
        <p:nvGrpSpPr>
          <p:cNvPr id="17" name="Group 17"/>
          <p:cNvGrpSpPr/>
          <p:nvPr/>
        </p:nvGrpSpPr>
        <p:grpSpPr>
          <a:xfrm>
            <a:off x="151719" y="4371254"/>
            <a:ext cx="17782749" cy="4887046"/>
            <a:chOff x="0" y="0"/>
            <a:chExt cx="23710332" cy="6516061"/>
          </a:xfrm>
        </p:grpSpPr>
        <p:sp>
          <p:nvSpPr>
            <p:cNvPr id="18" name="Freeform 18"/>
            <p:cNvSpPr/>
            <p:nvPr/>
          </p:nvSpPr>
          <p:spPr>
            <a:xfrm>
              <a:off x="0" y="0"/>
              <a:ext cx="14891988" cy="6516061"/>
            </a:xfrm>
            <a:custGeom>
              <a:avLst/>
              <a:gdLst/>
              <a:ahLst/>
              <a:cxnLst/>
              <a:rect l="l" t="t" r="r" b="b"/>
              <a:pathLst>
                <a:path w="14891988" h="6516061">
                  <a:moveTo>
                    <a:pt x="0" y="0"/>
                  </a:moveTo>
                  <a:lnTo>
                    <a:pt x="14891988" y="0"/>
                  </a:lnTo>
                  <a:lnTo>
                    <a:pt x="14891988" y="6516061"/>
                  </a:lnTo>
                  <a:lnTo>
                    <a:pt x="0" y="6516061"/>
                  </a:lnTo>
                  <a:lnTo>
                    <a:pt x="0" y="0"/>
                  </a:lnTo>
                  <a:close/>
                </a:path>
              </a:pathLst>
            </a:custGeom>
            <a:blipFill>
              <a:blip r:embed="rId6"/>
              <a:stretch>
                <a:fillRect l="-2453" r="-8363"/>
              </a:stretch>
            </a:blipFill>
          </p:spPr>
          <p:txBody>
            <a:bodyPr/>
            <a:lstStyle/>
            <a:p>
              <a:endParaRPr lang="ar-EG"/>
            </a:p>
          </p:txBody>
        </p:sp>
        <p:sp>
          <p:nvSpPr>
            <p:cNvPr id="19" name="Freeform 19"/>
            <p:cNvSpPr/>
            <p:nvPr/>
          </p:nvSpPr>
          <p:spPr>
            <a:xfrm>
              <a:off x="15311429" y="0"/>
              <a:ext cx="8398903" cy="6516061"/>
            </a:xfrm>
            <a:custGeom>
              <a:avLst/>
              <a:gdLst/>
              <a:ahLst/>
              <a:cxnLst/>
              <a:rect l="l" t="t" r="r" b="b"/>
              <a:pathLst>
                <a:path w="8398903" h="6516061">
                  <a:moveTo>
                    <a:pt x="0" y="0"/>
                  </a:moveTo>
                  <a:lnTo>
                    <a:pt x="8398903" y="0"/>
                  </a:lnTo>
                  <a:lnTo>
                    <a:pt x="8398903" y="6516061"/>
                  </a:lnTo>
                  <a:lnTo>
                    <a:pt x="0" y="6516061"/>
                  </a:lnTo>
                  <a:lnTo>
                    <a:pt x="0" y="0"/>
                  </a:lnTo>
                  <a:close/>
                </a:path>
              </a:pathLst>
            </a:custGeom>
            <a:blipFill>
              <a:blip r:embed="rId7"/>
              <a:stretch>
                <a:fillRect t="-675" b="-1728"/>
              </a:stretch>
            </a:blipFill>
          </p:spPr>
          <p:txBody>
            <a:bodyPr/>
            <a:lstStyle/>
            <a:p>
              <a:endParaRPr lang="ar-EG"/>
            </a:p>
          </p:txBody>
        </p:sp>
      </p:grpSp>
      <p:grpSp>
        <p:nvGrpSpPr>
          <p:cNvPr id="20" name="Group 20"/>
          <p:cNvGrpSpPr/>
          <p:nvPr/>
        </p:nvGrpSpPr>
        <p:grpSpPr>
          <a:xfrm>
            <a:off x="10326394" y="2566628"/>
            <a:ext cx="1505538" cy="1505538"/>
            <a:chOff x="0" y="0"/>
            <a:chExt cx="2007384" cy="2007384"/>
          </a:xfrm>
        </p:grpSpPr>
        <p:grpSp>
          <p:nvGrpSpPr>
            <p:cNvPr id="21" name="Group 21"/>
            <p:cNvGrpSpPr/>
            <p:nvPr/>
          </p:nvGrpSpPr>
          <p:grpSpPr>
            <a:xfrm>
              <a:off x="0" y="0"/>
              <a:ext cx="2007384" cy="2007384"/>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23" name="TextBox 23"/>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24" name="Freeform 24"/>
            <p:cNvSpPr/>
            <p:nvPr/>
          </p:nvSpPr>
          <p:spPr>
            <a:xfrm>
              <a:off x="266463" y="266463"/>
              <a:ext cx="1474458" cy="1474458"/>
            </a:xfrm>
            <a:custGeom>
              <a:avLst/>
              <a:gdLst/>
              <a:ahLst/>
              <a:cxnLst/>
              <a:rect l="l" t="t" r="r" b="b"/>
              <a:pathLst>
                <a:path w="1474458" h="1474458">
                  <a:moveTo>
                    <a:pt x="0" y="0"/>
                  </a:moveTo>
                  <a:lnTo>
                    <a:pt x="1474458" y="0"/>
                  </a:lnTo>
                  <a:lnTo>
                    <a:pt x="1474458" y="1474458"/>
                  </a:lnTo>
                  <a:lnTo>
                    <a:pt x="0" y="1474458"/>
                  </a:lnTo>
                  <a:lnTo>
                    <a:pt x="0" y="0"/>
                  </a:lnTo>
                  <a:close/>
                </a:path>
              </a:pathLst>
            </a:custGeom>
            <a:blipFill>
              <a:blip r:embed="rId8"/>
              <a:stretch>
                <a:fillRect/>
              </a:stretch>
            </a:blipFill>
          </p:spPr>
          <p:txBody>
            <a:bodyPr/>
            <a:lstStyle/>
            <a:p>
              <a:endParaRPr lang="ar-EG"/>
            </a:p>
          </p:txBody>
        </p:sp>
      </p:grpSp>
      <p:grpSp>
        <p:nvGrpSpPr>
          <p:cNvPr id="25" name="Group 25"/>
          <p:cNvGrpSpPr/>
          <p:nvPr/>
        </p:nvGrpSpPr>
        <p:grpSpPr>
          <a:xfrm>
            <a:off x="14002709" y="2566628"/>
            <a:ext cx="1505538" cy="1505538"/>
            <a:chOff x="0" y="0"/>
            <a:chExt cx="2007384" cy="2007384"/>
          </a:xfrm>
        </p:grpSpPr>
        <p:grpSp>
          <p:nvGrpSpPr>
            <p:cNvPr id="26" name="Group 26"/>
            <p:cNvGrpSpPr/>
            <p:nvPr/>
          </p:nvGrpSpPr>
          <p:grpSpPr>
            <a:xfrm>
              <a:off x="0" y="0"/>
              <a:ext cx="2007384" cy="200738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28" name="TextBox 28"/>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29" name="Freeform 29"/>
            <p:cNvSpPr/>
            <p:nvPr/>
          </p:nvSpPr>
          <p:spPr>
            <a:xfrm>
              <a:off x="263650" y="266463"/>
              <a:ext cx="1474458" cy="1474458"/>
            </a:xfrm>
            <a:custGeom>
              <a:avLst/>
              <a:gdLst/>
              <a:ahLst/>
              <a:cxnLst/>
              <a:rect l="l" t="t" r="r" b="b"/>
              <a:pathLst>
                <a:path w="1474458" h="1474458">
                  <a:moveTo>
                    <a:pt x="0" y="0"/>
                  </a:moveTo>
                  <a:lnTo>
                    <a:pt x="1474458" y="0"/>
                  </a:lnTo>
                  <a:lnTo>
                    <a:pt x="1474458" y="1474458"/>
                  </a:lnTo>
                  <a:lnTo>
                    <a:pt x="0" y="1474458"/>
                  </a:lnTo>
                  <a:lnTo>
                    <a:pt x="0" y="0"/>
                  </a:lnTo>
                  <a:close/>
                </a:path>
              </a:pathLst>
            </a:custGeom>
            <a:blipFill>
              <a:blip r:embed="rId9"/>
              <a:stretch>
                <a:fillRect/>
              </a:stretch>
            </a:blipFill>
          </p:spPr>
          <p:txBody>
            <a:bodyPr/>
            <a:lstStyle/>
            <a:p>
              <a:endParaRPr lang="ar-EG"/>
            </a:p>
          </p:txBody>
        </p:sp>
      </p:grpSp>
      <p:sp>
        <p:nvSpPr>
          <p:cNvPr id="30" name="TextBox 30"/>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2</a:t>
            </a:r>
          </a:p>
        </p:txBody>
      </p:sp>
      <p:sp>
        <p:nvSpPr>
          <p:cNvPr id="31" name="TextBox 31"/>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32" name="TextBox 32"/>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33" name="TextBox 33"/>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34" name="TextBox 34"/>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35" name="TextBox 35"/>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36" name="TextBox 36"/>
          <p:cNvSpPr txBox="1"/>
          <p:nvPr/>
        </p:nvSpPr>
        <p:spPr>
          <a:xfrm>
            <a:off x="5600228" y="2339031"/>
            <a:ext cx="2142986"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Cleaning &amp; EDA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7CB6D612-C4A9-ED72-00A5-474B65FF514D}"/>
              </a:ext>
            </a:extLst>
          </p:cNvPr>
          <p:cNvSpPr/>
          <p:nvPr/>
        </p:nvSpPr>
        <p:spPr>
          <a:xfrm>
            <a:off x="5600228" y="2332601"/>
            <a:ext cx="2142986" cy="353716"/>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rot="-5400000">
            <a:off x="1107995" y="1994575"/>
            <a:ext cx="6609925" cy="8864715"/>
            <a:chOff x="0" y="0"/>
            <a:chExt cx="1705841" cy="2287740"/>
          </a:xfrm>
        </p:grpSpPr>
        <p:sp>
          <p:nvSpPr>
            <p:cNvPr id="13" name="Freeform 13"/>
            <p:cNvSpPr/>
            <p:nvPr/>
          </p:nvSpPr>
          <p:spPr>
            <a:xfrm>
              <a:off x="0" y="0"/>
              <a:ext cx="1705841" cy="2287740"/>
            </a:xfrm>
            <a:custGeom>
              <a:avLst/>
              <a:gdLst/>
              <a:ahLst/>
              <a:cxnLst/>
              <a:rect l="l" t="t" r="r" b="b"/>
              <a:pathLst>
                <a:path w="1705841" h="2287740">
                  <a:moveTo>
                    <a:pt x="568921" y="2268671"/>
                  </a:moveTo>
                  <a:cubicBezTo>
                    <a:pt x="656375" y="2280185"/>
                    <a:pt x="755799" y="2287740"/>
                    <a:pt x="853380" y="2287740"/>
                  </a:cubicBezTo>
                  <a:cubicBezTo>
                    <a:pt x="950964" y="2287740"/>
                    <a:pt x="1044864" y="2281263"/>
                    <a:pt x="1131396" y="2269750"/>
                  </a:cubicBezTo>
                  <a:cubicBezTo>
                    <a:pt x="1133239" y="2269390"/>
                    <a:pt x="1135080" y="2269390"/>
                    <a:pt x="1136920" y="2269031"/>
                  </a:cubicBezTo>
                  <a:cubicBezTo>
                    <a:pt x="1461886" y="2222976"/>
                    <a:pt x="1701238" y="2101362"/>
                    <a:pt x="1705841" y="1926476"/>
                  </a:cubicBezTo>
                  <a:lnTo>
                    <a:pt x="1705841" y="0"/>
                  </a:lnTo>
                  <a:lnTo>
                    <a:pt x="0" y="0"/>
                  </a:lnTo>
                  <a:lnTo>
                    <a:pt x="0" y="1925046"/>
                  </a:lnTo>
                  <a:cubicBezTo>
                    <a:pt x="4603" y="2102080"/>
                    <a:pt x="240272" y="2223696"/>
                    <a:pt x="568921" y="2268671"/>
                  </a:cubicBezTo>
                  <a:close/>
                </a:path>
              </a:pathLst>
            </a:custGeom>
            <a:solidFill>
              <a:srgbClr val="043732"/>
            </a:solidFill>
          </p:spPr>
          <p:txBody>
            <a:bodyPr/>
            <a:lstStyle/>
            <a:p>
              <a:endParaRPr lang="ar-EG"/>
            </a:p>
          </p:txBody>
        </p:sp>
        <p:sp>
          <p:nvSpPr>
            <p:cNvPr id="14" name="TextBox 14"/>
            <p:cNvSpPr txBox="1"/>
            <p:nvPr/>
          </p:nvSpPr>
          <p:spPr>
            <a:xfrm>
              <a:off x="0" y="-28575"/>
              <a:ext cx="1705841" cy="2189315"/>
            </a:xfrm>
            <a:prstGeom prst="rect">
              <a:avLst/>
            </a:prstGeom>
          </p:spPr>
          <p:txBody>
            <a:bodyPr lIns="50800" tIns="50800" rIns="50800" bIns="50800" rtlCol="0" anchor="ctr"/>
            <a:lstStyle/>
            <a:p>
              <a:pPr algn="ctr">
                <a:lnSpc>
                  <a:spcPts val="2520"/>
                </a:lnSpc>
              </a:pPr>
              <a:endParaRPr/>
            </a:p>
          </p:txBody>
        </p:sp>
      </p:grpSp>
      <p:grpSp>
        <p:nvGrpSpPr>
          <p:cNvPr id="15" name="Group 15"/>
          <p:cNvGrpSpPr/>
          <p:nvPr/>
        </p:nvGrpSpPr>
        <p:grpSpPr>
          <a:xfrm>
            <a:off x="-859282" y="3261822"/>
            <a:ext cx="6835792" cy="513715"/>
            <a:chOff x="0" y="0"/>
            <a:chExt cx="1800373" cy="135299"/>
          </a:xfrm>
        </p:grpSpPr>
        <p:sp>
          <p:nvSpPr>
            <p:cNvPr id="16" name="Freeform 16"/>
            <p:cNvSpPr/>
            <p:nvPr/>
          </p:nvSpPr>
          <p:spPr>
            <a:xfrm>
              <a:off x="0" y="0"/>
              <a:ext cx="1800373" cy="135299"/>
            </a:xfrm>
            <a:custGeom>
              <a:avLst/>
              <a:gdLst/>
              <a:ahLst/>
              <a:cxnLst/>
              <a:rect l="l" t="t" r="r" b="b"/>
              <a:pathLst>
                <a:path w="1800373" h="135299">
                  <a:moveTo>
                    <a:pt x="0" y="0"/>
                  </a:moveTo>
                  <a:lnTo>
                    <a:pt x="1597173" y="0"/>
                  </a:lnTo>
                  <a:lnTo>
                    <a:pt x="1800373" y="67650"/>
                  </a:lnTo>
                  <a:lnTo>
                    <a:pt x="1597173" y="135299"/>
                  </a:lnTo>
                  <a:lnTo>
                    <a:pt x="0" y="135299"/>
                  </a:lnTo>
                  <a:lnTo>
                    <a:pt x="203200" y="67650"/>
                  </a:lnTo>
                  <a:lnTo>
                    <a:pt x="0" y="0"/>
                  </a:lnTo>
                  <a:close/>
                </a:path>
              </a:pathLst>
            </a:custGeom>
            <a:solidFill>
              <a:srgbClr val="F7F2DE"/>
            </a:solidFill>
          </p:spPr>
          <p:txBody>
            <a:bodyPr/>
            <a:lstStyle/>
            <a:p>
              <a:endParaRPr lang="ar-EG"/>
            </a:p>
          </p:txBody>
        </p:sp>
        <p:sp>
          <p:nvSpPr>
            <p:cNvPr id="17" name="TextBox 17"/>
            <p:cNvSpPr txBox="1"/>
            <p:nvPr/>
          </p:nvSpPr>
          <p:spPr>
            <a:xfrm>
              <a:off x="177800" y="-28575"/>
              <a:ext cx="1546373" cy="163874"/>
            </a:xfrm>
            <a:prstGeom prst="rect">
              <a:avLst/>
            </a:prstGeom>
          </p:spPr>
          <p:txBody>
            <a:bodyPr lIns="50800" tIns="50800" rIns="50800" bIns="50800" rtlCol="0" anchor="ctr"/>
            <a:lstStyle/>
            <a:p>
              <a:pPr algn="ctr">
                <a:lnSpc>
                  <a:spcPts val="2520"/>
                </a:lnSpc>
              </a:pPr>
              <a:endParaRPr/>
            </a:p>
          </p:txBody>
        </p:sp>
      </p:grpSp>
      <p:sp>
        <p:nvSpPr>
          <p:cNvPr id="18" name="Freeform 18"/>
          <p:cNvSpPr/>
          <p:nvPr/>
        </p:nvSpPr>
        <p:spPr>
          <a:xfrm>
            <a:off x="9215893" y="3249345"/>
            <a:ext cx="8886066" cy="5567680"/>
          </a:xfrm>
          <a:custGeom>
            <a:avLst/>
            <a:gdLst/>
            <a:ahLst/>
            <a:cxnLst/>
            <a:rect l="l" t="t" r="r" b="b"/>
            <a:pathLst>
              <a:path w="8886066" h="5567680">
                <a:moveTo>
                  <a:pt x="0" y="0"/>
                </a:moveTo>
                <a:lnTo>
                  <a:pt x="8886065" y="0"/>
                </a:lnTo>
                <a:lnTo>
                  <a:pt x="8886065" y="5567681"/>
                </a:lnTo>
                <a:lnTo>
                  <a:pt x="0" y="5567681"/>
                </a:lnTo>
                <a:lnTo>
                  <a:pt x="0" y="0"/>
                </a:lnTo>
                <a:close/>
              </a:path>
            </a:pathLst>
          </a:custGeom>
          <a:blipFill>
            <a:blip r:embed="rId6"/>
            <a:stretch>
              <a:fillRect l="-1913"/>
            </a:stretch>
          </a:blipFill>
        </p:spPr>
        <p:txBody>
          <a:bodyPr/>
          <a:lstStyle/>
          <a:p>
            <a:endParaRPr lang="ar-EG"/>
          </a:p>
        </p:txBody>
      </p:sp>
      <p:sp>
        <p:nvSpPr>
          <p:cNvPr id="19" name="TextBox 19"/>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2</a:t>
            </a:r>
          </a:p>
        </p:txBody>
      </p:sp>
      <p:sp>
        <p:nvSpPr>
          <p:cNvPr id="20" name="TextBox 20"/>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1" name="TextBox 21"/>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2" name="TextBox 22"/>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23" name="TextBox 23"/>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24" name="TextBox 24"/>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25" name="TextBox 25"/>
          <p:cNvSpPr txBox="1"/>
          <p:nvPr/>
        </p:nvSpPr>
        <p:spPr>
          <a:xfrm>
            <a:off x="5600228" y="2339031"/>
            <a:ext cx="2142986"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Cleaning &amp; EDA</a:t>
            </a:r>
          </a:p>
        </p:txBody>
      </p:sp>
      <p:sp>
        <p:nvSpPr>
          <p:cNvPr id="26" name="TextBox 26"/>
          <p:cNvSpPr txBox="1"/>
          <p:nvPr/>
        </p:nvSpPr>
        <p:spPr>
          <a:xfrm>
            <a:off x="322077" y="3195147"/>
            <a:ext cx="7248107" cy="580390"/>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EDA &amp; Market Insights</a:t>
            </a:r>
          </a:p>
        </p:txBody>
      </p:sp>
      <p:sp>
        <p:nvSpPr>
          <p:cNvPr id="27" name="TextBox 27"/>
          <p:cNvSpPr txBox="1"/>
          <p:nvPr/>
        </p:nvSpPr>
        <p:spPr>
          <a:xfrm>
            <a:off x="289792" y="3993476"/>
            <a:ext cx="8038524" cy="5901690"/>
          </a:xfrm>
          <a:prstGeom prst="rect">
            <a:avLst/>
          </a:prstGeom>
        </p:spPr>
        <p:txBody>
          <a:bodyPr lIns="0" tIns="0" rIns="0" bIns="0" rtlCol="0" anchor="t">
            <a:spAutoFit/>
          </a:bodyPr>
          <a:lstStyle/>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Area drives price most — 67% correlation, the strongest predictor in the dataset.</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Location matters — Riyadh properties command a clear premium (38% correlation).</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New is expensive — Properties aged 0–1 years carry a 32% price premium; the market rewards modern construction.</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Family-sized units dominate — 4–5 bedroom layouts are the market standard, yet room count barely affects price (10%), confirming that where and how big outweigh how many rooms.</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Kitchens &amp; bathrooms are baseline — Near-zero price correlation means buyers treat them as minimum requirements, not value-adds.</a:t>
            </a:r>
          </a:p>
          <a:p>
            <a:pPr algn="l">
              <a:lnSpc>
                <a:spcPts val="3640"/>
              </a:lnSpc>
            </a:pPr>
            <a:endParaRPr lang="en-US" sz="2199">
              <a:solidFill>
                <a:srgbClr val="F7F2DE"/>
              </a:solidFill>
              <a:latin typeface="Canva Sans"/>
              <a:ea typeface="Canva Sans"/>
              <a:cs typeface="Canva Sans"/>
              <a:sym typeface="Canv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9" name="Rectangle: Rounded Corners 28">
            <a:extLst>
              <a:ext uri="{FF2B5EF4-FFF2-40B4-BE49-F238E27FC236}">
                <a16:creationId xmlns:a16="http://schemas.microsoft.com/office/drawing/2014/main" id="{F8776A3D-B72D-37CC-31ED-9D075F6E2145}"/>
              </a:ext>
            </a:extLst>
          </p:cNvPr>
          <p:cNvSpPr/>
          <p:nvPr/>
        </p:nvSpPr>
        <p:spPr>
          <a:xfrm>
            <a:off x="5600228" y="2332601"/>
            <a:ext cx="2142986" cy="353716"/>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19" name="TextBox 19"/>
          <p:cNvSpPr txBox="1"/>
          <p:nvPr/>
        </p:nvSpPr>
        <p:spPr>
          <a:xfrm>
            <a:off x="5600228" y="2339031"/>
            <a:ext cx="2142986"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Cleaning &amp; EDA</a:t>
            </a:r>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2" name="Freeform 12"/>
          <p:cNvSpPr/>
          <p:nvPr/>
        </p:nvSpPr>
        <p:spPr>
          <a:xfrm>
            <a:off x="9215893" y="2947533"/>
            <a:ext cx="8886066" cy="6784362"/>
          </a:xfrm>
          <a:custGeom>
            <a:avLst/>
            <a:gdLst/>
            <a:ahLst/>
            <a:cxnLst/>
            <a:rect l="l" t="t" r="r" b="b"/>
            <a:pathLst>
              <a:path w="8886066" h="6784362">
                <a:moveTo>
                  <a:pt x="0" y="0"/>
                </a:moveTo>
                <a:lnTo>
                  <a:pt x="8886065" y="0"/>
                </a:lnTo>
                <a:lnTo>
                  <a:pt x="8886065" y="6784362"/>
                </a:lnTo>
                <a:lnTo>
                  <a:pt x="0" y="6784362"/>
                </a:lnTo>
                <a:lnTo>
                  <a:pt x="0" y="0"/>
                </a:lnTo>
                <a:close/>
              </a:path>
            </a:pathLst>
          </a:custGeom>
          <a:blipFill>
            <a:blip r:embed="rId6"/>
            <a:stretch>
              <a:fillRect l="-837" r="-837"/>
            </a:stretch>
          </a:blipFill>
        </p:spPr>
        <p:txBody>
          <a:bodyPr/>
          <a:lstStyle/>
          <a:p>
            <a:endParaRPr lang="ar-EG"/>
          </a:p>
        </p:txBody>
      </p:sp>
      <p:sp>
        <p:nvSpPr>
          <p:cNvPr id="13" name="TextBox 13"/>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2</a:t>
            </a:r>
          </a:p>
        </p:txBody>
      </p:sp>
      <p:sp>
        <p:nvSpPr>
          <p:cNvPr id="14" name="TextBox 14"/>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15" name="TextBox 15"/>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16" name="TextBox 16"/>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17" name="TextBox 17"/>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18" name="TextBox 18"/>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grpSp>
        <p:nvGrpSpPr>
          <p:cNvPr id="20" name="Group 20"/>
          <p:cNvGrpSpPr/>
          <p:nvPr/>
        </p:nvGrpSpPr>
        <p:grpSpPr>
          <a:xfrm>
            <a:off x="-859282" y="3121970"/>
            <a:ext cx="9704597" cy="6773196"/>
            <a:chOff x="0" y="0"/>
            <a:chExt cx="12939463" cy="9030928"/>
          </a:xfrm>
        </p:grpSpPr>
        <p:grpSp>
          <p:nvGrpSpPr>
            <p:cNvPr id="21" name="Group 21"/>
            <p:cNvGrpSpPr/>
            <p:nvPr/>
          </p:nvGrpSpPr>
          <p:grpSpPr>
            <a:xfrm rot="-5400000">
              <a:off x="2623037" y="-1503193"/>
              <a:ext cx="8813233" cy="11819619"/>
              <a:chOff x="0" y="0"/>
              <a:chExt cx="1705841" cy="2287740"/>
            </a:xfrm>
          </p:grpSpPr>
          <p:sp>
            <p:nvSpPr>
              <p:cNvPr id="22" name="Freeform 22"/>
              <p:cNvSpPr/>
              <p:nvPr/>
            </p:nvSpPr>
            <p:spPr>
              <a:xfrm>
                <a:off x="0" y="0"/>
                <a:ext cx="1705841" cy="2287740"/>
              </a:xfrm>
              <a:custGeom>
                <a:avLst/>
                <a:gdLst/>
                <a:ahLst/>
                <a:cxnLst/>
                <a:rect l="l" t="t" r="r" b="b"/>
                <a:pathLst>
                  <a:path w="1705841" h="2287740">
                    <a:moveTo>
                      <a:pt x="568921" y="2268671"/>
                    </a:moveTo>
                    <a:cubicBezTo>
                      <a:pt x="656375" y="2280185"/>
                      <a:pt x="755799" y="2287740"/>
                      <a:pt x="853380" y="2287740"/>
                    </a:cubicBezTo>
                    <a:cubicBezTo>
                      <a:pt x="950964" y="2287740"/>
                      <a:pt x="1044864" y="2281263"/>
                      <a:pt x="1131396" y="2269750"/>
                    </a:cubicBezTo>
                    <a:cubicBezTo>
                      <a:pt x="1133239" y="2269390"/>
                      <a:pt x="1135080" y="2269390"/>
                      <a:pt x="1136920" y="2269031"/>
                    </a:cubicBezTo>
                    <a:cubicBezTo>
                      <a:pt x="1461886" y="2222976"/>
                      <a:pt x="1701238" y="2101362"/>
                      <a:pt x="1705841" y="1926476"/>
                    </a:cubicBezTo>
                    <a:lnTo>
                      <a:pt x="1705841" y="0"/>
                    </a:lnTo>
                    <a:lnTo>
                      <a:pt x="0" y="0"/>
                    </a:lnTo>
                    <a:lnTo>
                      <a:pt x="0" y="1925046"/>
                    </a:lnTo>
                    <a:cubicBezTo>
                      <a:pt x="4603" y="2102080"/>
                      <a:pt x="240272" y="2223696"/>
                      <a:pt x="568921" y="2268671"/>
                    </a:cubicBezTo>
                    <a:close/>
                  </a:path>
                </a:pathLst>
              </a:custGeom>
              <a:solidFill>
                <a:srgbClr val="043732"/>
              </a:solidFill>
            </p:spPr>
            <p:txBody>
              <a:bodyPr/>
              <a:lstStyle/>
              <a:p>
                <a:endParaRPr lang="ar-EG"/>
              </a:p>
            </p:txBody>
          </p:sp>
          <p:sp>
            <p:nvSpPr>
              <p:cNvPr id="23" name="TextBox 23"/>
              <p:cNvSpPr txBox="1"/>
              <p:nvPr/>
            </p:nvSpPr>
            <p:spPr>
              <a:xfrm>
                <a:off x="0" y="-28575"/>
                <a:ext cx="1705841" cy="2189315"/>
              </a:xfrm>
              <a:prstGeom prst="rect">
                <a:avLst/>
              </a:prstGeom>
            </p:spPr>
            <p:txBody>
              <a:bodyPr lIns="50800" tIns="50800" rIns="50800" bIns="50800" rtlCol="0" anchor="ctr"/>
              <a:lstStyle/>
              <a:p>
                <a:pPr algn="ctr">
                  <a:lnSpc>
                    <a:spcPts val="2520"/>
                  </a:lnSpc>
                </a:pPr>
                <a:endParaRPr/>
              </a:p>
            </p:txBody>
          </p:sp>
        </p:grpSp>
        <p:grpSp>
          <p:nvGrpSpPr>
            <p:cNvPr id="24" name="Group 24"/>
            <p:cNvGrpSpPr/>
            <p:nvPr/>
          </p:nvGrpSpPr>
          <p:grpSpPr>
            <a:xfrm>
              <a:off x="0" y="186469"/>
              <a:ext cx="9114390" cy="684953"/>
              <a:chOff x="0" y="0"/>
              <a:chExt cx="1800373" cy="135299"/>
            </a:xfrm>
          </p:grpSpPr>
          <p:sp>
            <p:nvSpPr>
              <p:cNvPr id="25" name="Freeform 25"/>
              <p:cNvSpPr/>
              <p:nvPr/>
            </p:nvSpPr>
            <p:spPr>
              <a:xfrm>
                <a:off x="0" y="0"/>
                <a:ext cx="1800373" cy="135299"/>
              </a:xfrm>
              <a:custGeom>
                <a:avLst/>
                <a:gdLst/>
                <a:ahLst/>
                <a:cxnLst/>
                <a:rect l="l" t="t" r="r" b="b"/>
                <a:pathLst>
                  <a:path w="1800373" h="135299">
                    <a:moveTo>
                      <a:pt x="0" y="0"/>
                    </a:moveTo>
                    <a:lnTo>
                      <a:pt x="1597173" y="0"/>
                    </a:lnTo>
                    <a:lnTo>
                      <a:pt x="1800373" y="67650"/>
                    </a:lnTo>
                    <a:lnTo>
                      <a:pt x="1597173" y="135299"/>
                    </a:lnTo>
                    <a:lnTo>
                      <a:pt x="0" y="135299"/>
                    </a:lnTo>
                    <a:lnTo>
                      <a:pt x="203200" y="67650"/>
                    </a:lnTo>
                    <a:lnTo>
                      <a:pt x="0" y="0"/>
                    </a:lnTo>
                    <a:close/>
                  </a:path>
                </a:pathLst>
              </a:custGeom>
              <a:solidFill>
                <a:srgbClr val="F7F2DE"/>
              </a:solidFill>
            </p:spPr>
            <p:txBody>
              <a:bodyPr/>
              <a:lstStyle/>
              <a:p>
                <a:endParaRPr lang="ar-EG"/>
              </a:p>
            </p:txBody>
          </p:sp>
          <p:sp>
            <p:nvSpPr>
              <p:cNvPr id="26" name="TextBox 26"/>
              <p:cNvSpPr txBox="1"/>
              <p:nvPr/>
            </p:nvSpPr>
            <p:spPr>
              <a:xfrm>
                <a:off x="177800" y="-28575"/>
                <a:ext cx="1546373" cy="163874"/>
              </a:xfrm>
              <a:prstGeom prst="rect">
                <a:avLst/>
              </a:prstGeom>
            </p:spPr>
            <p:txBody>
              <a:bodyPr lIns="50800" tIns="50800" rIns="50800" bIns="50800" rtlCol="0" anchor="ctr"/>
              <a:lstStyle/>
              <a:p>
                <a:pPr algn="ctr">
                  <a:lnSpc>
                    <a:spcPts val="2520"/>
                  </a:lnSpc>
                </a:pPr>
                <a:endParaRPr/>
              </a:p>
            </p:txBody>
          </p:sp>
        </p:grpSp>
        <p:sp>
          <p:nvSpPr>
            <p:cNvPr id="27" name="TextBox 27"/>
            <p:cNvSpPr txBox="1"/>
            <p:nvPr/>
          </p:nvSpPr>
          <p:spPr>
            <a:xfrm>
              <a:off x="1575145" y="119794"/>
              <a:ext cx="9664142"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EDA &amp; Market Insights</a:t>
              </a:r>
            </a:p>
          </p:txBody>
        </p:sp>
        <p:sp>
          <p:nvSpPr>
            <p:cNvPr id="28" name="TextBox 28"/>
            <p:cNvSpPr txBox="1"/>
            <p:nvPr/>
          </p:nvSpPr>
          <p:spPr>
            <a:xfrm>
              <a:off x="1532099" y="1174708"/>
              <a:ext cx="10718032" cy="7856220"/>
            </a:xfrm>
            <a:prstGeom prst="rect">
              <a:avLst/>
            </a:prstGeom>
          </p:spPr>
          <p:txBody>
            <a:bodyPr lIns="0" tIns="0" rIns="0" bIns="0" rtlCol="0" anchor="t">
              <a:spAutoFit/>
            </a:bodyPr>
            <a:lstStyle/>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Area drives price most — 67% correlation, the strongest predictor in the dataset.</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Location matters — Riyadh properties command a clear premium (38% correlation).</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New is expensive — Properties aged 0–1 years carry a 32% price premium; the market rewards modern construction.</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Family-sized units dominate — 4–5 bedroom layouts are the market standard, yet room count barely affects price (10%), confirming that where and how big outweigh how many rooms.</a:t>
              </a:r>
            </a:p>
            <a:p>
              <a:pPr marL="474979" lvl="1" indent="-237490" algn="l">
                <a:lnSpc>
                  <a:spcPts val="3079"/>
                </a:lnSpc>
                <a:buFont typeface="Arial"/>
                <a:buChar char="•"/>
              </a:pPr>
              <a:r>
                <a:rPr lang="en-US" sz="2199">
                  <a:solidFill>
                    <a:srgbClr val="F7F2DE"/>
                  </a:solidFill>
                  <a:latin typeface="Canva Sans"/>
                  <a:ea typeface="Canva Sans"/>
                  <a:cs typeface="Canva Sans"/>
                  <a:sym typeface="Canva Sans"/>
                </a:rPr>
                <a:t>Kitchens &amp; bathrooms are baseline — Near-zero price correlation means buyers treat them as minimum requirements, not value-adds.</a:t>
              </a:r>
            </a:p>
            <a:p>
              <a:pPr algn="l">
                <a:lnSpc>
                  <a:spcPts val="3640"/>
                </a:lnSpc>
              </a:pPr>
              <a:endParaRPr lang="en-US" sz="2199">
                <a:solidFill>
                  <a:srgbClr val="F7F2DE"/>
                </a:solidFill>
                <a:latin typeface="Canva Sans"/>
                <a:ea typeface="Canva Sans"/>
                <a:cs typeface="Canva Sans"/>
                <a:sym typeface="Canva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1677D8C4-066A-573C-4951-4A5F04AC3AB8}"/>
              </a:ext>
            </a:extLst>
          </p:cNvPr>
          <p:cNvSpPr/>
          <p:nvPr/>
        </p:nvSpPr>
        <p:spPr>
          <a:xfrm>
            <a:off x="7087654" y="2333319"/>
            <a:ext cx="2545842" cy="317344"/>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dirty="0"/>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3" name="Group 13"/>
          <p:cNvGrpSpPr/>
          <p:nvPr/>
        </p:nvGrpSpPr>
        <p:grpSpPr>
          <a:xfrm>
            <a:off x="-859282" y="3136438"/>
            <a:ext cx="10492779" cy="3097435"/>
            <a:chOff x="0" y="-1"/>
            <a:chExt cx="13990372" cy="4129913"/>
          </a:xfrm>
        </p:grpSpPr>
        <p:grpSp>
          <p:nvGrpSpPr>
            <p:cNvPr id="14" name="Group 14"/>
            <p:cNvGrpSpPr/>
            <p:nvPr/>
          </p:nvGrpSpPr>
          <p:grpSpPr>
            <a:xfrm rot="-5400000">
              <a:off x="5490151" y="-4370308"/>
              <a:ext cx="4129913" cy="12870528"/>
              <a:chOff x="0" y="0"/>
              <a:chExt cx="799363" cy="2491149"/>
            </a:xfrm>
          </p:grpSpPr>
          <p:sp>
            <p:nvSpPr>
              <p:cNvPr id="15" name="Freeform 15"/>
              <p:cNvSpPr/>
              <p:nvPr/>
            </p:nvSpPr>
            <p:spPr>
              <a:xfrm>
                <a:off x="0" y="0"/>
                <a:ext cx="799363" cy="2491149"/>
              </a:xfrm>
              <a:custGeom>
                <a:avLst/>
                <a:gdLst/>
                <a:ahLst/>
                <a:cxnLst/>
                <a:rect l="l" t="t" r="r" b="b"/>
                <a:pathLst>
                  <a:path w="799363" h="2491149">
                    <a:moveTo>
                      <a:pt x="266598" y="2472080"/>
                    </a:moveTo>
                    <a:cubicBezTo>
                      <a:pt x="307580" y="2483593"/>
                      <a:pt x="354170" y="2491149"/>
                      <a:pt x="399897" y="2491149"/>
                    </a:cubicBezTo>
                    <a:cubicBezTo>
                      <a:pt x="445625" y="2491149"/>
                      <a:pt x="489627" y="2484672"/>
                      <a:pt x="530176" y="2473158"/>
                    </a:cubicBezTo>
                    <a:cubicBezTo>
                      <a:pt x="531040" y="2472798"/>
                      <a:pt x="531902" y="2472798"/>
                      <a:pt x="532765" y="2472439"/>
                    </a:cubicBezTo>
                    <a:cubicBezTo>
                      <a:pt x="685045" y="2426383"/>
                      <a:pt x="797206" y="2304770"/>
                      <a:pt x="799363" y="2125366"/>
                    </a:cubicBezTo>
                    <a:lnTo>
                      <a:pt x="799363" y="0"/>
                    </a:lnTo>
                    <a:lnTo>
                      <a:pt x="0" y="0"/>
                    </a:lnTo>
                    <a:lnTo>
                      <a:pt x="0" y="2123788"/>
                    </a:lnTo>
                    <a:cubicBezTo>
                      <a:pt x="2157" y="2305489"/>
                      <a:pt x="112592" y="2427104"/>
                      <a:pt x="266598" y="2472080"/>
                    </a:cubicBezTo>
                    <a:close/>
                  </a:path>
                </a:pathLst>
              </a:custGeom>
              <a:solidFill>
                <a:srgbClr val="043732"/>
              </a:solidFill>
            </p:spPr>
            <p:txBody>
              <a:bodyPr/>
              <a:lstStyle/>
              <a:p>
                <a:endParaRPr lang="ar-EG"/>
              </a:p>
            </p:txBody>
          </p:sp>
          <p:sp>
            <p:nvSpPr>
              <p:cNvPr id="16" name="TextBox 16"/>
              <p:cNvSpPr txBox="1"/>
              <p:nvPr/>
            </p:nvSpPr>
            <p:spPr>
              <a:xfrm>
                <a:off x="0" y="-28575"/>
                <a:ext cx="799363" cy="2392724"/>
              </a:xfrm>
              <a:prstGeom prst="rect">
                <a:avLst/>
              </a:prstGeom>
            </p:spPr>
            <p:txBody>
              <a:bodyPr lIns="50800" tIns="50800" rIns="50800" bIns="50800" rtlCol="0" anchor="ctr"/>
              <a:lstStyle/>
              <a:p>
                <a:pPr algn="ctr">
                  <a:lnSpc>
                    <a:spcPts val="2520"/>
                  </a:lnSpc>
                </a:pPr>
                <a:endParaRPr/>
              </a:p>
            </p:txBody>
          </p:sp>
        </p:grpSp>
        <p:grpSp>
          <p:nvGrpSpPr>
            <p:cNvPr id="17" name="Group 17"/>
            <p:cNvGrpSpPr/>
            <p:nvPr/>
          </p:nvGrpSpPr>
          <p:grpSpPr>
            <a:xfrm>
              <a:off x="0" y="186469"/>
              <a:ext cx="11830691" cy="684953"/>
              <a:chOff x="0" y="0"/>
              <a:chExt cx="2336927" cy="135299"/>
            </a:xfrm>
          </p:grpSpPr>
          <p:sp>
            <p:nvSpPr>
              <p:cNvPr id="18" name="Freeform 18"/>
              <p:cNvSpPr/>
              <p:nvPr/>
            </p:nvSpPr>
            <p:spPr>
              <a:xfrm>
                <a:off x="0" y="0"/>
                <a:ext cx="2336927" cy="135299"/>
              </a:xfrm>
              <a:custGeom>
                <a:avLst/>
                <a:gdLst/>
                <a:ahLst/>
                <a:cxnLst/>
                <a:rect l="l" t="t" r="r" b="b"/>
                <a:pathLst>
                  <a:path w="2336927" h="135299">
                    <a:moveTo>
                      <a:pt x="0" y="0"/>
                    </a:moveTo>
                    <a:lnTo>
                      <a:pt x="2133727" y="0"/>
                    </a:lnTo>
                    <a:lnTo>
                      <a:pt x="2336927" y="67650"/>
                    </a:lnTo>
                    <a:lnTo>
                      <a:pt x="2133727" y="135299"/>
                    </a:lnTo>
                    <a:lnTo>
                      <a:pt x="0" y="135299"/>
                    </a:lnTo>
                    <a:lnTo>
                      <a:pt x="203200" y="67650"/>
                    </a:lnTo>
                    <a:lnTo>
                      <a:pt x="0" y="0"/>
                    </a:lnTo>
                    <a:close/>
                  </a:path>
                </a:pathLst>
              </a:custGeom>
              <a:solidFill>
                <a:srgbClr val="F7F2DE"/>
              </a:solidFill>
            </p:spPr>
            <p:txBody>
              <a:bodyPr/>
              <a:lstStyle/>
              <a:p>
                <a:endParaRPr lang="ar-EG"/>
              </a:p>
            </p:txBody>
          </p:sp>
          <p:sp>
            <p:nvSpPr>
              <p:cNvPr id="19" name="TextBox 19"/>
              <p:cNvSpPr txBox="1"/>
              <p:nvPr/>
            </p:nvSpPr>
            <p:spPr>
              <a:xfrm>
                <a:off x="177800" y="-28575"/>
                <a:ext cx="2082927" cy="163874"/>
              </a:xfrm>
              <a:prstGeom prst="rect">
                <a:avLst/>
              </a:prstGeom>
            </p:spPr>
            <p:txBody>
              <a:bodyPr lIns="50800" tIns="50800" rIns="50800" bIns="50800" rtlCol="0" anchor="ctr"/>
              <a:lstStyle/>
              <a:p>
                <a:pPr algn="ctr">
                  <a:lnSpc>
                    <a:spcPts val="2520"/>
                  </a:lnSpc>
                </a:pPr>
                <a:endParaRPr/>
              </a:p>
            </p:txBody>
          </p:sp>
        </p:grpSp>
        <p:sp>
          <p:nvSpPr>
            <p:cNvPr id="20" name="TextBox 20"/>
            <p:cNvSpPr txBox="1"/>
            <p:nvPr/>
          </p:nvSpPr>
          <p:spPr>
            <a:xfrm>
              <a:off x="1532099" y="119794"/>
              <a:ext cx="9664142" cy="751628"/>
            </a:xfrm>
            <a:prstGeom prst="rect">
              <a:avLst/>
            </a:prstGeom>
          </p:spPr>
          <p:txBody>
            <a:bodyPr lIns="0" tIns="0" rIns="0" bIns="0" rtlCol="0" anchor="t">
              <a:spAutoFit/>
            </a:bodyPr>
            <a:lstStyle/>
            <a:p>
              <a:pPr algn="l">
                <a:lnSpc>
                  <a:spcPts val="4759"/>
                </a:lnSpc>
              </a:pPr>
              <a:r>
                <a:rPr lang="en-US" sz="3399" b="1">
                  <a:solidFill>
                    <a:srgbClr val="043732"/>
                  </a:solidFill>
                  <a:latin typeface="Canva Sans Bold"/>
                  <a:ea typeface="Canva Sans Bold"/>
                  <a:cs typeface="Canva Sans Bold"/>
                  <a:sym typeface="Canva Sans Bold"/>
                </a:rPr>
                <a:t>Database &amp; data model creation </a:t>
              </a:r>
            </a:p>
          </p:txBody>
        </p:sp>
        <p:sp>
          <p:nvSpPr>
            <p:cNvPr id="21" name="TextBox 21"/>
            <p:cNvSpPr txBox="1"/>
            <p:nvPr/>
          </p:nvSpPr>
          <p:spPr>
            <a:xfrm>
              <a:off x="1532099" y="1174708"/>
              <a:ext cx="10718032" cy="2614819"/>
            </a:xfrm>
            <a:prstGeom prst="rect">
              <a:avLst/>
            </a:prstGeom>
          </p:spPr>
          <p:txBody>
            <a:bodyPr lIns="0" tIns="0" rIns="0" bIns="0" rtlCol="0" anchor="t">
              <a:spAutoFit/>
            </a:bodyPr>
            <a:lstStyle/>
            <a:p>
              <a:pPr algn="l">
                <a:lnSpc>
                  <a:spcPts val="3079"/>
                </a:lnSpc>
              </a:pPr>
              <a:r>
                <a:rPr lang="en-US" sz="2199" dirty="0">
                  <a:solidFill>
                    <a:srgbClr val="F7F2DE"/>
                  </a:solidFill>
                  <a:latin typeface="Canva Sans"/>
                  <a:ea typeface="Canva Sans"/>
                  <a:cs typeface="Canva Sans"/>
                  <a:sym typeface="Canva Sans"/>
                </a:rPr>
                <a:t>SQL Management: Built a clean relational Star Schema by standardizing INT keys and establishing strict Primary Key and Foreign Key constraints between the central Fact table and Dimension tables. This pushed modeling complexity to the database layer to keep Power BI fast and lightweight.</a:t>
              </a:r>
            </a:p>
          </p:txBody>
        </p:sp>
      </p:grpSp>
      <p:grpSp>
        <p:nvGrpSpPr>
          <p:cNvPr id="22" name="Group 22"/>
          <p:cNvGrpSpPr/>
          <p:nvPr/>
        </p:nvGrpSpPr>
        <p:grpSpPr>
          <a:xfrm>
            <a:off x="3195596" y="6521223"/>
            <a:ext cx="3086100" cy="308610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24" name="TextBox 2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25" name="Freeform 25"/>
          <p:cNvSpPr/>
          <p:nvPr/>
        </p:nvSpPr>
        <p:spPr>
          <a:xfrm>
            <a:off x="3497263" y="6822890"/>
            <a:ext cx="2482766" cy="2482766"/>
          </a:xfrm>
          <a:custGeom>
            <a:avLst/>
            <a:gdLst/>
            <a:ahLst/>
            <a:cxnLst/>
            <a:rect l="l" t="t" r="r" b="b"/>
            <a:pathLst>
              <a:path w="2482766" h="2482766">
                <a:moveTo>
                  <a:pt x="0" y="0"/>
                </a:moveTo>
                <a:lnTo>
                  <a:pt x="2482766" y="0"/>
                </a:lnTo>
                <a:lnTo>
                  <a:pt x="2482766" y="2482766"/>
                </a:lnTo>
                <a:lnTo>
                  <a:pt x="0" y="2482766"/>
                </a:lnTo>
                <a:lnTo>
                  <a:pt x="0" y="0"/>
                </a:lnTo>
                <a:close/>
              </a:path>
            </a:pathLst>
          </a:custGeom>
          <a:blipFill>
            <a:blip r:embed="rId6"/>
            <a:stretch>
              <a:fillRect/>
            </a:stretch>
          </a:blipFill>
        </p:spPr>
        <p:txBody>
          <a:bodyPr/>
          <a:lstStyle/>
          <a:p>
            <a:endParaRPr lang="ar-EG"/>
          </a:p>
        </p:txBody>
      </p:sp>
      <p:sp>
        <p:nvSpPr>
          <p:cNvPr id="26" name="TextBox 26"/>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7" name="TextBox 27"/>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3</a:t>
            </a:r>
          </a:p>
        </p:txBody>
      </p:sp>
      <p:sp>
        <p:nvSpPr>
          <p:cNvPr id="28" name="TextBox 28"/>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9" name="TextBox 29"/>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30" name="TextBox 30"/>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31" name="TextBox 31"/>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32" name="TextBox 32"/>
          <p:cNvSpPr txBox="1"/>
          <p:nvPr/>
        </p:nvSpPr>
        <p:spPr>
          <a:xfrm>
            <a:off x="7193974" y="2343975"/>
            <a:ext cx="2439523" cy="306689"/>
          </a:xfrm>
          <a:prstGeom prst="rect">
            <a:avLst/>
          </a:prstGeom>
        </p:spPr>
        <p:txBody>
          <a:bodyPr lIns="0" tIns="0" rIns="0" bIns="0" rtlCol="0" anchor="t">
            <a:spAutoFit/>
          </a:bodyPr>
          <a:lstStyle/>
          <a:p>
            <a:pPr marL="0" lvl="0" indent="0" algn="ctr">
              <a:lnSpc>
                <a:spcPts val="2447"/>
              </a:lnSpc>
              <a:spcBef>
                <a:spcPct val="0"/>
              </a:spcBef>
            </a:pPr>
            <a:r>
              <a:rPr lang="en-US" sz="1911" b="1" u="none" strike="noStrike">
                <a:solidFill>
                  <a:srgbClr val="043732"/>
                </a:solidFill>
                <a:latin typeface="Montserrat Bold"/>
                <a:ea typeface="Montserrat Bold"/>
                <a:cs typeface="Montserrat Bold"/>
                <a:sym typeface="Montserrat Bold"/>
              </a:rPr>
              <a:t>SQL Management</a:t>
            </a:r>
          </a:p>
        </p:txBody>
      </p:sp>
      <p:pic>
        <p:nvPicPr>
          <p:cNvPr id="34" name="Picture 33">
            <a:extLst>
              <a:ext uri="{FF2B5EF4-FFF2-40B4-BE49-F238E27FC236}">
                <a16:creationId xmlns:a16="http://schemas.microsoft.com/office/drawing/2014/main" id="{9E696AB5-9B49-7BBD-67FF-6FF4D7FB5AA3}"/>
              </a:ext>
            </a:extLst>
          </p:cNvPr>
          <p:cNvPicPr>
            <a:picLocks noChangeAspect="1"/>
          </p:cNvPicPr>
          <p:nvPr/>
        </p:nvPicPr>
        <p:blipFill>
          <a:blip r:embed="rId7"/>
          <a:stretch>
            <a:fillRect/>
          </a:stretch>
        </p:blipFill>
        <p:spPr>
          <a:xfrm>
            <a:off x="8470869" y="3427732"/>
            <a:ext cx="4473905" cy="6262641"/>
          </a:xfrm>
          <a:prstGeom prst="rect">
            <a:avLst/>
          </a:prstGeom>
        </p:spPr>
      </p:pic>
      <p:pic>
        <p:nvPicPr>
          <p:cNvPr id="35" name="Picture 34">
            <a:extLst>
              <a:ext uri="{FF2B5EF4-FFF2-40B4-BE49-F238E27FC236}">
                <a16:creationId xmlns:a16="http://schemas.microsoft.com/office/drawing/2014/main" id="{D27EA82A-1AD9-52B2-A394-DFC4C0C335F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447639" y="2309912"/>
            <a:ext cx="5550569" cy="7149149"/>
          </a:xfrm>
          <a:prstGeom prst="rect">
            <a:avLst/>
          </a:prstGeom>
        </p:spPr>
      </p:pic>
    </p:spTree>
  </p:cSld>
  <p:clrMapOvr>
    <a:masterClrMapping/>
  </p:clrMapOvr>
  <p:transition spd="slow">
    <p:cover dir="l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806F1837-5B87-D042-A928-4F860AA063CC}"/>
              </a:ext>
            </a:extLst>
          </p:cNvPr>
          <p:cNvSpPr/>
          <p:nvPr/>
        </p:nvSpPr>
        <p:spPr>
          <a:xfrm>
            <a:off x="8642897" y="2366785"/>
            <a:ext cx="3086100" cy="30008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1635835" y="3540370"/>
            <a:ext cx="14928987" cy="5501869"/>
            <a:chOff x="0" y="0"/>
            <a:chExt cx="19905315" cy="7335826"/>
          </a:xfrm>
        </p:grpSpPr>
        <p:grpSp>
          <p:nvGrpSpPr>
            <p:cNvPr id="13" name="Group 13"/>
            <p:cNvGrpSpPr/>
            <p:nvPr/>
          </p:nvGrpSpPr>
          <p:grpSpPr>
            <a:xfrm rot="-5400000">
              <a:off x="7318898" y="-5477224"/>
              <a:ext cx="7109194" cy="18063642"/>
              <a:chOff x="0" y="0"/>
              <a:chExt cx="1143274" cy="2904927"/>
            </a:xfrm>
          </p:grpSpPr>
          <p:sp>
            <p:nvSpPr>
              <p:cNvPr id="14" name="Freeform 14"/>
              <p:cNvSpPr/>
              <p:nvPr/>
            </p:nvSpPr>
            <p:spPr>
              <a:xfrm>
                <a:off x="0" y="0"/>
                <a:ext cx="1143274" cy="2904927"/>
              </a:xfrm>
              <a:custGeom>
                <a:avLst/>
                <a:gdLst/>
                <a:ahLst/>
                <a:cxnLst/>
                <a:rect l="l" t="t" r="r" b="b"/>
                <a:pathLst>
                  <a:path w="1143274" h="2904927">
                    <a:moveTo>
                      <a:pt x="381297" y="2885858"/>
                    </a:moveTo>
                    <a:cubicBezTo>
                      <a:pt x="439910" y="2897371"/>
                      <a:pt x="506545" y="2904927"/>
                      <a:pt x="571945" y="2904927"/>
                    </a:cubicBezTo>
                    <a:cubicBezTo>
                      <a:pt x="637347" y="2904927"/>
                      <a:pt x="700279" y="2898450"/>
                      <a:pt x="758274" y="2886936"/>
                    </a:cubicBezTo>
                    <a:cubicBezTo>
                      <a:pt x="759510" y="2886576"/>
                      <a:pt x="760743" y="2886576"/>
                      <a:pt x="761977" y="2886217"/>
                    </a:cubicBezTo>
                    <a:cubicBezTo>
                      <a:pt x="979772" y="2840162"/>
                      <a:pt x="1140189" y="2718548"/>
                      <a:pt x="1143274" y="2529953"/>
                    </a:cubicBezTo>
                    <a:lnTo>
                      <a:pt x="1143274" y="0"/>
                    </a:lnTo>
                    <a:lnTo>
                      <a:pt x="0" y="0"/>
                    </a:lnTo>
                    <a:lnTo>
                      <a:pt x="0" y="2528075"/>
                    </a:lnTo>
                    <a:cubicBezTo>
                      <a:pt x="3085" y="2719267"/>
                      <a:pt x="161033" y="2840882"/>
                      <a:pt x="381297" y="2885858"/>
                    </a:cubicBezTo>
                    <a:close/>
                  </a:path>
                </a:pathLst>
              </a:custGeom>
              <a:solidFill>
                <a:srgbClr val="043732"/>
              </a:solidFill>
            </p:spPr>
            <p:txBody>
              <a:bodyPr/>
              <a:lstStyle/>
              <a:p>
                <a:endParaRPr lang="ar-EG"/>
              </a:p>
            </p:txBody>
          </p:sp>
          <p:sp>
            <p:nvSpPr>
              <p:cNvPr id="15" name="TextBox 15"/>
              <p:cNvSpPr txBox="1"/>
              <p:nvPr/>
            </p:nvSpPr>
            <p:spPr>
              <a:xfrm>
                <a:off x="0" y="-28575"/>
                <a:ext cx="1143274" cy="2806502"/>
              </a:xfrm>
              <a:prstGeom prst="rect">
                <a:avLst/>
              </a:prstGeom>
            </p:spPr>
            <p:txBody>
              <a:bodyPr lIns="50800" tIns="50800" rIns="50800" bIns="50800" rtlCol="0" anchor="ctr"/>
              <a:lstStyle/>
              <a:p>
                <a:pPr algn="ctr">
                  <a:lnSpc>
                    <a:spcPts val="2520"/>
                  </a:lnSpc>
                </a:pPr>
                <a:endParaRPr/>
              </a:p>
            </p:txBody>
          </p:sp>
        </p:grpSp>
        <p:grpSp>
          <p:nvGrpSpPr>
            <p:cNvPr id="16" name="Group 16"/>
            <p:cNvGrpSpPr/>
            <p:nvPr/>
          </p:nvGrpSpPr>
          <p:grpSpPr>
            <a:xfrm>
              <a:off x="0" y="224429"/>
              <a:ext cx="16501618" cy="824393"/>
              <a:chOff x="0" y="0"/>
              <a:chExt cx="2708246" cy="135299"/>
            </a:xfrm>
          </p:grpSpPr>
          <p:sp>
            <p:nvSpPr>
              <p:cNvPr id="17" name="Freeform 17"/>
              <p:cNvSpPr/>
              <p:nvPr/>
            </p:nvSpPr>
            <p:spPr>
              <a:xfrm>
                <a:off x="0" y="0"/>
                <a:ext cx="2708246" cy="135299"/>
              </a:xfrm>
              <a:custGeom>
                <a:avLst/>
                <a:gdLst/>
                <a:ahLst/>
                <a:cxnLst/>
                <a:rect l="l" t="t" r="r" b="b"/>
                <a:pathLst>
                  <a:path w="2708246" h="135299">
                    <a:moveTo>
                      <a:pt x="0" y="0"/>
                    </a:moveTo>
                    <a:lnTo>
                      <a:pt x="2505046" y="0"/>
                    </a:lnTo>
                    <a:lnTo>
                      <a:pt x="2708246" y="67650"/>
                    </a:lnTo>
                    <a:lnTo>
                      <a:pt x="2505046" y="135299"/>
                    </a:lnTo>
                    <a:lnTo>
                      <a:pt x="0" y="135299"/>
                    </a:lnTo>
                    <a:lnTo>
                      <a:pt x="203200" y="67650"/>
                    </a:lnTo>
                    <a:lnTo>
                      <a:pt x="0" y="0"/>
                    </a:lnTo>
                    <a:close/>
                  </a:path>
                </a:pathLst>
              </a:custGeom>
              <a:solidFill>
                <a:srgbClr val="F7F2DE"/>
              </a:solidFill>
            </p:spPr>
            <p:txBody>
              <a:bodyPr/>
              <a:lstStyle/>
              <a:p>
                <a:endParaRPr lang="ar-EG"/>
              </a:p>
            </p:txBody>
          </p:sp>
          <p:sp>
            <p:nvSpPr>
              <p:cNvPr id="18" name="TextBox 18"/>
              <p:cNvSpPr txBox="1"/>
              <p:nvPr/>
            </p:nvSpPr>
            <p:spPr>
              <a:xfrm>
                <a:off x="177800" y="-28575"/>
                <a:ext cx="2454246" cy="163874"/>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2407257" y="138704"/>
              <a:ext cx="14769477" cy="910118"/>
            </a:xfrm>
            <a:prstGeom prst="rect">
              <a:avLst/>
            </a:prstGeom>
          </p:spPr>
          <p:txBody>
            <a:bodyPr lIns="0" tIns="0" rIns="0" bIns="0" rtlCol="0" anchor="t">
              <a:spAutoFit/>
            </a:bodyPr>
            <a:lstStyle/>
            <a:p>
              <a:pPr algn="l">
                <a:lnSpc>
                  <a:spcPts val="5729"/>
                </a:lnSpc>
              </a:pPr>
              <a:r>
                <a:rPr lang="en-US" sz="4092" b="1">
                  <a:solidFill>
                    <a:srgbClr val="043732"/>
                  </a:solidFill>
                  <a:latin typeface="Canva Sans Bold"/>
                  <a:ea typeface="Canva Sans Bold"/>
                  <a:cs typeface="Canva Sans Bold"/>
                  <a:sym typeface="Canva Sans Bold"/>
                </a:rPr>
                <a:t>Dashboard-Intelligent Consultant</a:t>
              </a:r>
            </a:p>
          </p:txBody>
        </p:sp>
        <p:sp>
          <p:nvSpPr>
            <p:cNvPr id="20" name="TextBox 20"/>
            <p:cNvSpPr txBox="1"/>
            <p:nvPr/>
          </p:nvSpPr>
          <p:spPr>
            <a:xfrm>
              <a:off x="2341471" y="1383506"/>
              <a:ext cx="16380111" cy="5952320"/>
            </a:xfrm>
            <a:prstGeom prst="rect">
              <a:avLst/>
            </a:prstGeom>
          </p:spPr>
          <p:txBody>
            <a:bodyPr lIns="0" tIns="0" rIns="0" bIns="0" rtlCol="0" anchor="t">
              <a:spAutoFit/>
            </a:bodyPr>
            <a:lstStyle/>
            <a:p>
              <a:pPr marL="571674" lvl="1" indent="-285837" algn="l">
                <a:lnSpc>
                  <a:spcPts val="3918"/>
                </a:lnSpc>
                <a:buFont typeface="Arial"/>
                <a:buChar char="•"/>
              </a:pPr>
              <a:r>
                <a:rPr lang="en-US" sz="2647" b="1">
                  <a:solidFill>
                    <a:srgbClr val="F7F2DE"/>
                  </a:solidFill>
                  <a:latin typeface="Canva Sans Bold"/>
                  <a:ea typeface="Canva Sans Bold"/>
                  <a:cs typeface="Canva Sans Bold"/>
                  <a:sym typeface="Canva Sans Bold"/>
                </a:rPr>
                <a:t>Purpose: </a:t>
              </a:r>
              <a:r>
                <a:rPr lang="en-US" sz="2647">
                  <a:solidFill>
                    <a:srgbClr val="F7F2DE"/>
                  </a:solidFill>
                  <a:latin typeface="Canva Sans"/>
                  <a:ea typeface="Canva Sans"/>
                  <a:cs typeface="Canva Sans"/>
                  <a:sym typeface="Canva Sans"/>
                </a:rPr>
                <a:t>Transforms raw data into an interactive decision-making tool, allowing any investor to explore the KSA market by budget, region, and property type — no technical knowledge needed. Fully accessible on both desktop and mobile layouts.</a:t>
              </a:r>
            </a:p>
            <a:p>
              <a:pPr marL="571674" lvl="1" indent="-285837" algn="l">
                <a:lnSpc>
                  <a:spcPts val="3918"/>
                </a:lnSpc>
                <a:buFont typeface="Arial"/>
                <a:buChar char="•"/>
              </a:pPr>
              <a:r>
                <a:rPr lang="en-US" sz="2647" b="1">
                  <a:solidFill>
                    <a:srgbClr val="F7F2DE"/>
                  </a:solidFill>
                  <a:latin typeface="Canva Sans Bold"/>
                  <a:ea typeface="Canva Sans Bold"/>
                  <a:cs typeface="Canva Sans Bold"/>
                  <a:sym typeface="Canva Sans Bold"/>
                </a:rPr>
                <a:t>UI/UX Design:</a:t>
              </a:r>
              <a:r>
                <a:rPr lang="en-US" sz="2647">
                  <a:solidFill>
                    <a:srgbClr val="F7F2DE"/>
                  </a:solidFill>
                  <a:latin typeface="Canva Sans"/>
                  <a:ea typeface="Canva Sans"/>
                  <a:cs typeface="Canva Sans"/>
                  <a:sym typeface="Canva Sans"/>
                </a:rPr>
                <a:t> Designed in Figma first. Dark green &amp; teal palette reflects Saudi national identity. Minimal typography keeps focus on the data. Logo combines a house + search lens — find the right investment. Responsive layout ensures a seamless experience across screen sizes.</a:t>
              </a:r>
            </a:p>
            <a:p>
              <a:pPr algn="l">
                <a:lnSpc>
                  <a:spcPts val="4381"/>
                </a:lnSpc>
              </a:pPr>
              <a:endParaRPr lang="en-US" sz="2647">
                <a:solidFill>
                  <a:srgbClr val="F7F2DE"/>
                </a:solidFill>
                <a:latin typeface="Canva Sans"/>
                <a:ea typeface="Canva Sans"/>
                <a:cs typeface="Canva Sans"/>
                <a:sym typeface="Canva Sans"/>
              </a:endParaRPr>
            </a:p>
          </p:txBody>
        </p:sp>
      </p:grpSp>
      <p:grpSp>
        <p:nvGrpSpPr>
          <p:cNvPr id="21" name="Group 21"/>
          <p:cNvGrpSpPr/>
          <p:nvPr/>
        </p:nvGrpSpPr>
        <p:grpSpPr>
          <a:xfrm>
            <a:off x="14540174" y="2529654"/>
            <a:ext cx="3086100" cy="3086100"/>
            <a:chOff x="0" y="0"/>
            <a:chExt cx="4114800" cy="4114800"/>
          </a:xfrm>
        </p:grpSpPr>
        <p:grpSp>
          <p:nvGrpSpPr>
            <p:cNvPr id="22" name="Group 22"/>
            <p:cNvGrpSpPr/>
            <p:nvPr/>
          </p:nvGrpSpPr>
          <p:grpSpPr>
            <a:xfrm>
              <a:off x="0" y="0"/>
              <a:ext cx="4114800" cy="411480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24" name="TextBox 2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25" name="Freeform 25"/>
            <p:cNvSpPr/>
            <p:nvPr/>
          </p:nvSpPr>
          <p:spPr>
            <a:xfrm>
              <a:off x="584926" y="537112"/>
              <a:ext cx="3040575" cy="3040575"/>
            </a:xfrm>
            <a:custGeom>
              <a:avLst/>
              <a:gdLst/>
              <a:ahLst/>
              <a:cxnLst/>
              <a:rect l="l" t="t" r="r" b="b"/>
              <a:pathLst>
                <a:path w="3040575" h="3040575">
                  <a:moveTo>
                    <a:pt x="0" y="0"/>
                  </a:moveTo>
                  <a:lnTo>
                    <a:pt x="3040576" y="0"/>
                  </a:lnTo>
                  <a:lnTo>
                    <a:pt x="3040576" y="3040576"/>
                  </a:lnTo>
                  <a:lnTo>
                    <a:pt x="0" y="3040576"/>
                  </a:lnTo>
                  <a:lnTo>
                    <a:pt x="0" y="0"/>
                  </a:lnTo>
                  <a:close/>
                </a:path>
              </a:pathLst>
            </a:custGeom>
            <a:blipFill>
              <a:blip r:embed="rId6"/>
              <a:stretch>
                <a:fillRect/>
              </a:stretch>
            </a:blipFill>
          </p:spPr>
          <p:txBody>
            <a:bodyPr/>
            <a:lstStyle/>
            <a:p>
              <a:endParaRPr lang="ar-EG"/>
            </a:p>
          </p:txBody>
        </p:sp>
      </p:grpSp>
      <p:grpSp>
        <p:nvGrpSpPr>
          <p:cNvPr id="26" name="Group 26"/>
          <p:cNvGrpSpPr/>
          <p:nvPr/>
        </p:nvGrpSpPr>
        <p:grpSpPr>
          <a:xfrm>
            <a:off x="14540174" y="6172200"/>
            <a:ext cx="3086100" cy="3086100"/>
            <a:chOff x="0" y="0"/>
            <a:chExt cx="4114800" cy="4114800"/>
          </a:xfrm>
        </p:grpSpPr>
        <p:grpSp>
          <p:nvGrpSpPr>
            <p:cNvPr id="27" name="Group 27"/>
            <p:cNvGrpSpPr/>
            <p:nvPr/>
          </p:nvGrpSpPr>
          <p:grpSpPr>
            <a:xfrm>
              <a:off x="0" y="0"/>
              <a:ext cx="4114800" cy="4114800"/>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29" name="TextBox 29"/>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30" name="Freeform 30"/>
            <p:cNvSpPr/>
            <p:nvPr/>
          </p:nvSpPr>
          <p:spPr>
            <a:xfrm>
              <a:off x="571845" y="571845"/>
              <a:ext cx="2971110" cy="2971110"/>
            </a:xfrm>
            <a:custGeom>
              <a:avLst/>
              <a:gdLst/>
              <a:ahLst/>
              <a:cxnLst/>
              <a:rect l="l" t="t" r="r" b="b"/>
              <a:pathLst>
                <a:path w="2971110" h="2971110">
                  <a:moveTo>
                    <a:pt x="0" y="0"/>
                  </a:moveTo>
                  <a:lnTo>
                    <a:pt x="2971110" y="0"/>
                  </a:lnTo>
                  <a:lnTo>
                    <a:pt x="2971110" y="2971110"/>
                  </a:lnTo>
                  <a:lnTo>
                    <a:pt x="0" y="2971110"/>
                  </a:lnTo>
                  <a:lnTo>
                    <a:pt x="0" y="0"/>
                  </a:lnTo>
                  <a:close/>
                </a:path>
              </a:pathLst>
            </a:custGeom>
            <a:blipFill>
              <a:blip r:embed="rId7"/>
              <a:stretch>
                <a:fillRect/>
              </a:stretch>
            </a:blipFill>
          </p:spPr>
          <p:txBody>
            <a:bodyPr/>
            <a:lstStyle/>
            <a:p>
              <a:endParaRPr lang="ar-EG"/>
            </a:p>
          </p:txBody>
        </p:sp>
      </p:grpSp>
      <p:sp>
        <p:nvSpPr>
          <p:cNvPr id="31" name="TextBox 31"/>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32" name="TextBox 32"/>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33" name="TextBox 33"/>
          <p:cNvSpPr txBox="1"/>
          <p:nvPr/>
        </p:nvSpPr>
        <p:spPr>
          <a:xfrm>
            <a:off x="9671596"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4</a:t>
            </a:r>
          </a:p>
        </p:txBody>
      </p:sp>
      <p:sp>
        <p:nvSpPr>
          <p:cNvPr id="34" name="TextBox 34"/>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35" name="TextBox 35"/>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36" name="TextBox 36"/>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37" name="TextBox 37"/>
          <p:cNvSpPr txBox="1"/>
          <p:nvPr/>
        </p:nvSpPr>
        <p:spPr>
          <a:xfrm>
            <a:off x="8803569" y="2366785"/>
            <a:ext cx="2659850"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Power BI Dashboard</a:t>
            </a:r>
          </a:p>
        </p:txBody>
      </p:sp>
    </p:spTree>
  </p:cSld>
  <p:clrMapOvr>
    <a:masterClrMapping/>
  </p:clrMapOvr>
  <p:transition spd="slow">
    <p:cover dir="l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 name="Freeform 2"/>
          <p:cNvSpPr/>
          <p:nvPr/>
        </p:nvSpPr>
        <p:spPr>
          <a:xfrm>
            <a:off x="0" y="-5616"/>
            <a:ext cx="18288000" cy="10298231"/>
          </a:xfrm>
          <a:custGeom>
            <a:avLst/>
            <a:gdLst/>
            <a:ahLst/>
            <a:cxnLst/>
            <a:rect l="l" t="t" r="r" b="b"/>
            <a:pathLst>
              <a:path w="18288000" h="10298231">
                <a:moveTo>
                  <a:pt x="0" y="0"/>
                </a:moveTo>
                <a:lnTo>
                  <a:pt x="18288000" y="0"/>
                </a:lnTo>
                <a:lnTo>
                  <a:pt x="18288000" y="10298232"/>
                </a:lnTo>
                <a:lnTo>
                  <a:pt x="0" y="10298232"/>
                </a:lnTo>
                <a:lnTo>
                  <a:pt x="0" y="0"/>
                </a:lnTo>
                <a:close/>
              </a:path>
            </a:pathLst>
          </a:custGeom>
          <a:blipFill>
            <a:blip r:embed="rId2"/>
            <a:stretch>
              <a:fillRect l="-390" r="-390"/>
            </a:stretch>
          </a:blipFill>
        </p:spPr>
        <p:txBody>
          <a:bodyPr/>
          <a:lstStyle/>
          <a:p>
            <a:endParaRPr lang="ar-EG"/>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 name="Freeform 2"/>
          <p:cNvSpPr/>
          <p:nvPr/>
        </p:nvSpPr>
        <p:spPr>
          <a:xfrm>
            <a:off x="0" y="-5616"/>
            <a:ext cx="18288000" cy="10298231"/>
          </a:xfrm>
          <a:custGeom>
            <a:avLst/>
            <a:gdLst/>
            <a:ahLst/>
            <a:cxnLst/>
            <a:rect l="l" t="t" r="r" b="b"/>
            <a:pathLst>
              <a:path w="18288000" h="10298231">
                <a:moveTo>
                  <a:pt x="0" y="0"/>
                </a:moveTo>
                <a:lnTo>
                  <a:pt x="18288000" y="0"/>
                </a:lnTo>
                <a:lnTo>
                  <a:pt x="18288000" y="10298232"/>
                </a:lnTo>
                <a:lnTo>
                  <a:pt x="0" y="10298232"/>
                </a:lnTo>
                <a:lnTo>
                  <a:pt x="0" y="0"/>
                </a:lnTo>
                <a:close/>
              </a:path>
            </a:pathLst>
          </a:custGeom>
          <a:blipFill>
            <a:blip r:embed="rId2"/>
            <a:stretch>
              <a:fillRect l="-278" r="-278"/>
            </a:stretch>
          </a:blipFill>
        </p:spPr>
        <p:txBody>
          <a:bodyPr/>
          <a:lstStyle/>
          <a:p>
            <a:endParaRPr lang="ar-E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2687"/>
          </a:xfrm>
          <a:custGeom>
            <a:avLst/>
            <a:gdLst/>
            <a:ahLst/>
            <a:cxnLst/>
            <a:rect l="l" t="t" r="r" b="b"/>
            <a:pathLst>
              <a:path w="18288000" h="10282687">
                <a:moveTo>
                  <a:pt x="0" y="0"/>
                </a:moveTo>
                <a:lnTo>
                  <a:pt x="18288000" y="0"/>
                </a:lnTo>
                <a:lnTo>
                  <a:pt x="18288000" y="10282687"/>
                </a:lnTo>
                <a:lnTo>
                  <a:pt x="0" y="10282687"/>
                </a:lnTo>
                <a:lnTo>
                  <a:pt x="0" y="0"/>
                </a:lnTo>
                <a:close/>
              </a:path>
            </a:pathLst>
          </a:custGeom>
          <a:blipFill>
            <a:blip r:embed="rId2"/>
            <a:stretch>
              <a:fillRect/>
            </a:stretch>
          </a:blipFill>
        </p:spPr>
        <p:txBody>
          <a:bodyPr/>
          <a:lstStyle/>
          <a:p>
            <a:endParaRPr lang="ar-EG"/>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62489"/>
          </a:xfrm>
          <a:custGeom>
            <a:avLst/>
            <a:gdLst/>
            <a:ahLst/>
            <a:cxnLst/>
            <a:rect l="l" t="t" r="r" b="b"/>
            <a:pathLst>
              <a:path w="18288000" h="10262489">
                <a:moveTo>
                  <a:pt x="0" y="0"/>
                </a:moveTo>
                <a:lnTo>
                  <a:pt x="18288000" y="0"/>
                </a:lnTo>
                <a:lnTo>
                  <a:pt x="18288000" y="10262489"/>
                </a:lnTo>
                <a:lnTo>
                  <a:pt x="0" y="10262489"/>
                </a:lnTo>
                <a:lnTo>
                  <a:pt x="0" y="0"/>
                </a:lnTo>
                <a:close/>
              </a:path>
            </a:pathLst>
          </a:custGeom>
          <a:blipFill>
            <a:blip r:embed="rId2"/>
            <a:stretch>
              <a:fillRect l="-268" r="-268" b="-296"/>
            </a:stretch>
          </a:blipFill>
        </p:spPr>
        <p:txBody>
          <a:bodyPr/>
          <a:lstStyle/>
          <a:p>
            <a:endParaRPr lang="ar-E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 name="Freeform 2"/>
          <p:cNvSpPr/>
          <p:nvPr/>
        </p:nvSpPr>
        <p:spPr>
          <a:xfrm>
            <a:off x="3068" y="0"/>
            <a:ext cx="18284932" cy="10288727"/>
          </a:xfrm>
          <a:custGeom>
            <a:avLst/>
            <a:gdLst/>
            <a:ahLst/>
            <a:cxnLst/>
            <a:rect l="l" t="t" r="r" b="b"/>
            <a:pathLst>
              <a:path w="18284932" h="10288727">
                <a:moveTo>
                  <a:pt x="0" y="0"/>
                </a:moveTo>
                <a:lnTo>
                  <a:pt x="18284932" y="0"/>
                </a:lnTo>
                <a:lnTo>
                  <a:pt x="18284932" y="10288727"/>
                </a:lnTo>
                <a:lnTo>
                  <a:pt x="0" y="10288727"/>
                </a:lnTo>
                <a:lnTo>
                  <a:pt x="0" y="0"/>
                </a:lnTo>
                <a:close/>
              </a:path>
            </a:pathLst>
          </a:custGeom>
          <a:blipFill>
            <a:blip r:embed="rId2"/>
            <a:stretch>
              <a:fillRect/>
            </a:stretch>
          </a:blipFill>
        </p:spPr>
        <p:txBody>
          <a:bodyPr/>
          <a:lstStyle/>
          <a:p>
            <a:endParaRPr lang="ar-EG"/>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1" name="Rectangle: Rounded Corners 30">
            <a:extLst>
              <a:ext uri="{FF2B5EF4-FFF2-40B4-BE49-F238E27FC236}">
                <a16:creationId xmlns:a16="http://schemas.microsoft.com/office/drawing/2014/main" id="{1B5F0BF6-8237-D369-5D12-5619B4BA0B5B}"/>
              </a:ext>
            </a:extLst>
          </p:cNvPr>
          <p:cNvSpPr/>
          <p:nvPr/>
        </p:nvSpPr>
        <p:spPr>
          <a:xfrm>
            <a:off x="8642897" y="2366785"/>
            <a:ext cx="3086100" cy="30008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a:grpSpLocks noChangeAspect="1"/>
          </p:cNvGrpSpPr>
          <p:nvPr/>
        </p:nvGrpSpPr>
        <p:grpSpPr>
          <a:xfrm>
            <a:off x="8553771" y="3081802"/>
            <a:ext cx="3054519" cy="6337176"/>
            <a:chOff x="0" y="0"/>
            <a:chExt cx="9182100" cy="19050000"/>
          </a:xfrm>
        </p:grpSpPr>
        <p:sp>
          <p:nvSpPr>
            <p:cNvPr id="13" name="Freeform 13"/>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6"/>
              <a:stretch>
                <a:fillRect t="-1559" b="-1559"/>
              </a:stretch>
            </a:blipFill>
          </p:spPr>
          <p:txBody>
            <a:bodyPr/>
            <a:lstStyle/>
            <a:p>
              <a:endParaRPr lang="ar-EG"/>
            </a:p>
          </p:txBody>
        </p:sp>
        <p:sp>
          <p:nvSpPr>
            <p:cNvPr id="14" name="Freeform 14"/>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grpSp>
        <p:nvGrpSpPr>
          <p:cNvPr id="15" name="Group 15"/>
          <p:cNvGrpSpPr>
            <a:grpSpLocks noChangeAspect="1"/>
          </p:cNvGrpSpPr>
          <p:nvPr/>
        </p:nvGrpSpPr>
        <p:grpSpPr>
          <a:xfrm>
            <a:off x="4789955" y="3072277"/>
            <a:ext cx="3063701" cy="6356226"/>
            <a:chOff x="0" y="0"/>
            <a:chExt cx="9182100" cy="19050000"/>
          </a:xfrm>
        </p:grpSpPr>
        <p:sp>
          <p:nvSpPr>
            <p:cNvPr id="16" name="Freeform 16"/>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8"/>
              <a:stretch>
                <a:fillRect t="-1559" b="-1559"/>
              </a:stretch>
            </a:blipFill>
          </p:spPr>
          <p:txBody>
            <a:bodyPr/>
            <a:lstStyle/>
            <a:p>
              <a:endParaRPr lang="ar-EG"/>
            </a:p>
          </p:txBody>
        </p:sp>
        <p:sp>
          <p:nvSpPr>
            <p:cNvPr id="17" name="Freeform 17"/>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grpSp>
        <p:nvGrpSpPr>
          <p:cNvPr id="18" name="Group 18"/>
          <p:cNvGrpSpPr>
            <a:grpSpLocks noChangeAspect="1"/>
          </p:cNvGrpSpPr>
          <p:nvPr/>
        </p:nvGrpSpPr>
        <p:grpSpPr>
          <a:xfrm>
            <a:off x="1028700" y="3074933"/>
            <a:ext cx="3061141" cy="6350915"/>
            <a:chOff x="0" y="0"/>
            <a:chExt cx="9182100" cy="19050000"/>
          </a:xfrm>
        </p:grpSpPr>
        <p:sp>
          <p:nvSpPr>
            <p:cNvPr id="19" name="Freeform 19"/>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9"/>
              <a:stretch>
                <a:fillRect t="-1559" b="-1559"/>
              </a:stretch>
            </a:blipFill>
          </p:spPr>
          <p:txBody>
            <a:bodyPr/>
            <a:lstStyle/>
            <a:p>
              <a:endParaRPr lang="ar-EG"/>
            </a:p>
          </p:txBody>
        </p:sp>
        <p:sp>
          <p:nvSpPr>
            <p:cNvPr id="20" name="Freeform 20"/>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sp>
        <p:nvSpPr>
          <p:cNvPr id="21" name="TextBox 21"/>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2" name="TextBox 22"/>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3" name="TextBox 23"/>
          <p:cNvSpPr txBox="1"/>
          <p:nvPr/>
        </p:nvSpPr>
        <p:spPr>
          <a:xfrm>
            <a:off x="9671596"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4</a:t>
            </a:r>
          </a:p>
        </p:txBody>
      </p:sp>
      <p:sp>
        <p:nvSpPr>
          <p:cNvPr id="24" name="TextBox 24"/>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25" name="TextBox 25"/>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26" name="TextBox 26"/>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27" name="TextBox 27"/>
          <p:cNvSpPr txBox="1"/>
          <p:nvPr/>
        </p:nvSpPr>
        <p:spPr>
          <a:xfrm>
            <a:off x="8803569" y="2366785"/>
            <a:ext cx="2659850"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Power BI Dashboard</a:t>
            </a:r>
          </a:p>
        </p:txBody>
      </p:sp>
      <p:grpSp>
        <p:nvGrpSpPr>
          <p:cNvPr id="28" name="Group 28"/>
          <p:cNvGrpSpPr>
            <a:grpSpLocks noChangeAspect="1"/>
          </p:cNvGrpSpPr>
          <p:nvPr/>
        </p:nvGrpSpPr>
        <p:grpSpPr>
          <a:xfrm>
            <a:off x="12308404" y="3027151"/>
            <a:ext cx="4950896" cy="6446479"/>
            <a:chOff x="0" y="0"/>
            <a:chExt cx="14630400" cy="19050000"/>
          </a:xfrm>
        </p:grpSpPr>
        <p:sp>
          <p:nvSpPr>
            <p:cNvPr id="29" name="Freeform 29"/>
            <p:cNvSpPr/>
            <p:nvPr/>
          </p:nvSpPr>
          <p:spPr>
            <a:xfrm>
              <a:off x="604520" y="545084"/>
              <a:ext cx="13421360" cy="17959831"/>
            </a:xfrm>
            <a:custGeom>
              <a:avLst/>
              <a:gdLst/>
              <a:ahLst/>
              <a:cxnLst/>
              <a:rect l="l" t="t" r="r" b="b"/>
              <a:pathLst>
                <a:path w="13421360" h="17959831">
                  <a:moveTo>
                    <a:pt x="13421360" y="17959831"/>
                  </a:moveTo>
                  <a:lnTo>
                    <a:pt x="0" y="17959831"/>
                  </a:lnTo>
                  <a:lnTo>
                    <a:pt x="0" y="0"/>
                  </a:lnTo>
                  <a:lnTo>
                    <a:pt x="13421360" y="0"/>
                  </a:lnTo>
                  <a:lnTo>
                    <a:pt x="13421360" y="17959831"/>
                  </a:lnTo>
                  <a:close/>
                </a:path>
              </a:pathLst>
            </a:custGeom>
            <a:blipFill>
              <a:blip r:embed="rId10"/>
              <a:stretch>
                <a:fillRect t="-2068" b="-9571"/>
              </a:stretch>
            </a:blipFill>
          </p:spPr>
          <p:txBody>
            <a:bodyPr/>
            <a:lstStyle/>
            <a:p>
              <a:endParaRPr lang="ar-EG"/>
            </a:p>
          </p:txBody>
        </p:sp>
        <p:sp>
          <p:nvSpPr>
            <p:cNvPr id="30" name="Freeform 30"/>
            <p:cNvSpPr/>
            <p:nvPr/>
          </p:nvSpPr>
          <p:spPr>
            <a:xfrm>
              <a:off x="0" y="0"/>
              <a:ext cx="14630400" cy="19050000"/>
            </a:xfrm>
            <a:custGeom>
              <a:avLst/>
              <a:gdLst/>
              <a:ahLst/>
              <a:cxnLst/>
              <a:rect l="l" t="t" r="r" b="b"/>
              <a:pathLst>
                <a:path w="14630400" h="19050000">
                  <a:moveTo>
                    <a:pt x="14630400" y="19050000"/>
                  </a:moveTo>
                  <a:lnTo>
                    <a:pt x="0" y="19050000"/>
                  </a:lnTo>
                  <a:lnTo>
                    <a:pt x="0" y="0"/>
                  </a:lnTo>
                  <a:lnTo>
                    <a:pt x="14630400" y="0"/>
                  </a:lnTo>
                  <a:lnTo>
                    <a:pt x="14630400" y="19050000"/>
                  </a:lnTo>
                  <a:close/>
                </a:path>
              </a:pathLst>
            </a:custGeom>
            <a:blipFill>
              <a:blip r:embed="rId11"/>
              <a:stretch>
                <a:fillRect t="-32" b="-32"/>
              </a:stretch>
            </a:blipFill>
          </p:spPr>
          <p:txBody>
            <a:bodyPr/>
            <a:lstStyle/>
            <a:p>
              <a:endParaRPr lang="ar-EG"/>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D05F6D71-12A0-DD3B-5467-802FE4968CD5}"/>
              </a:ext>
            </a:extLst>
          </p:cNvPr>
          <p:cNvSpPr/>
          <p:nvPr/>
        </p:nvSpPr>
        <p:spPr>
          <a:xfrm>
            <a:off x="8642897" y="2366785"/>
            <a:ext cx="3086100" cy="30008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a:grpSpLocks noChangeAspect="1"/>
          </p:cNvGrpSpPr>
          <p:nvPr/>
        </p:nvGrpSpPr>
        <p:grpSpPr>
          <a:xfrm>
            <a:off x="14304108" y="3186034"/>
            <a:ext cx="3054519" cy="6337176"/>
            <a:chOff x="0" y="0"/>
            <a:chExt cx="9182100" cy="19050000"/>
          </a:xfrm>
        </p:grpSpPr>
        <p:sp>
          <p:nvSpPr>
            <p:cNvPr id="13" name="Freeform 13"/>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6"/>
              <a:stretch>
                <a:fillRect t="-1559" b="-1559"/>
              </a:stretch>
            </a:blipFill>
          </p:spPr>
          <p:txBody>
            <a:bodyPr/>
            <a:lstStyle/>
            <a:p>
              <a:endParaRPr lang="ar-EG"/>
            </a:p>
          </p:txBody>
        </p:sp>
        <p:sp>
          <p:nvSpPr>
            <p:cNvPr id="14" name="Freeform 14"/>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grpSp>
        <p:nvGrpSpPr>
          <p:cNvPr id="15" name="Group 15"/>
          <p:cNvGrpSpPr>
            <a:grpSpLocks noChangeAspect="1"/>
          </p:cNvGrpSpPr>
          <p:nvPr/>
        </p:nvGrpSpPr>
        <p:grpSpPr>
          <a:xfrm>
            <a:off x="10983336" y="3176509"/>
            <a:ext cx="3063701" cy="6356226"/>
            <a:chOff x="0" y="0"/>
            <a:chExt cx="9182100" cy="19050000"/>
          </a:xfrm>
        </p:grpSpPr>
        <p:sp>
          <p:nvSpPr>
            <p:cNvPr id="16" name="Freeform 16"/>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8"/>
              <a:stretch>
                <a:fillRect t="-1559" b="-1559"/>
              </a:stretch>
            </a:blipFill>
          </p:spPr>
          <p:txBody>
            <a:bodyPr/>
            <a:lstStyle/>
            <a:p>
              <a:endParaRPr lang="ar-EG"/>
            </a:p>
          </p:txBody>
        </p:sp>
        <p:sp>
          <p:nvSpPr>
            <p:cNvPr id="17" name="Freeform 17"/>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grpSp>
        <p:nvGrpSpPr>
          <p:cNvPr id="18" name="Group 18"/>
          <p:cNvGrpSpPr>
            <a:grpSpLocks noChangeAspect="1"/>
          </p:cNvGrpSpPr>
          <p:nvPr/>
        </p:nvGrpSpPr>
        <p:grpSpPr>
          <a:xfrm>
            <a:off x="7665124" y="3179164"/>
            <a:ext cx="3061141" cy="6350915"/>
            <a:chOff x="0" y="0"/>
            <a:chExt cx="9182100" cy="19050000"/>
          </a:xfrm>
        </p:grpSpPr>
        <p:sp>
          <p:nvSpPr>
            <p:cNvPr id="19" name="Freeform 19"/>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9"/>
              <a:stretch>
                <a:fillRect t="-1559" b="-1559"/>
              </a:stretch>
            </a:blipFill>
          </p:spPr>
          <p:txBody>
            <a:bodyPr/>
            <a:lstStyle/>
            <a:p>
              <a:endParaRPr lang="ar-EG"/>
            </a:p>
          </p:txBody>
        </p:sp>
        <p:sp>
          <p:nvSpPr>
            <p:cNvPr id="20" name="Freeform 20"/>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grpSp>
        <p:nvGrpSpPr>
          <p:cNvPr id="21" name="Group 21"/>
          <p:cNvGrpSpPr>
            <a:grpSpLocks noChangeAspect="1"/>
          </p:cNvGrpSpPr>
          <p:nvPr/>
        </p:nvGrpSpPr>
        <p:grpSpPr>
          <a:xfrm>
            <a:off x="1028700" y="3179164"/>
            <a:ext cx="3061141" cy="6350915"/>
            <a:chOff x="0" y="0"/>
            <a:chExt cx="9182100" cy="19050000"/>
          </a:xfrm>
        </p:grpSpPr>
        <p:sp>
          <p:nvSpPr>
            <p:cNvPr id="22" name="Freeform 22"/>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10"/>
              <a:stretch>
                <a:fillRect t="-1559" b="-1559"/>
              </a:stretch>
            </a:blipFill>
          </p:spPr>
          <p:txBody>
            <a:bodyPr/>
            <a:lstStyle/>
            <a:p>
              <a:endParaRPr lang="ar-EG"/>
            </a:p>
          </p:txBody>
        </p:sp>
        <p:sp>
          <p:nvSpPr>
            <p:cNvPr id="23" name="Freeform 23"/>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grpSp>
        <p:nvGrpSpPr>
          <p:cNvPr id="24" name="Group 24"/>
          <p:cNvGrpSpPr>
            <a:grpSpLocks noChangeAspect="1"/>
          </p:cNvGrpSpPr>
          <p:nvPr/>
        </p:nvGrpSpPr>
        <p:grpSpPr>
          <a:xfrm>
            <a:off x="4346912" y="3179164"/>
            <a:ext cx="3061141" cy="6350915"/>
            <a:chOff x="0" y="0"/>
            <a:chExt cx="9182100" cy="19050000"/>
          </a:xfrm>
        </p:grpSpPr>
        <p:sp>
          <p:nvSpPr>
            <p:cNvPr id="25" name="Freeform 25"/>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11"/>
              <a:stretch>
                <a:fillRect t="-1559" b="-1559"/>
              </a:stretch>
            </a:blipFill>
          </p:spPr>
          <p:txBody>
            <a:bodyPr/>
            <a:lstStyle/>
            <a:p>
              <a:endParaRPr lang="ar-EG"/>
            </a:p>
          </p:txBody>
        </p:sp>
        <p:sp>
          <p:nvSpPr>
            <p:cNvPr id="26" name="Freeform 26"/>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7"/>
              <a:stretch>
                <a:fillRect t="-208" b="-208"/>
              </a:stretch>
            </a:blipFill>
          </p:spPr>
          <p:txBody>
            <a:bodyPr/>
            <a:lstStyle/>
            <a:p>
              <a:endParaRPr lang="ar-EG"/>
            </a:p>
          </p:txBody>
        </p:sp>
      </p:grpSp>
      <p:sp>
        <p:nvSpPr>
          <p:cNvPr id="27" name="TextBox 27"/>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8" name="TextBox 28"/>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9" name="TextBox 29"/>
          <p:cNvSpPr txBox="1"/>
          <p:nvPr/>
        </p:nvSpPr>
        <p:spPr>
          <a:xfrm>
            <a:off x="9671596"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4</a:t>
            </a:r>
          </a:p>
        </p:txBody>
      </p:sp>
      <p:sp>
        <p:nvSpPr>
          <p:cNvPr id="30" name="TextBox 30"/>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31" name="TextBox 31"/>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32" name="TextBox 32"/>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33" name="TextBox 33"/>
          <p:cNvSpPr txBox="1"/>
          <p:nvPr/>
        </p:nvSpPr>
        <p:spPr>
          <a:xfrm>
            <a:off x="8803569" y="2366785"/>
            <a:ext cx="2659850"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Power BI Dashboard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a:extLst>
            <a:ext uri="{FF2B5EF4-FFF2-40B4-BE49-F238E27FC236}">
              <a16:creationId xmlns:a16="http://schemas.microsoft.com/office/drawing/2014/main" id="{E6FA7AE4-6642-16F7-D75B-5E4F34EF8D3A}"/>
            </a:ext>
          </a:extLst>
        </p:cNvPr>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71D0EE71-0A1D-242E-443B-30A8CE1D2B4B}"/>
              </a:ext>
            </a:extLst>
          </p:cNvPr>
          <p:cNvSpPr/>
          <p:nvPr/>
        </p:nvSpPr>
        <p:spPr>
          <a:xfrm>
            <a:off x="8642897" y="2366785"/>
            <a:ext cx="3086100" cy="30008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grpSp>
        <p:nvGrpSpPr>
          <p:cNvPr id="2" name="Group 2">
            <a:extLst>
              <a:ext uri="{FF2B5EF4-FFF2-40B4-BE49-F238E27FC236}">
                <a16:creationId xmlns:a16="http://schemas.microsoft.com/office/drawing/2014/main" id="{BA0AF40B-5743-CCDC-392E-45C29AE66AC1}"/>
              </a:ext>
            </a:extLst>
          </p:cNvPr>
          <p:cNvGrpSpPr/>
          <p:nvPr/>
        </p:nvGrpSpPr>
        <p:grpSpPr>
          <a:xfrm>
            <a:off x="-182585" y="184622"/>
            <a:ext cx="18470585" cy="1695460"/>
            <a:chOff x="0" y="0"/>
            <a:chExt cx="24627447" cy="2260613"/>
          </a:xfrm>
        </p:grpSpPr>
        <p:sp>
          <p:nvSpPr>
            <p:cNvPr id="3" name="AutoShape 3">
              <a:extLst>
                <a:ext uri="{FF2B5EF4-FFF2-40B4-BE49-F238E27FC236}">
                  <a16:creationId xmlns:a16="http://schemas.microsoft.com/office/drawing/2014/main" id="{3A15ECF1-230A-7BBD-0E11-3F544E57F3CF}"/>
                </a:ext>
              </a:extLst>
            </p:cNvPr>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a:extLst>
                <a:ext uri="{FF2B5EF4-FFF2-40B4-BE49-F238E27FC236}">
                  <a16:creationId xmlns:a16="http://schemas.microsoft.com/office/drawing/2014/main" id="{9126846B-CBFA-6795-82AA-0E20ADC0E35F}"/>
                </a:ext>
              </a:extLst>
            </p:cNvPr>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a:extLst>
                <a:ext uri="{FF2B5EF4-FFF2-40B4-BE49-F238E27FC236}">
                  <a16:creationId xmlns:a16="http://schemas.microsoft.com/office/drawing/2014/main" id="{B169A8BF-33DE-AC45-925E-C95FEFB4DF4F}"/>
                </a:ext>
              </a:extLst>
            </p:cNvPr>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a:extLst>
                <a:ext uri="{FF2B5EF4-FFF2-40B4-BE49-F238E27FC236}">
                  <a16:creationId xmlns:a16="http://schemas.microsoft.com/office/drawing/2014/main" id="{1A3B49EB-0B7A-5E9C-A166-AB3B26422104}"/>
                </a:ext>
              </a:extLst>
            </p:cNvPr>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a:extLst>
                <a:ext uri="{FF2B5EF4-FFF2-40B4-BE49-F238E27FC236}">
                  <a16:creationId xmlns:a16="http://schemas.microsoft.com/office/drawing/2014/main" id="{503840FF-CCC8-6717-07F5-59797C7E7BB6}"/>
                </a:ext>
              </a:extLst>
            </p:cNvPr>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a:extLst>
              <a:ext uri="{FF2B5EF4-FFF2-40B4-BE49-F238E27FC236}">
                <a16:creationId xmlns:a16="http://schemas.microsoft.com/office/drawing/2014/main" id="{F1138121-7683-5130-487E-0740EBFD29A5}"/>
              </a:ext>
            </a:extLst>
          </p:cNvPr>
          <p:cNvGrpSpPr/>
          <p:nvPr/>
        </p:nvGrpSpPr>
        <p:grpSpPr>
          <a:xfrm>
            <a:off x="-19400" y="9909136"/>
            <a:ext cx="18470585" cy="221262"/>
            <a:chOff x="0" y="0"/>
            <a:chExt cx="24627447" cy="295016"/>
          </a:xfrm>
        </p:grpSpPr>
        <p:sp>
          <p:nvSpPr>
            <p:cNvPr id="9" name="AutoShape 9">
              <a:extLst>
                <a:ext uri="{FF2B5EF4-FFF2-40B4-BE49-F238E27FC236}">
                  <a16:creationId xmlns:a16="http://schemas.microsoft.com/office/drawing/2014/main" id="{6AAAB4C8-E2AB-8E9C-79BB-EE890A2D88CD}"/>
                </a:ext>
              </a:extLst>
            </p:cNvPr>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a:extLst>
                <a:ext uri="{FF2B5EF4-FFF2-40B4-BE49-F238E27FC236}">
                  <a16:creationId xmlns:a16="http://schemas.microsoft.com/office/drawing/2014/main" id="{2A324848-8E94-38BF-D071-CF06591C882A}"/>
                </a:ext>
              </a:extLst>
            </p:cNvPr>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a:extLst>
              <a:ext uri="{FF2B5EF4-FFF2-40B4-BE49-F238E27FC236}">
                <a16:creationId xmlns:a16="http://schemas.microsoft.com/office/drawing/2014/main" id="{B94A3DC5-43C3-E872-7B09-8A826CC99458}"/>
              </a:ext>
            </a:extLst>
          </p:cNvPr>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21" name="TextBox 21">
            <a:extLst>
              <a:ext uri="{FF2B5EF4-FFF2-40B4-BE49-F238E27FC236}">
                <a16:creationId xmlns:a16="http://schemas.microsoft.com/office/drawing/2014/main" id="{EFE6F0E1-C6B2-DD19-7C0A-DA40469EADBE}"/>
              </a:ext>
            </a:extLst>
          </p:cNvPr>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2" name="TextBox 22">
            <a:extLst>
              <a:ext uri="{FF2B5EF4-FFF2-40B4-BE49-F238E27FC236}">
                <a16:creationId xmlns:a16="http://schemas.microsoft.com/office/drawing/2014/main" id="{97E44E69-3391-BD33-9A31-ABA599380890}"/>
              </a:ext>
            </a:extLst>
          </p:cNvPr>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3" name="TextBox 23">
            <a:extLst>
              <a:ext uri="{FF2B5EF4-FFF2-40B4-BE49-F238E27FC236}">
                <a16:creationId xmlns:a16="http://schemas.microsoft.com/office/drawing/2014/main" id="{26907694-6715-0F36-9F46-902878A5727C}"/>
              </a:ext>
            </a:extLst>
          </p:cNvPr>
          <p:cNvSpPr txBox="1"/>
          <p:nvPr/>
        </p:nvSpPr>
        <p:spPr>
          <a:xfrm>
            <a:off x="9671596"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4</a:t>
            </a:r>
          </a:p>
        </p:txBody>
      </p:sp>
      <p:sp>
        <p:nvSpPr>
          <p:cNvPr id="24" name="TextBox 24">
            <a:extLst>
              <a:ext uri="{FF2B5EF4-FFF2-40B4-BE49-F238E27FC236}">
                <a16:creationId xmlns:a16="http://schemas.microsoft.com/office/drawing/2014/main" id="{116487E2-DEC9-A71F-BE17-C92B75FE5142}"/>
              </a:ext>
            </a:extLst>
          </p:cNvPr>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25" name="TextBox 25">
            <a:extLst>
              <a:ext uri="{FF2B5EF4-FFF2-40B4-BE49-F238E27FC236}">
                <a16:creationId xmlns:a16="http://schemas.microsoft.com/office/drawing/2014/main" id="{62902319-F7FD-C9D2-75A7-04EB06824892}"/>
              </a:ext>
            </a:extLst>
          </p:cNvPr>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26" name="TextBox 26">
            <a:extLst>
              <a:ext uri="{FF2B5EF4-FFF2-40B4-BE49-F238E27FC236}">
                <a16:creationId xmlns:a16="http://schemas.microsoft.com/office/drawing/2014/main" id="{7377681E-85BF-8C01-5BC0-F5E447177EF2}"/>
              </a:ext>
            </a:extLst>
          </p:cNvPr>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27" name="TextBox 27">
            <a:extLst>
              <a:ext uri="{FF2B5EF4-FFF2-40B4-BE49-F238E27FC236}">
                <a16:creationId xmlns:a16="http://schemas.microsoft.com/office/drawing/2014/main" id="{95BB2FDE-F6A9-C62B-B7F5-183AB3414A1D}"/>
              </a:ext>
            </a:extLst>
          </p:cNvPr>
          <p:cNvSpPr txBox="1"/>
          <p:nvPr/>
        </p:nvSpPr>
        <p:spPr>
          <a:xfrm>
            <a:off x="8803569" y="2366785"/>
            <a:ext cx="2659850"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Power BI Dashboard</a:t>
            </a:r>
          </a:p>
        </p:txBody>
      </p:sp>
      <p:grpSp>
        <p:nvGrpSpPr>
          <p:cNvPr id="48" name="Group 8">
            <a:extLst>
              <a:ext uri="{FF2B5EF4-FFF2-40B4-BE49-F238E27FC236}">
                <a16:creationId xmlns:a16="http://schemas.microsoft.com/office/drawing/2014/main" id="{80E02215-C745-A426-CD7E-CA6259BCDB25}"/>
              </a:ext>
            </a:extLst>
          </p:cNvPr>
          <p:cNvGrpSpPr/>
          <p:nvPr/>
        </p:nvGrpSpPr>
        <p:grpSpPr>
          <a:xfrm>
            <a:off x="0" y="9848812"/>
            <a:ext cx="18470585" cy="221262"/>
            <a:chOff x="0" y="0"/>
            <a:chExt cx="24627447" cy="295016"/>
          </a:xfrm>
        </p:grpSpPr>
        <p:sp>
          <p:nvSpPr>
            <p:cNvPr id="49" name="AutoShape 9">
              <a:extLst>
                <a:ext uri="{FF2B5EF4-FFF2-40B4-BE49-F238E27FC236}">
                  <a16:creationId xmlns:a16="http://schemas.microsoft.com/office/drawing/2014/main" id="{F4BACC35-F9BF-061A-F15F-71FA01A7A9E5}"/>
                </a:ext>
              </a:extLst>
            </p:cNvPr>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50" name="AutoShape 10">
              <a:extLst>
                <a:ext uri="{FF2B5EF4-FFF2-40B4-BE49-F238E27FC236}">
                  <a16:creationId xmlns:a16="http://schemas.microsoft.com/office/drawing/2014/main" id="{EF34896A-2B47-2ABD-A781-7B50CA790039}"/>
                </a:ext>
              </a:extLst>
            </p:cNvPr>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grpSp>
        <p:nvGrpSpPr>
          <p:cNvPr id="100" name="Group 99">
            <a:extLst>
              <a:ext uri="{FF2B5EF4-FFF2-40B4-BE49-F238E27FC236}">
                <a16:creationId xmlns:a16="http://schemas.microsoft.com/office/drawing/2014/main" id="{75A393DF-4FD5-F9B3-00C8-C70D14CC3CFF}"/>
              </a:ext>
            </a:extLst>
          </p:cNvPr>
          <p:cNvGrpSpPr/>
          <p:nvPr/>
        </p:nvGrpSpPr>
        <p:grpSpPr>
          <a:xfrm>
            <a:off x="685800" y="3562791"/>
            <a:ext cx="5103273" cy="6037663"/>
            <a:chOff x="685800" y="3562791"/>
            <a:chExt cx="5103273" cy="6037663"/>
          </a:xfrm>
        </p:grpSpPr>
        <p:sp>
          <p:nvSpPr>
            <p:cNvPr id="60" name="Shape 2">
              <a:extLst>
                <a:ext uri="{FF2B5EF4-FFF2-40B4-BE49-F238E27FC236}">
                  <a16:creationId xmlns:a16="http://schemas.microsoft.com/office/drawing/2014/main" id="{E40201BF-0FC0-94E6-3AD1-5BDF10F22D15}"/>
                </a:ext>
              </a:extLst>
            </p:cNvPr>
            <p:cNvSpPr/>
            <p:nvPr/>
          </p:nvSpPr>
          <p:spPr>
            <a:xfrm>
              <a:off x="685800" y="3562791"/>
              <a:ext cx="5103273" cy="6037663"/>
            </a:xfrm>
            <a:prstGeom prst="roundRect">
              <a:avLst>
                <a:gd name="adj" fmla="val 2099"/>
              </a:avLst>
            </a:prstGeom>
            <a:solidFill>
              <a:srgbClr val="135A5C"/>
            </a:solidFill>
            <a:ln/>
            <a:effectLst>
              <a:outerShdw blurRad="101600" dist="38100" dir="5400000" algn="bl" rotWithShape="0">
                <a:srgbClr val="000000">
                  <a:alpha val="12000"/>
                </a:srgbClr>
              </a:outerShdw>
            </a:effectLst>
          </p:spPr>
          <p:txBody>
            <a:bodyPr/>
            <a:lstStyle/>
            <a:p>
              <a:endParaRPr lang="ar-EG" dirty="0"/>
            </a:p>
          </p:txBody>
        </p:sp>
        <p:sp>
          <p:nvSpPr>
            <p:cNvPr id="61" name="Shape 3">
              <a:extLst>
                <a:ext uri="{FF2B5EF4-FFF2-40B4-BE49-F238E27FC236}">
                  <a16:creationId xmlns:a16="http://schemas.microsoft.com/office/drawing/2014/main" id="{91924D8D-0B0D-1F5F-ED7C-911AB9E86872}"/>
                </a:ext>
              </a:extLst>
            </p:cNvPr>
            <p:cNvSpPr/>
            <p:nvPr/>
          </p:nvSpPr>
          <p:spPr>
            <a:xfrm>
              <a:off x="2802232" y="3904546"/>
              <a:ext cx="870409" cy="740468"/>
            </a:xfrm>
            <a:prstGeom prst="ellipse">
              <a:avLst/>
            </a:prstGeom>
            <a:solidFill>
              <a:srgbClr val="F7F2DE"/>
            </a:solidFill>
            <a:ln/>
          </p:spPr>
          <p:txBody>
            <a:bodyPr/>
            <a:lstStyle/>
            <a:p>
              <a:endParaRPr lang="ar-EG"/>
            </a:p>
          </p:txBody>
        </p:sp>
        <p:pic>
          <p:nvPicPr>
            <p:cNvPr id="62" name="Image 0" descr="preencoded.png">
              <a:extLst>
                <a:ext uri="{FF2B5EF4-FFF2-40B4-BE49-F238E27FC236}">
                  <a16:creationId xmlns:a16="http://schemas.microsoft.com/office/drawing/2014/main" id="{59A524F7-3F22-6B5B-B32D-76C872396EF8}"/>
                </a:ext>
              </a:extLst>
            </p:cNvPr>
            <p:cNvPicPr>
              <a:picLocks noChangeAspect="1"/>
            </p:cNvPicPr>
            <p:nvPr/>
          </p:nvPicPr>
          <p:blipFill>
            <a:blip r:embed="rId6">
              <a:duotone>
                <a:prstClr val="black"/>
                <a:srgbClr val="135A5C">
                  <a:tint val="45000"/>
                  <a:satMod val="400000"/>
                </a:srgbClr>
              </a:duotone>
              <a:alphaModFix/>
              <a:extLst>
                <a:ext uri="{BEBA8EAE-BF5A-486C-A8C5-ECC9F3942E4B}">
                  <a14:imgProps xmlns:a14="http://schemas.microsoft.com/office/drawing/2010/main">
                    <a14:imgLayer r:embed="rId7">
                      <a14:imgEffect>
                        <a14:artisticGlowEdges/>
                      </a14:imgEffect>
                    </a14:imgLayer>
                  </a14:imgProps>
                </a:ext>
              </a:extLst>
            </a:blip>
            <a:stretch>
              <a:fillRect/>
            </a:stretch>
          </p:blipFill>
          <p:spPr>
            <a:xfrm>
              <a:off x="2996400" y="4069727"/>
              <a:ext cx="482073" cy="410105"/>
            </a:xfrm>
            <a:prstGeom prst="rect">
              <a:avLst/>
            </a:prstGeom>
          </p:spPr>
        </p:pic>
        <p:sp>
          <p:nvSpPr>
            <p:cNvPr id="95" name="Rectangle: Rounded Corners 94">
              <a:extLst>
                <a:ext uri="{FF2B5EF4-FFF2-40B4-BE49-F238E27FC236}">
                  <a16:creationId xmlns:a16="http://schemas.microsoft.com/office/drawing/2014/main" id="{1D950FEE-6038-DAD7-44B7-1732A620B891}"/>
                </a:ext>
              </a:extLst>
            </p:cNvPr>
            <p:cNvSpPr/>
            <p:nvPr/>
          </p:nvSpPr>
          <p:spPr>
            <a:xfrm>
              <a:off x="1828800" y="4810195"/>
              <a:ext cx="2909846" cy="401046"/>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63" name="Text 4">
              <a:extLst>
                <a:ext uri="{FF2B5EF4-FFF2-40B4-BE49-F238E27FC236}">
                  <a16:creationId xmlns:a16="http://schemas.microsoft.com/office/drawing/2014/main" id="{36BCB0E6-B01D-B84E-FFFA-28327805B836}"/>
                </a:ext>
              </a:extLst>
            </p:cNvPr>
            <p:cNvSpPr/>
            <p:nvPr/>
          </p:nvSpPr>
          <p:spPr>
            <a:xfrm>
              <a:off x="932950" y="4741695"/>
              <a:ext cx="4701546" cy="512632"/>
            </a:xfrm>
            <a:prstGeom prst="rect">
              <a:avLst/>
            </a:prstGeom>
            <a:noFill/>
            <a:ln/>
          </p:spPr>
          <p:txBody>
            <a:bodyPr wrap="square" lIns="0" tIns="0" rIns="0" bIns="0" rtlCol="0" anchor="ctr"/>
            <a:lstStyle/>
            <a:p>
              <a:pPr marL="0" indent="0" algn="ctr">
                <a:buNone/>
              </a:pPr>
              <a:r>
                <a:rPr lang="en-US" sz="2400" b="1" kern="0" spc="100" dirty="0">
                  <a:solidFill>
                    <a:srgbClr val="F7F2DE"/>
                  </a:solidFill>
                  <a:latin typeface="Calibri" pitchFamily="34" charset="0"/>
                  <a:ea typeface="Calibri" pitchFamily="34" charset="-122"/>
                  <a:cs typeface="Calibri" pitchFamily="34" charset="-120"/>
                </a:rPr>
                <a:t>MARKET OVERVIEW</a:t>
              </a:r>
              <a:endParaRPr lang="en-US" sz="2400" dirty="0">
                <a:solidFill>
                  <a:srgbClr val="F7F2DE"/>
                </a:solidFill>
              </a:endParaRPr>
            </a:p>
          </p:txBody>
        </p:sp>
        <p:sp>
          <p:nvSpPr>
            <p:cNvPr id="64" name="Text 5">
              <a:extLst>
                <a:ext uri="{FF2B5EF4-FFF2-40B4-BE49-F238E27FC236}">
                  <a16:creationId xmlns:a16="http://schemas.microsoft.com/office/drawing/2014/main" id="{E5A47EED-24A5-73EB-487B-F028ED4BFAE3}"/>
                </a:ext>
              </a:extLst>
            </p:cNvPr>
            <p:cNvSpPr/>
            <p:nvPr/>
          </p:nvSpPr>
          <p:spPr>
            <a:xfrm>
              <a:off x="886664" y="5271564"/>
              <a:ext cx="4701546" cy="797427"/>
            </a:xfrm>
            <a:prstGeom prst="rect">
              <a:avLst/>
            </a:prstGeom>
            <a:noFill/>
            <a:ln/>
          </p:spPr>
          <p:txBody>
            <a:bodyPr wrap="square" lIns="0" tIns="0" rIns="0" bIns="0" rtlCol="0" anchor="ctr"/>
            <a:lstStyle/>
            <a:p>
              <a:pPr marL="0" indent="0" algn="ctr">
                <a:buNone/>
              </a:pPr>
              <a:r>
                <a:rPr lang="en-US" sz="4400" b="1" dirty="0">
                  <a:solidFill>
                    <a:srgbClr val="C9952E"/>
                  </a:solidFill>
                  <a:latin typeface="Cambria" pitchFamily="34" charset="0"/>
                  <a:ea typeface="Cambria" pitchFamily="34" charset="-122"/>
                  <a:cs typeface="Cambria" pitchFamily="34" charset="-120"/>
                </a:rPr>
                <a:t>308K</a:t>
              </a:r>
              <a:endParaRPr lang="en-US" sz="4400" dirty="0"/>
            </a:p>
          </p:txBody>
        </p:sp>
        <p:sp>
          <p:nvSpPr>
            <p:cNvPr id="65" name="Text 6">
              <a:extLst>
                <a:ext uri="{FF2B5EF4-FFF2-40B4-BE49-F238E27FC236}">
                  <a16:creationId xmlns:a16="http://schemas.microsoft.com/office/drawing/2014/main" id="{9F5FE295-8BA0-176B-251F-139118F1E264}"/>
                </a:ext>
              </a:extLst>
            </p:cNvPr>
            <p:cNvSpPr/>
            <p:nvPr/>
          </p:nvSpPr>
          <p:spPr>
            <a:xfrm>
              <a:off x="1087527" y="6068991"/>
              <a:ext cx="4299819" cy="398714"/>
            </a:xfrm>
            <a:prstGeom prst="rect">
              <a:avLst/>
            </a:prstGeom>
            <a:noFill/>
            <a:ln/>
          </p:spPr>
          <p:txBody>
            <a:bodyPr wrap="square" lIns="0" tIns="0" rIns="0" bIns="0" rtlCol="0" anchor="ctr"/>
            <a:lstStyle/>
            <a:p>
              <a:pPr marL="0" indent="0" algn="ctr">
                <a:buNone/>
              </a:pPr>
              <a:r>
                <a:rPr lang="en-US" b="1" i="1" dirty="0">
                  <a:solidFill>
                    <a:srgbClr val="F7F2DE"/>
                  </a:solidFill>
                  <a:latin typeface="Calibri" pitchFamily="34" charset="0"/>
                  <a:ea typeface="Calibri" pitchFamily="34" charset="-122"/>
                  <a:cs typeface="Calibri" pitchFamily="34" charset="-120"/>
                </a:rPr>
                <a:t>active listings nationwide</a:t>
              </a:r>
              <a:endParaRPr lang="en-US" b="1" dirty="0">
                <a:solidFill>
                  <a:srgbClr val="F7F2DE"/>
                </a:solidFill>
              </a:endParaRPr>
            </a:p>
          </p:txBody>
        </p:sp>
        <p:sp>
          <p:nvSpPr>
            <p:cNvPr id="66" name="Text 7">
              <a:extLst>
                <a:ext uri="{FF2B5EF4-FFF2-40B4-BE49-F238E27FC236}">
                  <a16:creationId xmlns:a16="http://schemas.microsoft.com/office/drawing/2014/main" id="{CFEDF72F-524E-37C4-4156-097B2EC7BB42}"/>
                </a:ext>
              </a:extLst>
            </p:cNvPr>
            <p:cNvSpPr/>
            <p:nvPr/>
          </p:nvSpPr>
          <p:spPr>
            <a:xfrm>
              <a:off x="1087527" y="6581623"/>
              <a:ext cx="4299819" cy="2677077"/>
            </a:xfrm>
            <a:prstGeom prst="rect">
              <a:avLst/>
            </a:prstGeom>
            <a:noFill/>
            <a:ln/>
          </p:spPr>
          <p:txBody>
            <a:bodyPr wrap="square" rtlCol="0" anchor="t"/>
            <a:lstStyle/>
            <a:p>
              <a:pPr marL="177800" indent="-177800" algn="l">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Prices span 1 SAR to 4M SAR — a vast, highly fragmented market</a:t>
              </a:r>
              <a:endParaRPr lang="en-US" dirty="0">
                <a:solidFill>
                  <a:srgbClr val="F7F2DE"/>
                </a:solidFill>
              </a:endParaRPr>
            </a:p>
            <a:p>
              <a:pPr marL="177800" indent="-177800" algn="l">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Villas dominate at 60.84% of listings — a deeply family-centric market</a:t>
              </a:r>
              <a:endParaRPr lang="en-US" dirty="0">
                <a:solidFill>
                  <a:srgbClr val="F7F2DE"/>
                </a:solidFill>
              </a:endParaRPr>
            </a:p>
            <a:p>
              <a:pPr marL="177800" indent="-177800" algn="l">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Avg 5,044 SAR/sqm reflects demand concentrated near the capital and religious cities</a:t>
              </a:r>
              <a:endParaRPr lang="en-US" dirty="0">
                <a:solidFill>
                  <a:srgbClr val="F7F2DE"/>
                </a:solidFill>
              </a:endParaRPr>
            </a:p>
          </p:txBody>
        </p:sp>
      </p:grpSp>
      <p:grpSp>
        <p:nvGrpSpPr>
          <p:cNvPr id="101" name="Group 100">
            <a:extLst>
              <a:ext uri="{FF2B5EF4-FFF2-40B4-BE49-F238E27FC236}">
                <a16:creationId xmlns:a16="http://schemas.microsoft.com/office/drawing/2014/main" id="{40D7D184-B481-21D7-7155-D698FF77316D}"/>
              </a:ext>
            </a:extLst>
          </p:cNvPr>
          <p:cNvGrpSpPr/>
          <p:nvPr/>
        </p:nvGrpSpPr>
        <p:grpSpPr>
          <a:xfrm>
            <a:off x="6575717" y="3532333"/>
            <a:ext cx="5100322" cy="6023470"/>
            <a:chOff x="6575717" y="3532333"/>
            <a:chExt cx="5100322" cy="6023470"/>
          </a:xfrm>
        </p:grpSpPr>
        <p:sp>
          <p:nvSpPr>
            <p:cNvPr id="68" name="Shape 8">
              <a:extLst>
                <a:ext uri="{FF2B5EF4-FFF2-40B4-BE49-F238E27FC236}">
                  <a16:creationId xmlns:a16="http://schemas.microsoft.com/office/drawing/2014/main" id="{A3CC0F6E-90FF-92A5-0B20-959DF02B6928}"/>
                </a:ext>
              </a:extLst>
            </p:cNvPr>
            <p:cNvSpPr/>
            <p:nvPr/>
          </p:nvSpPr>
          <p:spPr>
            <a:xfrm>
              <a:off x="6575717" y="3532333"/>
              <a:ext cx="5100322" cy="6023470"/>
            </a:xfrm>
            <a:prstGeom prst="roundRect">
              <a:avLst>
                <a:gd name="adj" fmla="val 2099"/>
              </a:avLst>
            </a:prstGeom>
            <a:solidFill>
              <a:srgbClr val="135A5C"/>
            </a:solidFill>
            <a:ln/>
            <a:effectLst>
              <a:outerShdw blurRad="101600" dist="38100" dir="5400000" algn="bl" rotWithShape="0">
                <a:srgbClr val="000000">
                  <a:alpha val="12000"/>
                </a:srgbClr>
              </a:outerShdw>
            </a:effectLst>
          </p:spPr>
          <p:txBody>
            <a:bodyPr/>
            <a:lstStyle/>
            <a:p>
              <a:endParaRPr lang="ar-EG" dirty="0"/>
            </a:p>
          </p:txBody>
        </p:sp>
        <p:sp>
          <p:nvSpPr>
            <p:cNvPr id="69" name="Shape 9">
              <a:extLst>
                <a:ext uri="{FF2B5EF4-FFF2-40B4-BE49-F238E27FC236}">
                  <a16:creationId xmlns:a16="http://schemas.microsoft.com/office/drawing/2014/main" id="{1105BCD0-C055-838F-E7AE-7B3B972A2E6C}"/>
                </a:ext>
              </a:extLst>
            </p:cNvPr>
            <p:cNvSpPr/>
            <p:nvPr/>
          </p:nvSpPr>
          <p:spPr>
            <a:xfrm>
              <a:off x="8690927" y="3873284"/>
              <a:ext cx="869905" cy="738727"/>
            </a:xfrm>
            <a:prstGeom prst="ellipse">
              <a:avLst/>
            </a:prstGeom>
            <a:solidFill>
              <a:srgbClr val="F7F2DE"/>
            </a:solidFill>
            <a:ln/>
          </p:spPr>
          <p:txBody>
            <a:bodyPr/>
            <a:lstStyle/>
            <a:p>
              <a:endParaRPr lang="ar-EG"/>
            </a:p>
          </p:txBody>
        </p:sp>
        <p:sp>
          <p:nvSpPr>
            <p:cNvPr id="97" name="Rectangle: Rounded Corners 96">
              <a:extLst>
                <a:ext uri="{FF2B5EF4-FFF2-40B4-BE49-F238E27FC236}">
                  <a16:creationId xmlns:a16="http://schemas.microsoft.com/office/drawing/2014/main" id="{2A5440FF-D5C6-4E58-54FC-FCBB39308AA8}"/>
                </a:ext>
              </a:extLst>
            </p:cNvPr>
            <p:cNvSpPr/>
            <p:nvPr/>
          </p:nvSpPr>
          <p:spPr>
            <a:xfrm>
              <a:off x="8013735" y="4776804"/>
              <a:ext cx="2287021" cy="399962"/>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pic>
          <p:nvPicPr>
            <p:cNvPr id="70" name="Image 1" descr="preencoded.png">
              <a:extLst>
                <a:ext uri="{FF2B5EF4-FFF2-40B4-BE49-F238E27FC236}">
                  <a16:creationId xmlns:a16="http://schemas.microsoft.com/office/drawing/2014/main" id="{A8DE90AA-42DD-5671-F4A8-3B279E3EB50E}"/>
                </a:ext>
              </a:extLst>
            </p:cNvPr>
            <p:cNvPicPr>
              <a:picLocks noChangeAspect="1"/>
            </p:cNvPicPr>
            <p:nvPr/>
          </p:nvPicPr>
          <p:blipFill>
            <a:blip r:embed="rId8">
              <a:alphaModFix/>
              <a:duotone>
                <a:prstClr val="black"/>
                <a:srgbClr val="135A5C">
                  <a:tint val="45000"/>
                  <a:satMod val="400000"/>
                </a:srgbClr>
              </a:duotone>
              <a:extLst>
                <a:ext uri="{BEBA8EAE-BF5A-486C-A8C5-ECC9F3942E4B}">
                  <a14:imgProps xmlns:a14="http://schemas.microsoft.com/office/drawing/2010/main">
                    <a14:imgLayer r:embed="rId9">
                      <a14:imgEffect>
                        <a14:artisticGlowEdges/>
                      </a14:imgEffect>
                    </a14:imgLayer>
                  </a14:imgProps>
                </a:ext>
              </a:extLst>
            </a:blip>
            <a:stretch>
              <a:fillRect/>
            </a:stretch>
          </p:blipFill>
          <p:spPr>
            <a:xfrm>
              <a:off x="8884983" y="4038077"/>
              <a:ext cx="481794" cy="409141"/>
            </a:xfrm>
            <a:prstGeom prst="rect">
              <a:avLst/>
            </a:prstGeom>
          </p:spPr>
        </p:pic>
        <p:sp>
          <p:nvSpPr>
            <p:cNvPr id="71" name="Text 10">
              <a:extLst>
                <a:ext uri="{FF2B5EF4-FFF2-40B4-BE49-F238E27FC236}">
                  <a16:creationId xmlns:a16="http://schemas.microsoft.com/office/drawing/2014/main" id="{F93225CE-ABCA-859F-4AF0-2280D763654F}"/>
                </a:ext>
              </a:extLst>
            </p:cNvPr>
            <p:cNvSpPr/>
            <p:nvPr/>
          </p:nvSpPr>
          <p:spPr>
            <a:xfrm>
              <a:off x="6776464" y="4725662"/>
              <a:ext cx="4698827" cy="511427"/>
            </a:xfrm>
            <a:prstGeom prst="rect">
              <a:avLst/>
            </a:prstGeom>
            <a:noFill/>
            <a:ln/>
          </p:spPr>
          <p:txBody>
            <a:bodyPr wrap="square" lIns="0" tIns="0" rIns="0" bIns="0" rtlCol="0" anchor="ctr"/>
            <a:lstStyle/>
            <a:p>
              <a:pPr algn="ctr"/>
              <a:r>
                <a:rPr lang="en-US" sz="2400" b="1" kern="0" spc="100" dirty="0">
                  <a:solidFill>
                    <a:srgbClr val="F7F2DE"/>
                  </a:solidFill>
                  <a:latin typeface="Calibri" pitchFamily="34" charset="0"/>
                  <a:ea typeface="Calibri" pitchFamily="34" charset="-122"/>
                  <a:cs typeface="Calibri" pitchFamily="34" charset="-120"/>
                </a:rPr>
                <a:t>PRICE DRIVERS</a:t>
              </a:r>
            </a:p>
          </p:txBody>
        </p:sp>
        <p:sp>
          <p:nvSpPr>
            <p:cNvPr id="72" name="Text 11">
              <a:extLst>
                <a:ext uri="{FF2B5EF4-FFF2-40B4-BE49-F238E27FC236}">
                  <a16:creationId xmlns:a16="http://schemas.microsoft.com/office/drawing/2014/main" id="{0A095558-6AB2-CB6A-7063-6DB812B126F1}"/>
                </a:ext>
              </a:extLst>
            </p:cNvPr>
            <p:cNvSpPr/>
            <p:nvPr/>
          </p:nvSpPr>
          <p:spPr>
            <a:xfrm>
              <a:off x="6776464" y="5237089"/>
              <a:ext cx="4698827" cy="795553"/>
            </a:xfrm>
            <a:prstGeom prst="rect">
              <a:avLst/>
            </a:prstGeom>
            <a:noFill/>
            <a:ln/>
          </p:spPr>
          <p:txBody>
            <a:bodyPr wrap="square" lIns="0" tIns="0" rIns="0" bIns="0" rtlCol="0" anchor="ctr"/>
            <a:lstStyle/>
            <a:p>
              <a:pPr marL="0" indent="0" algn="ctr">
                <a:buNone/>
              </a:pPr>
              <a:r>
                <a:rPr lang="en-US" sz="4400" b="1" dirty="0">
                  <a:solidFill>
                    <a:srgbClr val="C9952E"/>
                  </a:solidFill>
                  <a:latin typeface="Cambria" pitchFamily="34" charset="0"/>
                  <a:ea typeface="Cambria" pitchFamily="34" charset="-122"/>
                  <a:cs typeface="Cambria" pitchFamily="34" charset="-120"/>
                </a:rPr>
                <a:t>189K</a:t>
              </a:r>
              <a:endParaRPr lang="en-US" sz="4400" dirty="0"/>
            </a:p>
          </p:txBody>
        </p:sp>
        <p:sp>
          <p:nvSpPr>
            <p:cNvPr id="73" name="Text 12">
              <a:extLst>
                <a:ext uri="{FF2B5EF4-FFF2-40B4-BE49-F238E27FC236}">
                  <a16:creationId xmlns:a16="http://schemas.microsoft.com/office/drawing/2014/main" id="{6A093EC5-921A-0ABF-D0CE-09F1E0B0C991}"/>
                </a:ext>
              </a:extLst>
            </p:cNvPr>
            <p:cNvSpPr/>
            <p:nvPr/>
          </p:nvSpPr>
          <p:spPr>
            <a:xfrm>
              <a:off x="6977212" y="6032641"/>
              <a:ext cx="4297332" cy="397776"/>
            </a:xfrm>
            <a:prstGeom prst="rect">
              <a:avLst/>
            </a:prstGeom>
            <a:noFill/>
            <a:ln/>
          </p:spPr>
          <p:txBody>
            <a:bodyPr wrap="square" lIns="0" tIns="0" rIns="0" bIns="0" rtlCol="0" anchor="ctr"/>
            <a:lstStyle/>
            <a:p>
              <a:pPr marL="0" indent="0" algn="ctr">
                <a:buNone/>
              </a:pPr>
              <a:r>
                <a:rPr lang="en-US" b="1" i="1" dirty="0">
                  <a:solidFill>
                    <a:srgbClr val="F7F2DE"/>
                  </a:solidFill>
                  <a:latin typeface="Calibri" pitchFamily="34" charset="0"/>
                  <a:ea typeface="Calibri" pitchFamily="34" charset="-122"/>
                  <a:cs typeface="Calibri" pitchFamily="34" charset="-120"/>
                </a:rPr>
                <a:t>SAR/room — Riyadh, top province</a:t>
              </a:r>
              <a:endParaRPr lang="en-US" b="1" dirty="0">
                <a:solidFill>
                  <a:srgbClr val="F7F2DE"/>
                </a:solidFill>
              </a:endParaRPr>
            </a:p>
          </p:txBody>
        </p:sp>
        <p:sp>
          <p:nvSpPr>
            <p:cNvPr id="74" name="Text 13">
              <a:extLst>
                <a:ext uri="{FF2B5EF4-FFF2-40B4-BE49-F238E27FC236}">
                  <a16:creationId xmlns:a16="http://schemas.microsoft.com/office/drawing/2014/main" id="{65E25181-66BE-5BD9-CFDA-364ED5AB7B5C}"/>
                </a:ext>
              </a:extLst>
            </p:cNvPr>
            <p:cNvSpPr/>
            <p:nvPr/>
          </p:nvSpPr>
          <p:spPr>
            <a:xfrm>
              <a:off x="6977210" y="6544068"/>
              <a:ext cx="4498078" cy="2670784"/>
            </a:xfrm>
            <a:prstGeom prst="rect">
              <a:avLst/>
            </a:prstGeom>
            <a:noFill/>
            <a:ln/>
          </p:spPr>
          <p:txBody>
            <a:bodyPr wrap="square" rtlCol="0" anchor="t"/>
            <a:lstStyle/>
            <a:p>
              <a:pPr marL="177800" indent="-177800">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Area is the strongest price predictor — larger properties command higher prices across all categories</a:t>
              </a:r>
            </a:p>
            <a:p>
              <a:pPr marL="177800" indent="-177800">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Madinah (173K) and Al-Bahah (159K) follow Riyadh among top provinces by price/room</a:t>
              </a:r>
            </a:p>
            <a:p>
              <a:pPr marL="177800" indent="-177800">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Mahatat Al Zuhur is the most premium micro-location at 64K SAR/sqm — nearly 3x the next highest</a:t>
              </a:r>
            </a:p>
          </p:txBody>
        </p:sp>
      </p:grpSp>
      <p:grpSp>
        <p:nvGrpSpPr>
          <p:cNvPr id="102" name="Group 101">
            <a:extLst>
              <a:ext uri="{FF2B5EF4-FFF2-40B4-BE49-F238E27FC236}">
                <a16:creationId xmlns:a16="http://schemas.microsoft.com/office/drawing/2014/main" id="{9478994F-13CA-7ADD-29DC-7EB4905B2570}"/>
              </a:ext>
            </a:extLst>
          </p:cNvPr>
          <p:cNvGrpSpPr/>
          <p:nvPr/>
        </p:nvGrpSpPr>
        <p:grpSpPr>
          <a:xfrm>
            <a:off x="12462682" y="3533545"/>
            <a:ext cx="5132832" cy="6037663"/>
            <a:chOff x="12462682" y="3533545"/>
            <a:chExt cx="5132832" cy="6037663"/>
          </a:xfrm>
        </p:grpSpPr>
        <p:sp>
          <p:nvSpPr>
            <p:cNvPr id="76" name="Shape 14">
              <a:extLst>
                <a:ext uri="{FF2B5EF4-FFF2-40B4-BE49-F238E27FC236}">
                  <a16:creationId xmlns:a16="http://schemas.microsoft.com/office/drawing/2014/main" id="{933B680A-F8C5-7457-CC06-6470B61E827E}"/>
                </a:ext>
              </a:extLst>
            </p:cNvPr>
            <p:cNvSpPr/>
            <p:nvPr/>
          </p:nvSpPr>
          <p:spPr>
            <a:xfrm>
              <a:off x="12462682" y="3533545"/>
              <a:ext cx="5132832" cy="6037663"/>
            </a:xfrm>
            <a:prstGeom prst="roundRect">
              <a:avLst>
                <a:gd name="adj" fmla="val 2099"/>
              </a:avLst>
            </a:prstGeom>
            <a:solidFill>
              <a:srgbClr val="135A5C"/>
            </a:solidFill>
            <a:ln/>
            <a:effectLst>
              <a:outerShdw blurRad="101600" dist="38100" dir="5400000" algn="bl" rotWithShape="0">
                <a:srgbClr val="000000">
                  <a:alpha val="12000"/>
                </a:srgbClr>
              </a:outerShdw>
            </a:effectLst>
          </p:spPr>
          <p:txBody>
            <a:bodyPr/>
            <a:lstStyle/>
            <a:p>
              <a:endParaRPr lang="ar-EG"/>
            </a:p>
          </p:txBody>
        </p:sp>
        <p:sp>
          <p:nvSpPr>
            <p:cNvPr id="77" name="Shape 15">
              <a:extLst>
                <a:ext uri="{FF2B5EF4-FFF2-40B4-BE49-F238E27FC236}">
                  <a16:creationId xmlns:a16="http://schemas.microsoft.com/office/drawing/2014/main" id="{BD7E6D1E-1CD2-8A2D-C3E6-FCEF4DA74AD8}"/>
                </a:ext>
              </a:extLst>
            </p:cNvPr>
            <p:cNvSpPr/>
            <p:nvPr/>
          </p:nvSpPr>
          <p:spPr>
            <a:xfrm>
              <a:off x="14591373" y="3875300"/>
              <a:ext cx="875450" cy="740468"/>
            </a:xfrm>
            <a:prstGeom prst="ellipse">
              <a:avLst/>
            </a:prstGeom>
            <a:solidFill>
              <a:srgbClr val="F7F2DE"/>
            </a:solidFill>
            <a:ln/>
          </p:spPr>
          <p:txBody>
            <a:bodyPr/>
            <a:lstStyle/>
            <a:p>
              <a:endParaRPr lang="ar-EG"/>
            </a:p>
          </p:txBody>
        </p:sp>
        <p:sp>
          <p:nvSpPr>
            <p:cNvPr id="99" name="Rectangle: Rounded Corners 98">
              <a:extLst>
                <a:ext uri="{FF2B5EF4-FFF2-40B4-BE49-F238E27FC236}">
                  <a16:creationId xmlns:a16="http://schemas.microsoft.com/office/drawing/2014/main" id="{4CB96DBC-D4D1-549E-9AFE-E73039289CAD}"/>
                </a:ext>
              </a:extLst>
            </p:cNvPr>
            <p:cNvSpPr/>
            <p:nvPr/>
          </p:nvSpPr>
          <p:spPr>
            <a:xfrm>
              <a:off x="12866736" y="4798029"/>
              <a:ext cx="4324724" cy="413211"/>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pic>
          <p:nvPicPr>
            <p:cNvPr id="78" name="Image 2" descr="preencoded.png">
              <a:extLst>
                <a:ext uri="{FF2B5EF4-FFF2-40B4-BE49-F238E27FC236}">
                  <a16:creationId xmlns:a16="http://schemas.microsoft.com/office/drawing/2014/main" id="{CBE3C7C7-E742-32CD-2295-DEB38D6286AE}"/>
                </a:ext>
              </a:extLst>
            </p:cNvPr>
            <p:cNvPicPr>
              <a:picLocks noChangeAspect="1"/>
            </p:cNvPicPr>
            <p:nvPr/>
          </p:nvPicPr>
          <p:blipFill>
            <a:blip r:embed="rId10">
              <a:duotone>
                <a:prstClr val="black"/>
                <a:srgbClr val="135A5C">
                  <a:tint val="45000"/>
                  <a:satMod val="400000"/>
                </a:srgbClr>
              </a:duotone>
              <a:alphaModFix/>
              <a:extLst>
                <a:ext uri="{BEBA8EAE-BF5A-486C-A8C5-ECC9F3942E4B}">
                  <a14:imgProps xmlns:a14="http://schemas.microsoft.com/office/drawing/2010/main">
                    <a14:imgLayer r:embed="rId11">
                      <a14:imgEffect>
                        <a14:artisticGlowEdges/>
                      </a14:imgEffect>
                    </a14:imgLayer>
                  </a14:imgProps>
                </a:ext>
              </a:extLst>
            </a:blip>
            <a:stretch>
              <a:fillRect/>
            </a:stretch>
          </p:blipFill>
          <p:spPr>
            <a:xfrm>
              <a:off x="14786666" y="4040481"/>
              <a:ext cx="484865" cy="410105"/>
            </a:xfrm>
            <a:prstGeom prst="rect">
              <a:avLst/>
            </a:prstGeom>
          </p:spPr>
        </p:pic>
        <p:sp>
          <p:nvSpPr>
            <p:cNvPr id="79" name="Text 16">
              <a:extLst>
                <a:ext uri="{FF2B5EF4-FFF2-40B4-BE49-F238E27FC236}">
                  <a16:creationId xmlns:a16="http://schemas.microsoft.com/office/drawing/2014/main" id="{A1720346-FB0D-DD2E-9AA2-B4B4FB80B569}"/>
                </a:ext>
              </a:extLst>
            </p:cNvPr>
            <p:cNvSpPr/>
            <p:nvPr/>
          </p:nvSpPr>
          <p:spPr>
            <a:xfrm>
              <a:off x="12664709" y="4729686"/>
              <a:ext cx="4728778" cy="512632"/>
            </a:xfrm>
            <a:prstGeom prst="rect">
              <a:avLst/>
            </a:prstGeom>
            <a:noFill/>
            <a:ln/>
          </p:spPr>
          <p:txBody>
            <a:bodyPr wrap="square" lIns="0" tIns="0" rIns="0" bIns="0" rtlCol="0" anchor="ctr"/>
            <a:lstStyle/>
            <a:p>
              <a:pPr algn="ctr"/>
              <a:r>
                <a:rPr lang="en-US" sz="2400" b="1" kern="0" spc="100" dirty="0">
                  <a:solidFill>
                    <a:srgbClr val="F7F2DE"/>
                  </a:solidFill>
                  <a:latin typeface="Calibri" pitchFamily="34" charset="0"/>
                  <a:ea typeface="Calibri" pitchFamily="34" charset="-122"/>
                  <a:cs typeface="Calibri" pitchFamily="34" charset="-120"/>
                </a:rPr>
                <a:t>COUNTERINTUITIVE FINDINGS</a:t>
              </a:r>
            </a:p>
          </p:txBody>
        </p:sp>
        <p:sp>
          <p:nvSpPr>
            <p:cNvPr id="80" name="Text 17">
              <a:extLst>
                <a:ext uri="{FF2B5EF4-FFF2-40B4-BE49-F238E27FC236}">
                  <a16:creationId xmlns:a16="http://schemas.microsoft.com/office/drawing/2014/main" id="{377472B2-833B-52FB-F9D1-8E8045256B95}"/>
                </a:ext>
              </a:extLst>
            </p:cNvPr>
            <p:cNvSpPr/>
            <p:nvPr/>
          </p:nvSpPr>
          <p:spPr>
            <a:xfrm>
              <a:off x="12664709" y="5242318"/>
              <a:ext cx="4728778" cy="797427"/>
            </a:xfrm>
            <a:prstGeom prst="rect">
              <a:avLst/>
            </a:prstGeom>
            <a:noFill/>
            <a:ln/>
          </p:spPr>
          <p:txBody>
            <a:bodyPr wrap="square" lIns="0" tIns="0" rIns="0" bIns="0" rtlCol="0" anchor="ctr"/>
            <a:lstStyle/>
            <a:p>
              <a:pPr marL="0" indent="0" algn="ctr">
                <a:buNone/>
              </a:pPr>
              <a:r>
                <a:rPr lang="en-US" sz="4400" b="1" dirty="0">
                  <a:solidFill>
                    <a:srgbClr val="C9952E"/>
                  </a:solidFill>
                  <a:latin typeface="Cambria" pitchFamily="34" charset="0"/>
                  <a:ea typeface="Cambria" pitchFamily="34" charset="-122"/>
                  <a:cs typeface="Cambria" pitchFamily="34" charset="-120"/>
                </a:rPr>
                <a:t>+61%</a:t>
              </a:r>
              <a:endParaRPr lang="en-US" sz="4400" dirty="0"/>
            </a:p>
          </p:txBody>
        </p:sp>
        <p:sp>
          <p:nvSpPr>
            <p:cNvPr id="81" name="Text 18">
              <a:extLst>
                <a:ext uri="{FF2B5EF4-FFF2-40B4-BE49-F238E27FC236}">
                  <a16:creationId xmlns:a16="http://schemas.microsoft.com/office/drawing/2014/main" id="{FA0F2441-BA6C-B994-BC7F-770DB8CF7CA8}"/>
                </a:ext>
              </a:extLst>
            </p:cNvPr>
            <p:cNvSpPr/>
            <p:nvPr/>
          </p:nvSpPr>
          <p:spPr>
            <a:xfrm>
              <a:off x="12866736" y="6039745"/>
              <a:ext cx="4324724" cy="398714"/>
            </a:xfrm>
            <a:prstGeom prst="rect">
              <a:avLst/>
            </a:prstGeom>
            <a:noFill/>
            <a:ln/>
          </p:spPr>
          <p:txBody>
            <a:bodyPr wrap="square" lIns="0" tIns="0" rIns="0" bIns="0" rtlCol="0" anchor="ctr"/>
            <a:lstStyle/>
            <a:p>
              <a:pPr marL="0" indent="0" algn="ctr">
                <a:buNone/>
              </a:pPr>
              <a:r>
                <a:rPr lang="en-US" b="1" i="1" dirty="0">
                  <a:solidFill>
                    <a:srgbClr val="F7F2DE"/>
                  </a:solidFill>
                  <a:latin typeface="Calibri" pitchFamily="34" charset="0"/>
                  <a:ea typeface="Calibri" pitchFamily="34" charset="-122"/>
                  <a:cs typeface="Calibri" pitchFamily="34" charset="-120"/>
                </a:rPr>
                <a:t>old properties priced above new builds</a:t>
              </a:r>
              <a:endParaRPr lang="en-US" b="1" dirty="0">
                <a:solidFill>
                  <a:srgbClr val="F7F2DE"/>
                </a:solidFill>
              </a:endParaRPr>
            </a:p>
          </p:txBody>
        </p:sp>
        <p:sp>
          <p:nvSpPr>
            <p:cNvPr id="82" name="Text 19">
              <a:extLst>
                <a:ext uri="{FF2B5EF4-FFF2-40B4-BE49-F238E27FC236}">
                  <a16:creationId xmlns:a16="http://schemas.microsoft.com/office/drawing/2014/main" id="{B807DCC3-1706-2839-6F27-DB99571EFA0C}"/>
                </a:ext>
              </a:extLst>
            </p:cNvPr>
            <p:cNvSpPr/>
            <p:nvPr/>
          </p:nvSpPr>
          <p:spPr>
            <a:xfrm>
              <a:off x="12866736" y="6552377"/>
              <a:ext cx="4324724" cy="2677077"/>
            </a:xfrm>
            <a:prstGeom prst="rect">
              <a:avLst/>
            </a:prstGeom>
            <a:noFill/>
            <a:ln/>
          </p:spPr>
          <p:txBody>
            <a:bodyPr wrap="square" rtlCol="0" anchor="t"/>
            <a:lstStyle/>
            <a:p>
              <a:pPr marL="177800" indent="-177800">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Buildings hit the highest price/room at 563K SAR — 3.5x villas, marking them investment-grade</a:t>
              </a:r>
            </a:p>
            <a:p>
              <a:pPr marL="177800" indent="-177800">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Room count shows only 10% correlation with price — size and location matter far more</a:t>
              </a:r>
            </a:p>
            <a:p>
              <a:pPr marL="177800" indent="-177800">
                <a:lnSpc>
                  <a:spcPct val="105000"/>
                </a:lnSpc>
                <a:spcAft>
                  <a:spcPts val="1000"/>
                </a:spcAft>
                <a:buSzPct val="100000"/>
                <a:buChar char="●"/>
              </a:pPr>
              <a:r>
                <a:rPr lang="en-US" dirty="0">
                  <a:solidFill>
                    <a:srgbClr val="F7F2DE"/>
                  </a:solidFill>
                  <a:latin typeface="Calibri" pitchFamily="34" charset="0"/>
                  <a:ea typeface="Calibri" pitchFamily="34" charset="-122"/>
                  <a:cs typeface="Calibri" pitchFamily="34" charset="-120"/>
                </a:rPr>
                <a:t>Kitchens &amp; bathrooms are fully standardized, adding no measurable price premium</a:t>
              </a:r>
            </a:p>
          </p:txBody>
        </p:sp>
      </p:grpSp>
      <p:sp>
        <p:nvSpPr>
          <p:cNvPr id="84" name="Freeform 17">
            <a:extLst>
              <a:ext uri="{FF2B5EF4-FFF2-40B4-BE49-F238E27FC236}">
                <a16:creationId xmlns:a16="http://schemas.microsoft.com/office/drawing/2014/main" id="{9C922613-ED3F-B23C-1722-4656589696A2}"/>
              </a:ext>
            </a:extLst>
          </p:cNvPr>
          <p:cNvSpPr/>
          <p:nvPr/>
        </p:nvSpPr>
        <p:spPr>
          <a:xfrm>
            <a:off x="-1025534" y="2674191"/>
            <a:ext cx="7843275" cy="618295"/>
          </a:xfrm>
          <a:custGeom>
            <a:avLst/>
            <a:gdLst/>
            <a:ahLst/>
            <a:cxnLst/>
            <a:rect l="l" t="t" r="r" b="b"/>
            <a:pathLst>
              <a:path w="1739080" h="135299">
                <a:moveTo>
                  <a:pt x="0" y="0"/>
                </a:moveTo>
                <a:lnTo>
                  <a:pt x="1535880" y="0"/>
                </a:lnTo>
                <a:lnTo>
                  <a:pt x="1739080" y="67650"/>
                </a:lnTo>
                <a:lnTo>
                  <a:pt x="1535880" y="135299"/>
                </a:lnTo>
                <a:lnTo>
                  <a:pt x="0" y="135299"/>
                </a:lnTo>
                <a:lnTo>
                  <a:pt x="203200" y="67650"/>
                </a:lnTo>
                <a:lnTo>
                  <a:pt x="0" y="0"/>
                </a:lnTo>
                <a:close/>
              </a:path>
            </a:pathLst>
          </a:custGeom>
          <a:solidFill>
            <a:srgbClr val="135A5C"/>
          </a:solidFill>
        </p:spPr>
        <p:txBody>
          <a:bodyPr/>
          <a:lstStyle/>
          <a:p>
            <a:endParaRPr lang="ar-EG" dirty="0"/>
          </a:p>
        </p:txBody>
      </p:sp>
      <p:sp>
        <p:nvSpPr>
          <p:cNvPr id="86" name="TextBox 85">
            <a:extLst>
              <a:ext uri="{FF2B5EF4-FFF2-40B4-BE49-F238E27FC236}">
                <a16:creationId xmlns:a16="http://schemas.microsoft.com/office/drawing/2014/main" id="{47DBB599-21EC-40FE-6D09-488818FD400C}"/>
              </a:ext>
            </a:extLst>
          </p:cNvPr>
          <p:cNvSpPr txBox="1"/>
          <p:nvPr/>
        </p:nvSpPr>
        <p:spPr>
          <a:xfrm>
            <a:off x="444620" y="2629727"/>
            <a:ext cx="5103273" cy="721736"/>
          </a:xfrm>
          <a:prstGeom prst="rect">
            <a:avLst/>
          </a:prstGeom>
          <a:noFill/>
        </p:spPr>
        <p:txBody>
          <a:bodyPr wrap="square">
            <a:spAutoFit/>
          </a:bodyPr>
          <a:lstStyle/>
          <a:p>
            <a:pPr marL="0" indent="0" algn="l">
              <a:buNone/>
            </a:pPr>
            <a:r>
              <a:rPr lang="en-US" sz="4090" b="1" dirty="0">
                <a:solidFill>
                  <a:srgbClr val="F7F2DE"/>
                </a:solidFill>
                <a:latin typeface="Cambria" pitchFamily="34" charset="0"/>
                <a:ea typeface="Cambria" pitchFamily="34" charset="-122"/>
                <a:cs typeface="Cambria" pitchFamily="34" charset="-120"/>
              </a:rPr>
              <a:t>Key Market Insights</a:t>
            </a:r>
            <a:endParaRPr lang="en-US" sz="4090" dirty="0">
              <a:solidFill>
                <a:srgbClr val="F7F2DE"/>
              </a:solidFill>
            </a:endParaRPr>
          </a:p>
        </p:txBody>
      </p:sp>
    </p:spTree>
    <p:extLst>
      <p:ext uri="{BB962C8B-B14F-4D97-AF65-F5344CB8AC3E}">
        <p14:creationId xmlns:p14="http://schemas.microsoft.com/office/powerpoint/2010/main" val="121175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41" name="Rectangle: Rounded Corners 40">
            <a:extLst>
              <a:ext uri="{FF2B5EF4-FFF2-40B4-BE49-F238E27FC236}">
                <a16:creationId xmlns:a16="http://schemas.microsoft.com/office/drawing/2014/main" id="{953F289E-4684-625A-3EDE-6EC56AE3A162}"/>
              </a:ext>
            </a:extLst>
          </p:cNvPr>
          <p:cNvSpPr/>
          <p:nvPr/>
        </p:nvSpPr>
        <p:spPr>
          <a:xfrm>
            <a:off x="10896600" y="2336777"/>
            <a:ext cx="1473084" cy="361508"/>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dirty="0"/>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1017622" y="6770278"/>
            <a:ext cx="10070330" cy="2430631"/>
            <a:chOff x="0" y="0"/>
            <a:chExt cx="13427106" cy="3240841"/>
          </a:xfrm>
        </p:grpSpPr>
        <p:grpSp>
          <p:nvGrpSpPr>
            <p:cNvPr id="13" name="Group 13"/>
            <p:cNvGrpSpPr/>
            <p:nvPr/>
          </p:nvGrpSpPr>
          <p:grpSpPr>
            <a:xfrm rot="-5400000">
              <a:off x="5568762" y="-4617502"/>
              <a:ext cx="3240841" cy="12475846"/>
              <a:chOff x="0" y="0"/>
              <a:chExt cx="422976" cy="1628277"/>
            </a:xfrm>
          </p:grpSpPr>
          <p:sp>
            <p:nvSpPr>
              <p:cNvPr id="14" name="Freeform 14"/>
              <p:cNvSpPr/>
              <p:nvPr/>
            </p:nvSpPr>
            <p:spPr>
              <a:xfrm>
                <a:off x="0" y="0"/>
                <a:ext cx="422976" cy="1628277"/>
              </a:xfrm>
              <a:custGeom>
                <a:avLst/>
                <a:gdLst/>
                <a:ahLst/>
                <a:cxnLst/>
                <a:rect l="l" t="t" r="r" b="b"/>
                <a:pathLst>
                  <a:path w="422976" h="1628277">
                    <a:moveTo>
                      <a:pt x="141068" y="1609208"/>
                    </a:moveTo>
                    <a:cubicBezTo>
                      <a:pt x="162753" y="1620722"/>
                      <a:pt x="187406" y="1628277"/>
                      <a:pt x="211602" y="1628277"/>
                    </a:cubicBezTo>
                    <a:cubicBezTo>
                      <a:pt x="235799" y="1628277"/>
                      <a:pt x="259082" y="1621800"/>
                      <a:pt x="280538" y="1610286"/>
                    </a:cubicBezTo>
                    <a:cubicBezTo>
                      <a:pt x="280995" y="1609926"/>
                      <a:pt x="281452" y="1609926"/>
                      <a:pt x="281908" y="1609567"/>
                    </a:cubicBezTo>
                    <a:cubicBezTo>
                      <a:pt x="362486" y="1563512"/>
                      <a:pt x="421835" y="1441898"/>
                      <a:pt x="422976" y="1281661"/>
                    </a:cubicBezTo>
                    <a:lnTo>
                      <a:pt x="422976" y="0"/>
                    </a:lnTo>
                    <a:lnTo>
                      <a:pt x="0" y="0"/>
                    </a:lnTo>
                    <a:lnTo>
                      <a:pt x="0" y="1280710"/>
                    </a:lnTo>
                    <a:cubicBezTo>
                      <a:pt x="1141" y="1442617"/>
                      <a:pt x="59577" y="1564232"/>
                      <a:pt x="141068" y="1609208"/>
                    </a:cubicBezTo>
                    <a:close/>
                  </a:path>
                </a:pathLst>
              </a:custGeom>
              <a:solidFill>
                <a:srgbClr val="043732"/>
              </a:solidFill>
            </p:spPr>
            <p:txBody>
              <a:bodyPr/>
              <a:lstStyle/>
              <a:p>
                <a:endParaRPr lang="ar-EG"/>
              </a:p>
            </p:txBody>
          </p:sp>
          <p:sp>
            <p:nvSpPr>
              <p:cNvPr id="15" name="TextBox 15"/>
              <p:cNvSpPr txBox="1"/>
              <p:nvPr/>
            </p:nvSpPr>
            <p:spPr>
              <a:xfrm>
                <a:off x="0" y="-28575"/>
                <a:ext cx="422976" cy="1529852"/>
              </a:xfrm>
              <a:prstGeom prst="rect">
                <a:avLst/>
              </a:prstGeom>
            </p:spPr>
            <p:txBody>
              <a:bodyPr lIns="61142" tIns="61142" rIns="61142" bIns="61142" rtlCol="0" anchor="ctr"/>
              <a:lstStyle/>
              <a:p>
                <a:pPr algn="ctr">
                  <a:lnSpc>
                    <a:spcPts val="2520"/>
                  </a:lnSpc>
                </a:pPr>
                <a:endParaRPr/>
              </a:p>
            </p:txBody>
          </p:sp>
        </p:grpSp>
        <p:grpSp>
          <p:nvGrpSpPr>
            <p:cNvPr id="16" name="Group 16"/>
            <p:cNvGrpSpPr/>
            <p:nvPr/>
          </p:nvGrpSpPr>
          <p:grpSpPr>
            <a:xfrm>
              <a:off x="0" y="247281"/>
              <a:ext cx="10596390" cy="824393"/>
              <a:chOff x="0" y="0"/>
              <a:chExt cx="1739080" cy="135299"/>
            </a:xfrm>
          </p:grpSpPr>
          <p:sp>
            <p:nvSpPr>
              <p:cNvPr id="17" name="Freeform 17"/>
              <p:cNvSpPr/>
              <p:nvPr/>
            </p:nvSpPr>
            <p:spPr>
              <a:xfrm>
                <a:off x="0" y="0"/>
                <a:ext cx="1739080" cy="135299"/>
              </a:xfrm>
              <a:custGeom>
                <a:avLst/>
                <a:gdLst/>
                <a:ahLst/>
                <a:cxnLst/>
                <a:rect l="l" t="t" r="r" b="b"/>
                <a:pathLst>
                  <a:path w="1739080" h="135299">
                    <a:moveTo>
                      <a:pt x="0" y="0"/>
                    </a:moveTo>
                    <a:lnTo>
                      <a:pt x="1535880" y="0"/>
                    </a:lnTo>
                    <a:lnTo>
                      <a:pt x="1739080" y="67650"/>
                    </a:lnTo>
                    <a:lnTo>
                      <a:pt x="1535880" y="135299"/>
                    </a:lnTo>
                    <a:lnTo>
                      <a:pt x="0" y="135299"/>
                    </a:lnTo>
                    <a:lnTo>
                      <a:pt x="203200" y="67650"/>
                    </a:lnTo>
                    <a:lnTo>
                      <a:pt x="0" y="0"/>
                    </a:lnTo>
                    <a:close/>
                  </a:path>
                </a:pathLst>
              </a:custGeom>
              <a:solidFill>
                <a:srgbClr val="F7F2DE"/>
              </a:solidFill>
            </p:spPr>
            <p:txBody>
              <a:bodyPr/>
              <a:lstStyle/>
              <a:p>
                <a:endParaRPr lang="ar-EG"/>
              </a:p>
            </p:txBody>
          </p:sp>
          <p:sp>
            <p:nvSpPr>
              <p:cNvPr id="18" name="TextBox 18"/>
              <p:cNvSpPr txBox="1"/>
              <p:nvPr/>
            </p:nvSpPr>
            <p:spPr>
              <a:xfrm>
                <a:off x="177800" y="-28575"/>
                <a:ext cx="1485080" cy="163874"/>
              </a:xfrm>
              <a:prstGeom prst="rect">
                <a:avLst/>
              </a:prstGeom>
            </p:spPr>
            <p:txBody>
              <a:bodyPr lIns="61142" tIns="61142" rIns="61142" bIns="61142" rtlCol="0" anchor="ctr"/>
              <a:lstStyle/>
              <a:p>
                <a:pPr algn="ctr">
                  <a:lnSpc>
                    <a:spcPts val="2520"/>
                  </a:lnSpc>
                </a:pPr>
                <a:endParaRPr/>
              </a:p>
            </p:txBody>
          </p:sp>
        </p:grpSp>
        <p:sp>
          <p:nvSpPr>
            <p:cNvPr id="19" name="TextBox 19"/>
            <p:cNvSpPr txBox="1"/>
            <p:nvPr/>
          </p:nvSpPr>
          <p:spPr>
            <a:xfrm>
              <a:off x="1557097" y="161556"/>
              <a:ext cx="6453013" cy="910118"/>
            </a:xfrm>
            <a:prstGeom prst="rect">
              <a:avLst/>
            </a:prstGeom>
          </p:spPr>
          <p:txBody>
            <a:bodyPr lIns="0" tIns="0" rIns="0" bIns="0" rtlCol="0" anchor="t">
              <a:spAutoFit/>
            </a:bodyPr>
            <a:lstStyle/>
            <a:p>
              <a:pPr algn="l">
                <a:lnSpc>
                  <a:spcPts val="5729"/>
                </a:lnSpc>
              </a:pPr>
              <a:r>
                <a:rPr lang="en-US" sz="4092" b="1">
                  <a:solidFill>
                    <a:srgbClr val="043732"/>
                  </a:solidFill>
                  <a:latin typeface="Canva Sans Bold"/>
                  <a:ea typeface="Canva Sans Bold"/>
                  <a:cs typeface="Canva Sans Bold"/>
                  <a:sym typeface="Canva Sans Bold"/>
                </a:rPr>
                <a:t>Library Selection </a:t>
              </a:r>
            </a:p>
          </p:txBody>
        </p:sp>
        <p:sp>
          <p:nvSpPr>
            <p:cNvPr id="20" name="TextBox 20"/>
            <p:cNvSpPr txBox="1"/>
            <p:nvPr/>
          </p:nvSpPr>
          <p:spPr>
            <a:xfrm>
              <a:off x="1557097" y="1338375"/>
              <a:ext cx="10904154" cy="1452880"/>
            </a:xfrm>
            <a:prstGeom prst="rect">
              <a:avLst/>
            </a:prstGeom>
          </p:spPr>
          <p:txBody>
            <a:bodyPr lIns="0" tIns="0" rIns="0" bIns="0" rtlCol="0" anchor="t">
              <a:spAutoFit/>
            </a:bodyPr>
            <a:lstStyle/>
            <a:p>
              <a:pPr marL="453390" lvl="1" indent="-226695" algn="l">
                <a:lnSpc>
                  <a:spcPts val="2940"/>
                </a:lnSpc>
                <a:buFont typeface="Arial"/>
                <a:buChar char="•"/>
              </a:pPr>
              <a:r>
                <a:rPr lang="en-US" sz="2100">
                  <a:solidFill>
                    <a:srgbClr val="F7F2DE"/>
                  </a:solidFill>
                  <a:latin typeface="Canva Sans"/>
                  <a:ea typeface="Canva Sans"/>
                  <a:cs typeface="Canva Sans"/>
                  <a:sym typeface="Canva Sans"/>
                </a:rPr>
                <a:t>The model was built using a carefully selected set of Python libraries, each chosen for a specific role in the machine learning pipeline. </a:t>
              </a:r>
            </a:p>
          </p:txBody>
        </p:sp>
      </p:grpSp>
      <p:grpSp>
        <p:nvGrpSpPr>
          <p:cNvPr id="21" name="Group 21"/>
          <p:cNvGrpSpPr/>
          <p:nvPr/>
        </p:nvGrpSpPr>
        <p:grpSpPr>
          <a:xfrm>
            <a:off x="-1017622" y="2712869"/>
            <a:ext cx="11368898" cy="3871230"/>
            <a:chOff x="0" y="0"/>
            <a:chExt cx="15158530" cy="5161640"/>
          </a:xfrm>
        </p:grpSpPr>
        <p:grpSp>
          <p:nvGrpSpPr>
            <p:cNvPr id="22" name="Group 22"/>
            <p:cNvGrpSpPr/>
            <p:nvPr/>
          </p:nvGrpSpPr>
          <p:grpSpPr>
            <a:xfrm rot="-5400000">
              <a:off x="5474075" y="-4522815"/>
              <a:ext cx="5161640" cy="14207270"/>
              <a:chOff x="0" y="0"/>
              <a:chExt cx="673668" cy="1854252"/>
            </a:xfrm>
          </p:grpSpPr>
          <p:sp>
            <p:nvSpPr>
              <p:cNvPr id="23" name="Freeform 23"/>
              <p:cNvSpPr/>
              <p:nvPr/>
            </p:nvSpPr>
            <p:spPr>
              <a:xfrm>
                <a:off x="0" y="0"/>
                <a:ext cx="673668" cy="1854252"/>
              </a:xfrm>
              <a:custGeom>
                <a:avLst/>
                <a:gdLst/>
                <a:ahLst/>
                <a:cxnLst/>
                <a:rect l="l" t="t" r="r" b="b"/>
                <a:pathLst>
                  <a:path w="673668" h="1854252">
                    <a:moveTo>
                      <a:pt x="224677" y="1835183"/>
                    </a:moveTo>
                    <a:cubicBezTo>
                      <a:pt x="259215" y="1846697"/>
                      <a:pt x="298479" y="1854252"/>
                      <a:pt x="337015" y="1854252"/>
                    </a:cubicBezTo>
                    <a:cubicBezTo>
                      <a:pt x="375553" y="1854252"/>
                      <a:pt x="412636" y="1847775"/>
                      <a:pt x="446809" y="1836262"/>
                    </a:cubicBezTo>
                    <a:cubicBezTo>
                      <a:pt x="447537" y="1835902"/>
                      <a:pt x="448264" y="1835902"/>
                      <a:pt x="448991" y="1835543"/>
                    </a:cubicBezTo>
                    <a:cubicBezTo>
                      <a:pt x="577326" y="1789487"/>
                      <a:pt x="671850" y="1667874"/>
                      <a:pt x="673668" y="1502617"/>
                    </a:cubicBezTo>
                    <a:lnTo>
                      <a:pt x="673668" y="0"/>
                    </a:lnTo>
                    <a:lnTo>
                      <a:pt x="0" y="0"/>
                    </a:lnTo>
                    <a:lnTo>
                      <a:pt x="0" y="1501502"/>
                    </a:lnTo>
                    <a:cubicBezTo>
                      <a:pt x="1818" y="1668592"/>
                      <a:pt x="94888" y="1790208"/>
                      <a:pt x="224677" y="1835183"/>
                    </a:cubicBezTo>
                    <a:close/>
                  </a:path>
                </a:pathLst>
              </a:custGeom>
              <a:solidFill>
                <a:srgbClr val="043732"/>
              </a:solidFill>
            </p:spPr>
            <p:txBody>
              <a:bodyPr/>
              <a:lstStyle/>
              <a:p>
                <a:endParaRPr lang="ar-EG"/>
              </a:p>
            </p:txBody>
          </p:sp>
          <p:sp>
            <p:nvSpPr>
              <p:cNvPr id="24" name="TextBox 24"/>
              <p:cNvSpPr txBox="1"/>
              <p:nvPr/>
            </p:nvSpPr>
            <p:spPr>
              <a:xfrm>
                <a:off x="0" y="-28575"/>
                <a:ext cx="673668" cy="1755827"/>
              </a:xfrm>
              <a:prstGeom prst="rect">
                <a:avLst/>
              </a:prstGeom>
            </p:spPr>
            <p:txBody>
              <a:bodyPr lIns="61142" tIns="61142" rIns="61142" bIns="61142" rtlCol="0" anchor="ctr"/>
              <a:lstStyle/>
              <a:p>
                <a:pPr algn="ctr">
                  <a:lnSpc>
                    <a:spcPts val="2520"/>
                  </a:lnSpc>
                </a:pPr>
                <a:endParaRPr/>
              </a:p>
            </p:txBody>
          </p:sp>
        </p:grpSp>
        <p:grpSp>
          <p:nvGrpSpPr>
            <p:cNvPr id="25" name="Group 25"/>
            <p:cNvGrpSpPr/>
            <p:nvPr/>
          </p:nvGrpSpPr>
          <p:grpSpPr>
            <a:xfrm>
              <a:off x="0" y="247281"/>
              <a:ext cx="10596390" cy="824393"/>
              <a:chOff x="0" y="0"/>
              <a:chExt cx="1739080" cy="135299"/>
            </a:xfrm>
          </p:grpSpPr>
          <p:sp>
            <p:nvSpPr>
              <p:cNvPr id="26" name="Freeform 26"/>
              <p:cNvSpPr/>
              <p:nvPr/>
            </p:nvSpPr>
            <p:spPr>
              <a:xfrm>
                <a:off x="0" y="0"/>
                <a:ext cx="1739080" cy="135299"/>
              </a:xfrm>
              <a:custGeom>
                <a:avLst/>
                <a:gdLst/>
                <a:ahLst/>
                <a:cxnLst/>
                <a:rect l="l" t="t" r="r" b="b"/>
                <a:pathLst>
                  <a:path w="1739080" h="135299">
                    <a:moveTo>
                      <a:pt x="0" y="0"/>
                    </a:moveTo>
                    <a:lnTo>
                      <a:pt x="1535880" y="0"/>
                    </a:lnTo>
                    <a:lnTo>
                      <a:pt x="1739080" y="67650"/>
                    </a:lnTo>
                    <a:lnTo>
                      <a:pt x="1535880" y="135299"/>
                    </a:lnTo>
                    <a:lnTo>
                      <a:pt x="0" y="135299"/>
                    </a:lnTo>
                    <a:lnTo>
                      <a:pt x="203200" y="67650"/>
                    </a:lnTo>
                    <a:lnTo>
                      <a:pt x="0" y="0"/>
                    </a:lnTo>
                    <a:close/>
                  </a:path>
                </a:pathLst>
              </a:custGeom>
              <a:solidFill>
                <a:srgbClr val="F7F2DE"/>
              </a:solidFill>
            </p:spPr>
            <p:txBody>
              <a:bodyPr/>
              <a:lstStyle/>
              <a:p>
                <a:endParaRPr lang="ar-EG"/>
              </a:p>
            </p:txBody>
          </p:sp>
          <p:sp>
            <p:nvSpPr>
              <p:cNvPr id="27" name="TextBox 27"/>
              <p:cNvSpPr txBox="1"/>
              <p:nvPr/>
            </p:nvSpPr>
            <p:spPr>
              <a:xfrm>
                <a:off x="177800" y="-28575"/>
                <a:ext cx="1485080" cy="163874"/>
              </a:xfrm>
              <a:prstGeom prst="rect">
                <a:avLst/>
              </a:prstGeom>
            </p:spPr>
            <p:txBody>
              <a:bodyPr lIns="61142" tIns="61142" rIns="61142" bIns="61142" rtlCol="0" anchor="ctr"/>
              <a:lstStyle/>
              <a:p>
                <a:pPr algn="ctr">
                  <a:lnSpc>
                    <a:spcPts val="2520"/>
                  </a:lnSpc>
                </a:pPr>
                <a:endParaRPr/>
              </a:p>
            </p:txBody>
          </p:sp>
        </p:grpSp>
        <p:sp>
          <p:nvSpPr>
            <p:cNvPr id="28" name="TextBox 28"/>
            <p:cNvSpPr txBox="1"/>
            <p:nvPr/>
          </p:nvSpPr>
          <p:spPr>
            <a:xfrm>
              <a:off x="1557097" y="161556"/>
              <a:ext cx="6453013" cy="910118"/>
            </a:xfrm>
            <a:prstGeom prst="rect">
              <a:avLst/>
            </a:prstGeom>
          </p:spPr>
          <p:txBody>
            <a:bodyPr lIns="0" tIns="0" rIns="0" bIns="0" rtlCol="0" anchor="t">
              <a:spAutoFit/>
            </a:bodyPr>
            <a:lstStyle/>
            <a:p>
              <a:pPr algn="l">
                <a:lnSpc>
                  <a:spcPts val="5729"/>
                </a:lnSpc>
              </a:pPr>
              <a:r>
                <a:rPr lang="en-US" sz="4092" b="1">
                  <a:solidFill>
                    <a:srgbClr val="043732"/>
                  </a:solidFill>
                  <a:latin typeface="Canva Sans Bold"/>
                  <a:ea typeface="Canva Sans Bold"/>
                  <a:cs typeface="Canva Sans Bold"/>
                  <a:sym typeface="Canva Sans Bold"/>
                </a:rPr>
                <a:t>Overview</a:t>
              </a:r>
            </a:p>
          </p:txBody>
        </p:sp>
        <p:sp>
          <p:nvSpPr>
            <p:cNvPr id="29" name="TextBox 29"/>
            <p:cNvSpPr txBox="1"/>
            <p:nvPr/>
          </p:nvSpPr>
          <p:spPr>
            <a:xfrm>
              <a:off x="1557097" y="1338375"/>
              <a:ext cx="12933166" cy="3434080"/>
            </a:xfrm>
            <a:prstGeom prst="rect">
              <a:avLst/>
            </a:prstGeom>
          </p:spPr>
          <p:txBody>
            <a:bodyPr lIns="0" tIns="0" rIns="0" bIns="0" rtlCol="0" anchor="t">
              <a:spAutoFit/>
            </a:bodyPr>
            <a:lstStyle/>
            <a:p>
              <a:pPr algn="l">
                <a:lnSpc>
                  <a:spcPts val="2940"/>
                </a:lnSpc>
              </a:pPr>
              <a:r>
                <a:rPr lang="en-US" sz="2100">
                  <a:solidFill>
                    <a:srgbClr val="F7F2DE"/>
                  </a:solidFill>
                  <a:latin typeface="Canva Sans"/>
                  <a:ea typeface="Canva Sans"/>
                  <a:cs typeface="Canva Sans"/>
                  <a:sym typeface="Canva Sans"/>
                </a:rPr>
                <a:t>After uncovering the key KPIs driving the Saudi real estate market, the next step was to move from observation into prediction. The Machine Learning component of the Intelligent Investment Consultant is a Random Forest Regressor trained to predict residential property prices across KSA based on physical and geographic specifications — transforming the dashboard from a retrospective analysis tool into a forward-looking investment advisor.</a:t>
              </a:r>
            </a:p>
          </p:txBody>
        </p:sp>
      </p:grpSp>
      <p:grpSp>
        <p:nvGrpSpPr>
          <p:cNvPr id="30" name="Group 30"/>
          <p:cNvGrpSpPr/>
          <p:nvPr/>
        </p:nvGrpSpPr>
        <p:grpSpPr>
          <a:xfrm>
            <a:off x="8328316" y="6207156"/>
            <a:ext cx="10024538" cy="3266743"/>
            <a:chOff x="0" y="0"/>
            <a:chExt cx="13366051" cy="4355657"/>
          </a:xfrm>
        </p:grpSpPr>
        <p:sp>
          <p:nvSpPr>
            <p:cNvPr id="31" name="Freeform 31"/>
            <p:cNvSpPr/>
            <p:nvPr/>
          </p:nvSpPr>
          <p:spPr>
            <a:xfrm>
              <a:off x="0" y="0"/>
              <a:ext cx="13366051" cy="2483499"/>
            </a:xfrm>
            <a:custGeom>
              <a:avLst/>
              <a:gdLst/>
              <a:ahLst/>
              <a:cxnLst/>
              <a:rect l="l" t="t" r="r" b="b"/>
              <a:pathLst>
                <a:path w="13366051" h="2483499">
                  <a:moveTo>
                    <a:pt x="0" y="0"/>
                  </a:moveTo>
                  <a:lnTo>
                    <a:pt x="13366051" y="0"/>
                  </a:lnTo>
                  <a:lnTo>
                    <a:pt x="13366051" y="2483499"/>
                  </a:lnTo>
                  <a:lnTo>
                    <a:pt x="0" y="2483499"/>
                  </a:lnTo>
                  <a:lnTo>
                    <a:pt x="0" y="0"/>
                  </a:lnTo>
                  <a:close/>
                </a:path>
              </a:pathLst>
            </a:custGeom>
            <a:blipFill>
              <a:blip r:embed="rId6"/>
              <a:stretch>
                <a:fillRect/>
              </a:stretch>
            </a:blipFill>
          </p:spPr>
          <p:txBody>
            <a:bodyPr/>
            <a:lstStyle/>
            <a:p>
              <a:endParaRPr lang="ar-EG"/>
            </a:p>
          </p:txBody>
        </p:sp>
        <p:sp>
          <p:nvSpPr>
            <p:cNvPr id="32" name="Freeform 32"/>
            <p:cNvSpPr/>
            <p:nvPr/>
          </p:nvSpPr>
          <p:spPr>
            <a:xfrm>
              <a:off x="0" y="2083865"/>
              <a:ext cx="13324891" cy="2271792"/>
            </a:xfrm>
            <a:custGeom>
              <a:avLst/>
              <a:gdLst/>
              <a:ahLst/>
              <a:cxnLst/>
              <a:rect l="l" t="t" r="r" b="b"/>
              <a:pathLst>
                <a:path w="13324891" h="2271792">
                  <a:moveTo>
                    <a:pt x="0" y="0"/>
                  </a:moveTo>
                  <a:lnTo>
                    <a:pt x="13324891" y="0"/>
                  </a:lnTo>
                  <a:lnTo>
                    <a:pt x="13324891" y="2271792"/>
                  </a:lnTo>
                  <a:lnTo>
                    <a:pt x="0" y="2271792"/>
                  </a:lnTo>
                  <a:lnTo>
                    <a:pt x="0" y="0"/>
                  </a:lnTo>
                  <a:close/>
                </a:path>
              </a:pathLst>
            </a:custGeom>
            <a:blipFill>
              <a:blip r:embed="rId7"/>
              <a:stretch>
                <a:fillRect t="-5977" b="-11908"/>
              </a:stretch>
            </a:blipFill>
          </p:spPr>
          <p:txBody>
            <a:bodyPr/>
            <a:lstStyle/>
            <a:p>
              <a:endParaRPr lang="ar-EG"/>
            </a:p>
          </p:txBody>
        </p:sp>
      </p:grpSp>
      <p:sp>
        <p:nvSpPr>
          <p:cNvPr id="33" name="Freeform 33"/>
          <p:cNvSpPr/>
          <p:nvPr/>
        </p:nvSpPr>
        <p:spPr>
          <a:xfrm>
            <a:off x="10262657" y="3337462"/>
            <a:ext cx="7497650" cy="2622043"/>
          </a:xfrm>
          <a:custGeom>
            <a:avLst/>
            <a:gdLst/>
            <a:ahLst/>
            <a:cxnLst/>
            <a:rect l="l" t="t" r="r" b="b"/>
            <a:pathLst>
              <a:path w="7497650" h="2622043">
                <a:moveTo>
                  <a:pt x="0" y="0"/>
                </a:moveTo>
                <a:lnTo>
                  <a:pt x="7497650" y="0"/>
                </a:lnTo>
                <a:lnTo>
                  <a:pt x="7497650" y="2622044"/>
                </a:lnTo>
                <a:lnTo>
                  <a:pt x="0" y="2622044"/>
                </a:lnTo>
                <a:lnTo>
                  <a:pt x="0" y="0"/>
                </a:lnTo>
                <a:close/>
              </a:path>
            </a:pathLst>
          </a:custGeom>
          <a:blipFill>
            <a:blip r:embed="rId8"/>
            <a:stretch>
              <a:fillRect l="-7847" r="-21649" b="-18571"/>
            </a:stretch>
          </a:blipFill>
        </p:spPr>
        <p:txBody>
          <a:bodyPr/>
          <a:lstStyle/>
          <a:p>
            <a:endParaRPr lang="ar-EG"/>
          </a:p>
        </p:txBody>
      </p:sp>
      <p:sp>
        <p:nvSpPr>
          <p:cNvPr id="34" name="TextBox 34"/>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35" name="TextBox 35"/>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36" name="TextBox 36"/>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37" name="TextBox 37"/>
          <p:cNvSpPr txBox="1"/>
          <p:nvPr/>
        </p:nvSpPr>
        <p:spPr>
          <a:xfrm>
            <a:off x="11320711"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5</a:t>
            </a:r>
          </a:p>
        </p:txBody>
      </p:sp>
      <p:sp>
        <p:nvSpPr>
          <p:cNvPr id="38" name="TextBox 38"/>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39" name="TextBox 39"/>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40" name="TextBox 40"/>
          <p:cNvSpPr txBox="1"/>
          <p:nvPr/>
        </p:nvSpPr>
        <p:spPr>
          <a:xfrm>
            <a:off x="10282878" y="2361967"/>
            <a:ext cx="2704826" cy="306689"/>
          </a:xfrm>
          <a:prstGeom prst="rect">
            <a:avLst/>
          </a:prstGeom>
        </p:spPr>
        <p:txBody>
          <a:bodyPr lIns="0" tIns="0" rIns="0" bIns="0" rtlCol="0" anchor="t">
            <a:spAutoFit/>
          </a:bodyPr>
          <a:lstStyle/>
          <a:p>
            <a:pPr marL="0" lvl="0" indent="0" algn="ctr">
              <a:lnSpc>
                <a:spcPts val="2447"/>
              </a:lnSpc>
              <a:spcBef>
                <a:spcPct val="0"/>
              </a:spcBef>
            </a:pPr>
            <a:r>
              <a:rPr lang="en-US" sz="1911" b="1" u="none" strike="noStrike">
                <a:solidFill>
                  <a:srgbClr val="043732"/>
                </a:solidFill>
                <a:latin typeface="Montserrat Bold"/>
                <a:ea typeface="Montserrat Bold"/>
                <a:cs typeface="Montserrat Bold"/>
                <a:sym typeface="Montserrat Bold"/>
              </a:rPr>
              <a:t>ML model</a:t>
            </a:r>
          </a:p>
        </p:txBody>
      </p:sp>
    </p:spTree>
  </p:cSld>
  <p:clrMapOvr>
    <a:masterClrMapping/>
  </p:clrMapOvr>
  <p:transition spd="slow">
    <p:cover dir="l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3" name="Rectangle: Rounded Corners 32">
            <a:extLst>
              <a:ext uri="{FF2B5EF4-FFF2-40B4-BE49-F238E27FC236}">
                <a16:creationId xmlns:a16="http://schemas.microsoft.com/office/drawing/2014/main" id="{ADF4FEF3-A7A1-5EAB-4CB4-54BAF6B7E08C}"/>
              </a:ext>
            </a:extLst>
          </p:cNvPr>
          <p:cNvSpPr/>
          <p:nvPr/>
        </p:nvSpPr>
        <p:spPr>
          <a:xfrm>
            <a:off x="10896600" y="2336777"/>
            <a:ext cx="1473084" cy="361508"/>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dirty="0"/>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940637" y="3575038"/>
            <a:ext cx="8812342" cy="5683262"/>
            <a:chOff x="0" y="0"/>
            <a:chExt cx="11749789" cy="7577682"/>
          </a:xfrm>
        </p:grpSpPr>
        <p:grpSp>
          <p:nvGrpSpPr>
            <p:cNvPr id="13" name="Group 13"/>
            <p:cNvGrpSpPr/>
            <p:nvPr/>
          </p:nvGrpSpPr>
          <p:grpSpPr>
            <a:xfrm rot="-5400000">
              <a:off x="2502267" y="-1669839"/>
              <a:ext cx="7577682" cy="10917360"/>
              <a:chOff x="0" y="0"/>
              <a:chExt cx="988996" cy="1424872"/>
            </a:xfrm>
          </p:grpSpPr>
          <p:sp>
            <p:nvSpPr>
              <p:cNvPr id="14" name="Freeform 14"/>
              <p:cNvSpPr/>
              <p:nvPr/>
            </p:nvSpPr>
            <p:spPr>
              <a:xfrm>
                <a:off x="0" y="0"/>
                <a:ext cx="988996" cy="1424872"/>
              </a:xfrm>
              <a:custGeom>
                <a:avLst/>
                <a:gdLst/>
                <a:ahLst/>
                <a:cxnLst/>
                <a:rect l="l" t="t" r="r" b="b"/>
                <a:pathLst>
                  <a:path w="988996" h="1424872">
                    <a:moveTo>
                      <a:pt x="329844" y="1405803"/>
                    </a:moveTo>
                    <a:cubicBezTo>
                      <a:pt x="380547" y="1417317"/>
                      <a:pt x="438190" y="1424872"/>
                      <a:pt x="494764" y="1424872"/>
                    </a:cubicBezTo>
                    <a:cubicBezTo>
                      <a:pt x="551341" y="1424872"/>
                      <a:pt x="605781" y="1418395"/>
                      <a:pt x="655950" y="1406881"/>
                    </a:cubicBezTo>
                    <a:cubicBezTo>
                      <a:pt x="657019" y="1406522"/>
                      <a:pt x="658086" y="1406522"/>
                      <a:pt x="659153" y="1406162"/>
                    </a:cubicBezTo>
                    <a:cubicBezTo>
                      <a:pt x="847558" y="1360107"/>
                      <a:pt x="986328" y="1238493"/>
                      <a:pt x="988996" y="1082774"/>
                    </a:cubicBezTo>
                    <a:lnTo>
                      <a:pt x="988996" y="0"/>
                    </a:lnTo>
                    <a:lnTo>
                      <a:pt x="0" y="0"/>
                    </a:lnTo>
                    <a:lnTo>
                      <a:pt x="0" y="1081971"/>
                    </a:lnTo>
                    <a:cubicBezTo>
                      <a:pt x="2669" y="1239212"/>
                      <a:pt x="139303" y="1360827"/>
                      <a:pt x="329844" y="1405803"/>
                    </a:cubicBezTo>
                    <a:close/>
                  </a:path>
                </a:pathLst>
              </a:custGeom>
              <a:solidFill>
                <a:srgbClr val="043732"/>
              </a:solidFill>
            </p:spPr>
            <p:txBody>
              <a:bodyPr/>
              <a:lstStyle/>
              <a:p>
                <a:endParaRPr lang="ar-EG"/>
              </a:p>
            </p:txBody>
          </p:sp>
          <p:sp>
            <p:nvSpPr>
              <p:cNvPr id="15" name="TextBox 15"/>
              <p:cNvSpPr txBox="1"/>
              <p:nvPr/>
            </p:nvSpPr>
            <p:spPr>
              <a:xfrm>
                <a:off x="0" y="-28575"/>
                <a:ext cx="988996" cy="1326447"/>
              </a:xfrm>
              <a:prstGeom prst="rect">
                <a:avLst/>
              </a:prstGeom>
            </p:spPr>
            <p:txBody>
              <a:bodyPr lIns="61142" tIns="61142" rIns="61142" bIns="61142" rtlCol="0" anchor="ctr"/>
              <a:lstStyle/>
              <a:p>
                <a:pPr algn="ctr">
                  <a:lnSpc>
                    <a:spcPts val="2520"/>
                  </a:lnSpc>
                </a:pPr>
                <a:endParaRPr/>
              </a:p>
            </p:txBody>
          </p:sp>
        </p:grpSp>
        <p:grpSp>
          <p:nvGrpSpPr>
            <p:cNvPr id="16" name="Group 16"/>
            <p:cNvGrpSpPr/>
            <p:nvPr/>
          </p:nvGrpSpPr>
          <p:grpSpPr>
            <a:xfrm>
              <a:off x="0" y="247281"/>
              <a:ext cx="9272687" cy="824393"/>
              <a:chOff x="0" y="0"/>
              <a:chExt cx="1521834" cy="135299"/>
            </a:xfrm>
          </p:grpSpPr>
          <p:sp>
            <p:nvSpPr>
              <p:cNvPr id="17" name="Freeform 17"/>
              <p:cNvSpPr/>
              <p:nvPr/>
            </p:nvSpPr>
            <p:spPr>
              <a:xfrm>
                <a:off x="0" y="0"/>
                <a:ext cx="1521834" cy="135299"/>
              </a:xfrm>
              <a:custGeom>
                <a:avLst/>
                <a:gdLst/>
                <a:ahLst/>
                <a:cxnLst/>
                <a:rect l="l" t="t" r="r" b="b"/>
                <a:pathLst>
                  <a:path w="1521834" h="135299">
                    <a:moveTo>
                      <a:pt x="0" y="0"/>
                    </a:moveTo>
                    <a:lnTo>
                      <a:pt x="1318634" y="0"/>
                    </a:lnTo>
                    <a:lnTo>
                      <a:pt x="1521834" y="67650"/>
                    </a:lnTo>
                    <a:lnTo>
                      <a:pt x="1318634" y="135299"/>
                    </a:lnTo>
                    <a:lnTo>
                      <a:pt x="0" y="135299"/>
                    </a:lnTo>
                    <a:lnTo>
                      <a:pt x="203200" y="67650"/>
                    </a:lnTo>
                    <a:lnTo>
                      <a:pt x="0" y="0"/>
                    </a:lnTo>
                    <a:close/>
                  </a:path>
                </a:pathLst>
              </a:custGeom>
              <a:solidFill>
                <a:srgbClr val="F7F2DE"/>
              </a:solidFill>
            </p:spPr>
            <p:txBody>
              <a:bodyPr/>
              <a:lstStyle/>
              <a:p>
                <a:endParaRPr lang="ar-EG"/>
              </a:p>
            </p:txBody>
          </p:sp>
          <p:sp>
            <p:nvSpPr>
              <p:cNvPr id="18" name="TextBox 18"/>
              <p:cNvSpPr txBox="1"/>
              <p:nvPr/>
            </p:nvSpPr>
            <p:spPr>
              <a:xfrm>
                <a:off x="177800" y="-28575"/>
                <a:ext cx="1267834" cy="163874"/>
              </a:xfrm>
              <a:prstGeom prst="rect">
                <a:avLst/>
              </a:prstGeom>
            </p:spPr>
            <p:txBody>
              <a:bodyPr lIns="61142" tIns="61142" rIns="61142" bIns="61142" rtlCol="0" anchor="ctr"/>
              <a:lstStyle/>
              <a:p>
                <a:pPr algn="ctr">
                  <a:lnSpc>
                    <a:spcPts val="2520"/>
                  </a:lnSpc>
                </a:pPr>
                <a:endParaRPr/>
              </a:p>
            </p:txBody>
          </p:sp>
        </p:grpSp>
        <p:sp>
          <p:nvSpPr>
            <p:cNvPr id="19" name="TextBox 19"/>
            <p:cNvSpPr txBox="1"/>
            <p:nvPr/>
          </p:nvSpPr>
          <p:spPr>
            <a:xfrm>
              <a:off x="1362584" y="161556"/>
              <a:ext cx="6620827" cy="910118"/>
            </a:xfrm>
            <a:prstGeom prst="rect">
              <a:avLst/>
            </a:prstGeom>
          </p:spPr>
          <p:txBody>
            <a:bodyPr lIns="0" tIns="0" rIns="0" bIns="0" rtlCol="0" anchor="t">
              <a:spAutoFit/>
            </a:bodyPr>
            <a:lstStyle/>
            <a:p>
              <a:pPr algn="l">
                <a:lnSpc>
                  <a:spcPts val="5729"/>
                </a:lnSpc>
              </a:pPr>
              <a:r>
                <a:rPr lang="en-US" sz="4092" b="1">
                  <a:solidFill>
                    <a:srgbClr val="043732"/>
                  </a:solidFill>
                  <a:latin typeface="Canva Sans Bold"/>
                  <a:ea typeface="Canva Sans Bold"/>
                  <a:cs typeface="Canva Sans Bold"/>
                  <a:sym typeface="Canva Sans Bold"/>
                </a:rPr>
                <a:t>Preparing the Data</a:t>
              </a:r>
            </a:p>
          </p:txBody>
        </p:sp>
        <p:sp>
          <p:nvSpPr>
            <p:cNvPr id="20" name="TextBox 20"/>
            <p:cNvSpPr txBox="1"/>
            <p:nvPr/>
          </p:nvSpPr>
          <p:spPr>
            <a:xfrm>
              <a:off x="1362584" y="1338375"/>
              <a:ext cx="9542004" cy="5910580"/>
            </a:xfrm>
            <a:prstGeom prst="rect">
              <a:avLst/>
            </a:prstGeom>
          </p:spPr>
          <p:txBody>
            <a:bodyPr lIns="0" tIns="0" rIns="0" bIns="0" rtlCol="0" anchor="t">
              <a:spAutoFit/>
            </a:bodyPr>
            <a:lstStyle/>
            <a:p>
              <a:pPr algn="l">
                <a:lnSpc>
                  <a:spcPts val="2940"/>
                </a:lnSpc>
              </a:pPr>
              <a:r>
                <a:rPr lang="en-US" sz="2100">
                  <a:solidFill>
                    <a:srgbClr val="F7F2DE"/>
                  </a:solidFill>
                  <a:latin typeface="Canva Sans"/>
                  <a:ea typeface="Canva Sans"/>
                  <a:cs typeface="Canva Sans"/>
                  <a:sym typeface="Canva Sans"/>
                </a:rPr>
                <a:t>Before any model can learn, the data must be structured in a way the algorithm can genuinely work with. This preparation stage involved four critical decisions:</a:t>
              </a:r>
            </a:p>
            <a:p>
              <a:pPr marL="453390" lvl="1" indent="-226695" algn="l">
                <a:lnSpc>
                  <a:spcPts val="2940"/>
                </a:lnSpc>
                <a:buFont typeface="Arial"/>
                <a:buChar char="•"/>
              </a:pPr>
              <a:r>
                <a:rPr lang="en-US" sz="2100">
                  <a:solidFill>
                    <a:srgbClr val="F7F2DE"/>
                  </a:solidFill>
                  <a:latin typeface="Canva Sans"/>
                  <a:ea typeface="Canva Sans"/>
                  <a:cs typeface="Canva Sans"/>
                  <a:sym typeface="Canva Sans"/>
                </a:rPr>
                <a:t>Convert text labels into numeric codes the model can process</a:t>
              </a:r>
            </a:p>
            <a:p>
              <a:pPr marL="453390" lvl="1" indent="-226695" algn="l">
                <a:lnSpc>
                  <a:spcPts val="2940"/>
                </a:lnSpc>
                <a:buFont typeface="Arial"/>
                <a:buChar char="•"/>
              </a:pPr>
              <a:r>
                <a:rPr lang="en-US" sz="2100">
                  <a:solidFill>
                    <a:srgbClr val="F7F2DE"/>
                  </a:solidFill>
                  <a:latin typeface="Canva Sans"/>
                  <a:ea typeface="Canva Sans"/>
                  <a:cs typeface="Canva Sans"/>
                  <a:sym typeface="Canva Sans"/>
                </a:rPr>
                <a:t>Retain only features with genuine predictive signal for price</a:t>
              </a:r>
            </a:p>
            <a:p>
              <a:pPr marL="453390" lvl="1" indent="-226695" algn="l">
                <a:lnSpc>
                  <a:spcPts val="2940"/>
                </a:lnSpc>
                <a:buFont typeface="Arial"/>
                <a:buChar char="•"/>
              </a:pPr>
              <a:r>
                <a:rPr lang="en-US" sz="2100">
                  <a:solidFill>
                    <a:srgbClr val="F7F2DE"/>
                  </a:solidFill>
                  <a:latin typeface="Canva Sans"/>
                  <a:ea typeface="Canva Sans"/>
                  <a:cs typeface="Canva Sans"/>
                  <a:sym typeface="Canva Sans"/>
                </a:rPr>
                <a:t>Compress the skewed price distribution and reduce impact of extreme outliers. </a:t>
              </a:r>
            </a:p>
            <a:p>
              <a:pPr marL="453390" lvl="1" indent="-226695" algn="l">
                <a:lnSpc>
                  <a:spcPts val="2940"/>
                </a:lnSpc>
                <a:buFont typeface="Arial"/>
                <a:buChar char="•"/>
              </a:pPr>
              <a:r>
                <a:rPr lang="en-US" sz="2100">
                  <a:solidFill>
                    <a:srgbClr val="F7F2DE"/>
                  </a:solidFill>
                  <a:latin typeface="Canva Sans"/>
                  <a:ea typeface="Canva Sans"/>
                  <a:cs typeface="Canva Sans"/>
                  <a:sym typeface="Canva Sans"/>
                </a:rPr>
                <a:t>Reserve 20% of data as unseen test set for honest evaluation</a:t>
              </a:r>
            </a:p>
          </p:txBody>
        </p:sp>
      </p:grpSp>
      <p:grpSp>
        <p:nvGrpSpPr>
          <p:cNvPr id="21" name="Group 21"/>
          <p:cNvGrpSpPr/>
          <p:nvPr/>
        </p:nvGrpSpPr>
        <p:grpSpPr>
          <a:xfrm>
            <a:off x="8013736" y="7019058"/>
            <a:ext cx="9831494" cy="2669206"/>
            <a:chOff x="0" y="0"/>
            <a:chExt cx="13108659" cy="3558942"/>
          </a:xfrm>
        </p:grpSpPr>
        <p:sp>
          <p:nvSpPr>
            <p:cNvPr id="22" name="Freeform 22"/>
            <p:cNvSpPr/>
            <p:nvPr/>
          </p:nvSpPr>
          <p:spPr>
            <a:xfrm>
              <a:off x="0" y="0"/>
              <a:ext cx="13058872" cy="1671578"/>
            </a:xfrm>
            <a:custGeom>
              <a:avLst/>
              <a:gdLst/>
              <a:ahLst/>
              <a:cxnLst/>
              <a:rect l="l" t="t" r="r" b="b"/>
              <a:pathLst>
                <a:path w="13058872" h="1671578">
                  <a:moveTo>
                    <a:pt x="0" y="0"/>
                  </a:moveTo>
                  <a:lnTo>
                    <a:pt x="13058872" y="0"/>
                  </a:lnTo>
                  <a:lnTo>
                    <a:pt x="13058872" y="1671578"/>
                  </a:lnTo>
                  <a:lnTo>
                    <a:pt x="0" y="1671578"/>
                  </a:lnTo>
                  <a:lnTo>
                    <a:pt x="0" y="0"/>
                  </a:lnTo>
                  <a:close/>
                </a:path>
              </a:pathLst>
            </a:custGeom>
            <a:blipFill>
              <a:blip r:embed="rId6"/>
              <a:stretch>
                <a:fillRect t="-8339" b="-354148"/>
              </a:stretch>
            </a:blipFill>
          </p:spPr>
          <p:txBody>
            <a:bodyPr/>
            <a:lstStyle/>
            <a:p>
              <a:endParaRPr lang="ar-EG"/>
            </a:p>
          </p:txBody>
        </p:sp>
        <p:sp>
          <p:nvSpPr>
            <p:cNvPr id="23" name="Freeform 23"/>
            <p:cNvSpPr/>
            <p:nvPr/>
          </p:nvSpPr>
          <p:spPr>
            <a:xfrm>
              <a:off x="0" y="1671578"/>
              <a:ext cx="13058872" cy="1265231"/>
            </a:xfrm>
            <a:custGeom>
              <a:avLst/>
              <a:gdLst/>
              <a:ahLst/>
              <a:cxnLst/>
              <a:rect l="l" t="t" r="r" b="b"/>
              <a:pathLst>
                <a:path w="13058872" h="1265231">
                  <a:moveTo>
                    <a:pt x="0" y="0"/>
                  </a:moveTo>
                  <a:lnTo>
                    <a:pt x="13058872" y="0"/>
                  </a:lnTo>
                  <a:lnTo>
                    <a:pt x="13058872" y="1265232"/>
                  </a:lnTo>
                  <a:lnTo>
                    <a:pt x="0" y="1265232"/>
                  </a:lnTo>
                  <a:lnTo>
                    <a:pt x="0" y="0"/>
                  </a:lnTo>
                  <a:close/>
                </a:path>
              </a:pathLst>
            </a:custGeom>
            <a:blipFill>
              <a:blip r:embed="rId6"/>
              <a:stretch>
                <a:fillRect t="-253734" b="-257288"/>
              </a:stretch>
            </a:blipFill>
          </p:spPr>
          <p:txBody>
            <a:bodyPr/>
            <a:lstStyle/>
            <a:p>
              <a:endParaRPr lang="ar-EG"/>
            </a:p>
          </p:txBody>
        </p:sp>
        <p:sp>
          <p:nvSpPr>
            <p:cNvPr id="24" name="Freeform 24"/>
            <p:cNvSpPr/>
            <p:nvPr/>
          </p:nvSpPr>
          <p:spPr>
            <a:xfrm>
              <a:off x="49787" y="2936810"/>
              <a:ext cx="13058872" cy="622132"/>
            </a:xfrm>
            <a:custGeom>
              <a:avLst/>
              <a:gdLst/>
              <a:ahLst/>
              <a:cxnLst/>
              <a:rect l="l" t="t" r="r" b="b"/>
              <a:pathLst>
                <a:path w="13058872" h="622132">
                  <a:moveTo>
                    <a:pt x="0" y="0"/>
                  </a:moveTo>
                  <a:lnTo>
                    <a:pt x="13058872" y="0"/>
                  </a:lnTo>
                  <a:lnTo>
                    <a:pt x="13058872" y="622132"/>
                  </a:lnTo>
                  <a:lnTo>
                    <a:pt x="0" y="622132"/>
                  </a:lnTo>
                  <a:lnTo>
                    <a:pt x="0" y="0"/>
                  </a:lnTo>
                  <a:close/>
                </a:path>
              </a:pathLst>
            </a:custGeom>
            <a:blipFill>
              <a:blip r:embed="rId6"/>
              <a:stretch>
                <a:fillRect t="-892136" b="-250501"/>
              </a:stretch>
            </a:blipFill>
          </p:spPr>
          <p:txBody>
            <a:bodyPr/>
            <a:lstStyle/>
            <a:p>
              <a:endParaRPr lang="ar-EG"/>
            </a:p>
          </p:txBody>
        </p:sp>
      </p:grpSp>
      <p:sp>
        <p:nvSpPr>
          <p:cNvPr id="25" name="TextBox 25"/>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6" name="TextBox 26"/>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7" name="TextBox 27"/>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8" name="TextBox 28"/>
          <p:cNvSpPr txBox="1"/>
          <p:nvPr/>
        </p:nvSpPr>
        <p:spPr>
          <a:xfrm>
            <a:off x="11320711"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5</a:t>
            </a:r>
          </a:p>
        </p:txBody>
      </p:sp>
      <p:sp>
        <p:nvSpPr>
          <p:cNvPr id="29" name="TextBox 29"/>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30" name="TextBox 30"/>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31" name="TextBox 31"/>
          <p:cNvSpPr txBox="1"/>
          <p:nvPr/>
        </p:nvSpPr>
        <p:spPr>
          <a:xfrm>
            <a:off x="10282878" y="2361967"/>
            <a:ext cx="2704826" cy="306689"/>
          </a:xfrm>
          <a:prstGeom prst="rect">
            <a:avLst/>
          </a:prstGeom>
        </p:spPr>
        <p:txBody>
          <a:bodyPr lIns="0" tIns="0" rIns="0" bIns="0" rtlCol="0" anchor="t">
            <a:spAutoFit/>
          </a:bodyPr>
          <a:lstStyle/>
          <a:p>
            <a:pPr marL="0" lvl="0" indent="0" algn="ctr">
              <a:lnSpc>
                <a:spcPts val="2447"/>
              </a:lnSpc>
              <a:spcBef>
                <a:spcPct val="0"/>
              </a:spcBef>
            </a:pPr>
            <a:r>
              <a:rPr lang="en-US" sz="1911" b="1" u="none" strike="noStrike">
                <a:solidFill>
                  <a:srgbClr val="043732"/>
                </a:solidFill>
                <a:latin typeface="Montserrat Bold"/>
                <a:ea typeface="Montserrat Bold"/>
                <a:cs typeface="Montserrat Bold"/>
                <a:sym typeface="Montserrat Bold"/>
              </a:rPr>
              <a:t>ML model</a:t>
            </a:r>
          </a:p>
        </p:txBody>
      </p:sp>
      <p:sp>
        <p:nvSpPr>
          <p:cNvPr id="32" name="Freeform 32"/>
          <p:cNvSpPr/>
          <p:nvPr/>
        </p:nvSpPr>
        <p:spPr>
          <a:xfrm>
            <a:off x="8071246" y="2890173"/>
            <a:ext cx="9188054" cy="3909810"/>
          </a:xfrm>
          <a:custGeom>
            <a:avLst/>
            <a:gdLst/>
            <a:ahLst/>
            <a:cxnLst/>
            <a:rect l="l" t="t" r="r" b="b"/>
            <a:pathLst>
              <a:path w="9188054" h="3909810">
                <a:moveTo>
                  <a:pt x="0" y="0"/>
                </a:moveTo>
                <a:lnTo>
                  <a:pt x="9188054" y="0"/>
                </a:lnTo>
                <a:lnTo>
                  <a:pt x="9188054" y="3909810"/>
                </a:lnTo>
                <a:lnTo>
                  <a:pt x="0" y="3909810"/>
                </a:lnTo>
                <a:lnTo>
                  <a:pt x="0" y="0"/>
                </a:lnTo>
                <a:close/>
              </a:path>
            </a:pathLst>
          </a:custGeom>
          <a:blipFill>
            <a:blip r:embed="rId7"/>
            <a:stretch>
              <a:fillRect/>
            </a:stretch>
          </a:blipFill>
        </p:spPr>
        <p:txBody>
          <a:bodyPr/>
          <a:lstStyle/>
          <a:p>
            <a:endParaRPr lang="ar-EG"/>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2" name="Freeform 12"/>
          <p:cNvSpPr/>
          <p:nvPr/>
        </p:nvSpPr>
        <p:spPr>
          <a:xfrm>
            <a:off x="13143921" y="2085437"/>
            <a:ext cx="4703793" cy="7618344"/>
          </a:xfrm>
          <a:custGeom>
            <a:avLst/>
            <a:gdLst/>
            <a:ahLst/>
            <a:cxnLst/>
            <a:rect l="l" t="t" r="r" b="b"/>
            <a:pathLst>
              <a:path w="4703793" h="7618344">
                <a:moveTo>
                  <a:pt x="0" y="0"/>
                </a:moveTo>
                <a:lnTo>
                  <a:pt x="4703793" y="0"/>
                </a:lnTo>
                <a:lnTo>
                  <a:pt x="4703793" y="7618344"/>
                </a:lnTo>
                <a:lnTo>
                  <a:pt x="0" y="7618344"/>
                </a:lnTo>
                <a:lnTo>
                  <a:pt x="0" y="0"/>
                </a:lnTo>
                <a:close/>
              </a:path>
            </a:pathLst>
          </a:custGeom>
          <a:blipFill>
            <a:blip r:embed="rId6"/>
            <a:stretch>
              <a:fillRect/>
            </a:stretch>
          </a:blipFill>
        </p:spPr>
        <p:txBody>
          <a:bodyPr/>
          <a:lstStyle/>
          <a:p>
            <a:endParaRPr lang="ar-EG"/>
          </a:p>
        </p:txBody>
      </p:sp>
      <p:sp>
        <p:nvSpPr>
          <p:cNvPr id="13" name="Freeform 13"/>
          <p:cNvSpPr/>
          <p:nvPr/>
        </p:nvSpPr>
        <p:spPr>
          <a:xfrm>
            <a:off x="220147" y="2836032"/>
            <a:ext cx="12767557" cy="976531"/>
          </a:xfrm>
          <a:custGeom>
            <a:avLst/>
            <a:gdLst/>
            <a:ahLst/>
            <a:cxnLst/>
            <a:rect l="l" t="t" r="r" b="b"/>
            <a:pathLst>
              <a:path w="12767557" h="976531">
                <a:moveTo>
                  <a:pt x="0" y="0"/>
                </a:moveTo>
                <a:lnTo>
                  <a:pt x="12767557" y="0"/>
                </a:lnTo>
                <a:lnTo>
                  <a:pt x="12767557" y="976531"/>
                </a:lnTo>
                <a:lnTo>
                  <a:pt x="0" y="976531"/>
                </a:lnTo>
                <a:lnTo>
                  <a:pt x="0" y="0"/>
                </a:lnTo>
                <a:close/>
              </a:path>
            </a:pathLst>
          </a:custGeom>
          <a:blipFill>
            <a:blip r:embed="rId7"/>
            <a:stretch>
              <a:fillRect t="-623525" b="-50479"/>
            </a:stretch>
          </a:blipFill>
        </p:spPr>
        <p:txBody>
          <a:bodyPr/>
          <a:lstStyle/>
          <a:p>
            <a:endParaRPr lang="ar-EG"/>
          </a:p>
        </p:txBody>
      </p:sp>
      <p:grpSp>
        <p:nvGrpSpPr>
          <p:cNvPr id="14" name="Group 14"/>
          <p:cNvGrpSpPr/>
          <p:nvPr/>
        </p:nvGrpSpPr>
        <p:grpSpPr>
          <a:xfrm>
            <a:off x="-859476" y="3979939"/>
            <a:ext cx="13664569" cy="5723842"/>
            <a:chOff x="0" y="0"/>
            <a:chExt cx="18219425" cy="7631789"/>
          </a:xfrm>
        </p:grpSpPr>
        <p:grpSp>
          <p:nvGrpSpPr>
            <p:cNvPr id="15" name="Group 15"/>
            <p:cNvGrpSpPr/>
            <p:nvPr/>
          </p:nvGrpSpPr>
          <p:grpSpPr>
            <a:xfrm rot="-5400000">
              <a:off x="5750613" y="-4837024"/>
              <a:ext cx="7631789" cy="17305837"/>
              <a:chOff x="0" y="0"/>
              <a:chExt cx="996058" cy="2258660"/>
            </a:xfrm>
          </p:grpSpPr>
          <p:sp>
            <p:nvSpPr>
              <p:cNvPr id="16" name="Freeform 16"/>
              <p:cNvSpPr/>
              <p:nvPr/>
            </p:nvSpPr>
            <p:spPr>
              <a:xfrm>
                <a:off x="0" y="0"/>
                <a:ext cx="996058" cy="2258660"/>
              </a:xfrm>
              <a:custGeom>
                <a:avLst/>
                <a:gdLst/>
                <a:ahLst/>
                <a:cxnLst/>
                <a:rect l="l" t="t" r="r" b="b"/>
                <a:pathLst>
                  <a:path w="996058" h="2258660">
                    <a:moveTo>
                      <a:pt x="332199" y="2239591"/>
                    </a:moveTo>
                    <a:cubicBezTo>
                      <a:pt x="383264" y="2251104"/>
                      <a:pt x="441319" y="2258660"/>
                      <a:pt x="498297" y="2258660"/>
                    </a:cubicBezTo>
                    <a:cubicBezTo>
                      <a:pt x="555277" y="2258660"/>
                      <a:pt x="610107" y="2252183"/>
                      <a:pt x="660633" y="2240669"/>
                    </a:cubicBezTo>
                    <a:cubicBezTo>
                      <a:pt x="661710" y="2240309"/>
                      <a:pt x="662785" y="2240309"/>
                      <a:pt x="663859" y="2239950"/>
                    </a:cubicBezTo>
                    <a:cubicBezTo>
                      <a:pt x="853610" y="2193895"/>
                      <a:pt x="993370" y="2072281"/>
                      <a:pt x="996058" y="1898041"/>
                    </a:cubicBezTo>
                    <a:lnTo>
                      <a:pt x="996058" y="0"/>
                    </a:lnTo>
                    <a:lnTo>
                      <a:pt x="0" y="0"/>
                    </a:lnTo>
                    <a:lnTo>
                      <a:pt x="0" y="1896632"/>
                    </a:lnTo>
                    <a:cubicBezTo>
                      <a:pt x="2688" y="2073000"/>
                      <a:pt x="140297" y="2194615"/>
                      <a:pt x="332199" y="2239591"/>
                    </a:cubicBezTo>
                    <a:close/>
                  </a:path>
                </a:pathLst>
              </a:custGeom>
              <a:solidFill>
                <a:srgbClr val="043732"/>
              </a:solidFill>
            </p:spPr>
            <p:txBody>
              <a:bodyPr/>
              <a:lstStyle/>
              <a:p>
                <a:endParaRPr lang="ar-EG"/>
              </a:p>
            </p:txBody>
          </p:sp>
          <p:sp>
            <p:nvSpPr>
              <p:cNvPr id="17" name="TextBox 17"/>
              <p:cNvSpPr txBox="1"/>
              <p:nvPr/>
            </p:nvSpPr>
            <p:spPr>
              <a:xfrm>
                <a:off x="0" y="-28575"/>
                <a:ext cx="996058" cy="2160235"/>
              </a:xfrm>
              <a:prstGeom prst="rect">
                <a:avLst/>
              </a:prstGeom>
            </p:spPr>
            <p:txBody>
              <a:bodyPr lIns="61142" tIns="61142" rIns="61142" bIns="61142" rtlCol="0" anchor="ctr"/>
              <a:lstStyle/>
              <a:p>
                <a:pPr algn="ctr">
                  <a:lnSpc>
                    <a:spcPts val="2520"/>
                  </a:lnSpc>
                </a:pPr>
                <a:endParaRPr/>
              </a:p>
            </p:txBody>
          </p:sp>
        </p:grpSp>
        <p:grpSp>
          <p:nvGrpSpPr>
            <p:cNvPr id="18" name="Group 18"/>
            <p:cNvGrpSpPr/>
            <p:nvPr/>
          </p:nvGrpSpPr>
          <p:grpSpPr>
            <a:xfrm>
              <a:off x="0" y="163263"/>
              <a:ext cx="9272687" cy="824393"/>
              <a:chOff x="0" y="0"/>
              <a:chExt cx="1521834" cy="135299"/>
            </a:xfrm>
          </p:grpSpPr>
          <p:sp>
            <p:nvSpPr>
              <p:cNvPr id="19" name="Freeform 19"/>
              <p:cNvSpPr/>
              <p:nvPr/>
            </p:nvSpPr>
            <p:spPr>
              <a:xfrm>
                <a:off x="0" y="0"/>
                <a:ext cx="1521834" cy="135299"/>
              </a:xfrm>
              <a:custGeom>
                <a:avLst/>
                <a:gdLst/>
                <a:ahLst/>
                <a:cxnLst/>
                <a:rect l="l" t="t" r="r" b="b"/>
                <a:pathLst>
                  <a:path w="1521834" h="135299">
                    <a:moveTo>
                      <a:pt x="0" y="0"/>
                    </a:moveTo>
                    <a:lnTo>
                      <a:pt x="1318634" y="0"/>
                    </a:lnTo>
                    <a:lnTo>
                      <a:pt x="1521834" y="67650"/>
                    </a:lnTo>
                    <a:lnTo>
                      <a:pt x="1318634" y="135299"/>
                    </a:lnTo>
                    <a:lnTo>
                      <a:pt x="0" y="135299"/>
                    </a:lnTo>
                    <a:lnTo>
                      <a:pt x="203200" y="67650"/>
                    </a:lnTo>
                    <a:lnTo>
                      <a:pt x="0" y="0"/>
                    </a:lnTo>
                    <a:close/>
                  </a:path>
                </a:pathLst>
              </a:custGeom>
              <a:solidFill>
                <a:srgbClr val="F7F2DE"/>
              </a:solidFill>
            </p:spPr>
            <p:txBody>
              <a:bodyPr/>
              <a:lstStyle/>
              <a:p>
                <a:endParaRPr lang="ar-EG"/>
              </a:p>
            </p:txBody>
          </p:sp>
          <p:sp>
            <p:nvSpPr>
              <p:cNvPr id="20" name="TextBox 20"/>
              <p:cNvSpPr txBox="1"/>
              <p:nvPr/>
            </p:nvSpPr>
            <p:spPr>
              <a:xfrm>
                <a:off x="177800" y="-28575"/>
                <a:ext cx="1267834" cy="163874"/>
              </a:xfrm>
              <a:prstGeom prst="rect">
                <a:avLst/>
              </a:prstGeom>
            </p:spPr>
            <p:txBody>
              <a:bodyPr lIns="61142" tIns="61142" rIns="61142" bIns="61142" rtlCol="0" anchor="ctr"/>
              <a:lstStyle/>
              <a:p>
                <a:pPr algn="ctr">
                  <a:lnSpc>
                    <a:spcPts val="2520"/>
                  </a:lnSpc>
                </a:pPr>
                <a:endParaRPr/>
              </a:p>
            </p:txBody>
          </p:sp>
        </p:grpSp>
        <p:sp>
          <p:nvSpPr>
            <p:cNvPr id="21" name="TextBox 21"/>
            <p:cNvSpPr txBox="1"/>
            <p:nvPr/>
          </p:nvSpPr>
          <p:spPr>
            <a:xfrm>
              <a:off x="1362584" y="77538"/>
              <a:ext cx="6620827" cy="910118"/>
            </a:xfrm>
            <a:prstGeom prst="rect">
              <a:avLst/>
            </a:prstGeom>
          </p:spPr>
          <p:txBody>
            <a:bodyPr lIns="0" tIns="0" rIns="0" bIns="0" rtlCol="0" anchor="t">
              <a:spAutoFit/>
            </a:bodyPr>
            <a:lstStyle/>
            <a:p>
              <a:pPr algn="l">
                <a:lnSpc>
                  <a:spcPts val="5729"/>
                </a:lnSpc>
              </a:pPr>
              <a:r>
                <a:rPr lang="en-US" sz="4092" b="1">
                  <a:solidFill>
                    <a:srgbClr val="043732"/>
                  </a:solidFill>
                  <a:latin typeface="Canva Sans Bold"/>
                  <a:ea typeface="Canva Sans Bold"/>
                  <a:cs typeface="Canva Sans Bold"/>
                  <a:sym typeface="Canva Sans Bold"/>
                </a:rPr>
                <a:t>Training the Model</a:t>
              </a:r>
            </a:p>
          </p:txBody>
        </p:sp>
      </p:grpSp>
      <p:sp>
        <p:nvSpPr>
          <p:cNvPr id="23" name="TextBox 23"/>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4" name="TextBox 24"/>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5" name="TextBox 25"/>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6" name="TextBox 26"/>
          <p:cNvSpPr txBox="1"/>
          <p:nvPr/>
        </p:nvSpPr>
        <p:spPr>
          <a:xfrm>
            <a:off x="11320711"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5</a:t>
            </a:r>
          </a:p>
        </p:txBody>
      </p:sp>
      <p:sp>
        <p:nvSpPr>
          <p:cNvPr id="27" name="TextBox 27"/>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28" name="TextBox 28"/>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grpSp>
        <p:nvGrpSpPr>
          <p:cNvPr id="32" name="Group 31">
            <a:extLst>
              <a:ext uri="{FF2B5EF4-FFF2-40B4-BE49-F238E27FC236}">
                <a16:creationId xmlns:a16="http://schemas.microsoft.com/office/drawing/2014/main" id="{13212EC8-99D4-F12C-16E1-405FB5E09815}"/>
              </a:ext>
            </a:extLst>
          </p:cNvPr>
          <p:cNvGrpSpPr/>
          <p:nvPr/>
        </p:nvGrpSpPr>
        <p:grpSpPr>
          <a:xfrm>
            <a:off x="10282878" y="2361967"/>
            <a:ext cx="2704826" cy="314825"/>
            <a:chOff x="10282878" y="2361967"/>
            <a:chExt cx="2704826" cy="314825"/>
          </a:xfrm>
        </p:grpSpPr>
        <p:sp>
          <p:nvSpPr>
            <p:cNvPr id="31" name="Rectangle: Rounded Corners 30">
              <a:extLst>
                <a:ext uri="{FF2B5EF4-FFF2-40B4-BE49-F238E27FC236}">
                  <a16:creationId xmlns:a16="http://schemas.microsoft.com/office/drawing/2014/main" id="{EE149AB6-997E-4BBA-FA97-E1851D86AE7A}"/>
                </a:ext>
              </a:extLst>
            </p:cNvPr>
            <p:cNvSpPr/>
            <p:nvPr/>
          </p:nvSpPr>
          <p:spPr>
            <a:xfrm>
              <a:off x="10820400" y="2361967"/>
              <a:ext cx="1600200" cy="31482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a:p>
          </p:txBody>
        </p:sp>
        <p:sp>
          <p:nvSpPr>
            <p:cNvPr id="29" name="TextBox 29"/>
            <p:cNvSpPr txBox="1"/>
            <p:nvPr/>
          </p:nvSpPr>
          <p:spPr>
            <a:xfrm>
              <a:off x="10282878" y="2361967"/>
              <a:ext cx="2704826" cy="306689"/>
            </a:xfrm>
            <a:prstGeom prst="rect">
              <a:avLst/>
            </a:prstGeom>
          </p:spPr>
          <p:txBody>
            <a:bodyPr lIns="0" tIns="0" rIns="0" bIns="0" rtlCol="0" anchor="t">
              <a:spAutoFit/>
            </a:bodyPr>
            <a:lstStyle/>
            <a:p>
              <a:pPr marL="0" lvl="0" indent="0" algn="ctr">
                <a:lnSpc>
                  <a:spcPts val="2447"/>
                </a:lnSpc>
                <a:spcBef>
                  <a:spcPct val="0"/>
                </a:spcBef>
              </a:pPr>
              <a:r>
                <a:rPr lang="en-US" sz="1911" b="1" u="none" strike="noStrike" dirty="0">
                  <a:solidFill>
                    <a:srgbClr val="043732"/>
                  </a:solidFill>
                  <a:latin typeface="Montserrat Bold"/>
                  <a:ea typeface="Montserrat Bold"/>
                  <a:cs typeface="Montserrat Bold"/>
                  <a:sym typeface="Montserrat Bold"/>
                </a:rPr>
                <a:t>ML model</a:t>
              </a:r>
            </a:p>
          </p:txBody>
        </p:sp>
      </p:grpSp>
      <p:graphicFrame>
        <p:nvGraphicFramePr>
          <p:cNvPr id="22" name="Table 21">
            <a:extLst>
              <a:ext uri="{FF2B5EF4-FFF2-40B4-BE49-F238E27FC236}">
                <a16:creationId xmlns:a16="http://schemas.microsoft.com/office/drawing/2014/main" id="{679E9509-8E3B-9CD1-2A77-0059817A6777}"/>
              </a:ext>
            </a:extLst>
          </p:cNvPr>
          <p:cNvGraphicFramePr>
            <a:graphicFrameLocks noGrp="1"/>
          </p:cNvGraphicFramePr>
          <p:nvPr>
            <p:extLst>
              <p:ext uri="{D42A27DB-BD31-4B8C-83A1-F6EECF244321}">
                <p14:modId xmlns:p14="http://schemas.microsoft.com/office/powerpoint/2010/main" val="1418597966"/>
              </p:ext>
            </p:extLst>
          </p:nvPr>
        </p:nvGraphicFramePr>
        <p:xfrm>
          <a:off x="220146" y="5029252"/>
          <a:ext cx="11362253" cy="4285858"/>
        </p:xfrm>
        <a:graphic>
          <a:graphicData uri="http://schemas.openxmlformats.org/drawingml/2006/table">
            <a:tbl>
              <a:tblPr/>
              <a:tblGrid>
                <a:gridCol w="2970452">
                  <a:extLst>
                    <a:ext uri="{9D8B030D-6E8A-4147-A177-3AD203B41FA5}">
                      <a16:colId xmlns:a16="http://schemas.microsoft.com/office/drawing/2014/main" val="3924827370"/>
                    </a:ext>
                  </a:extLst>
                </a:gridCol>
                <a:gridCol w="3381970">
                  <a:extLst>
                    <a:ext uri="{9D8B030D-6E8A-4147-A177-3AD203B41FA5}">
                      <a16:colId xmlns:a16="http://schemas.microsoft.com/office/drawing/2014/main" val="1311191173"/>
                    </a:ext>
                  </a:extLst>
                </a:gridCol>
                <a:gridCol w="5009831">
                  <a:extLst>
                    <a:ext uri="{9D8B030D-6E8A-4147-A177-3AD203B41FA5}">
                      <a16:colId xmlns:a16="http://schemas.microsoft.com/office/drawing/2014/main" val="3008539656"/>
                    </a:ext>
                  </a:extLst>
                </a:gridCol>
              </a:tblGrid>
              <a:tr h="450978">
                <a:tc>
                  <a:txBody>
                    <a:bodyPr/>
                    <a:lstStyle/>
                    <a:p>
                      <a:pPr marL="0" marR="0" algn="ctr" rtl="0">
                        <a:buNone/>
                      </a:pPr>
                      <a:r>
                        <a:rPr lang="en-US" sz="2000" b="1">
                          <a:solidFill>
                            <a:srgbClr val="FFFFFF"/>
                          </a:solidFill>
                          <a:effectLst/>
                          <a:latin typeface="Arial" panose="020B0604020202020204" pitchFamily="34" charset="0"/>
                          <a:ea typeface="Arial" panose="020B0604020202020204" pitchFamily="34" charset="0"/>
                        </a:rPr>
                        <a:t>Parameter / Action</a:t>
                      </a:r>
                      <a:endParaRPr lang="en-US" sz="2000">
                        <a:solidFill>
                          <a:srgbClr val="1A1A1A"/>
                        </a:solidFill>
                        <a:effectLst/>
                        <a:latin typeface="Arial" panose="020B0604020202020204" pitchFamily="34" charset="0"/>
                        <a:ea typeface="Arial" panose="020B0604020202020204" pitchFamily="34" charset="0"/>
                      </a:endParaRPr>
                    </a:p>
                  </a:txBody>
                  <a:tcPr marL="76200" marR="762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35A5C"/>
                    </a:solidFill>
                  </a:tcPr>
                </a:tc>
                <a:tc>
                  <a:txBody>
                    <a:bodyPr/>
                    <a:lstStyle/>
                    <a:p>
                      <a:pPr marL="0" marR="0" algn="ctr" rtl="0">
                        <a:buNone/>
                      </a:pPr>
                      <a:r>
                        <a:rPr lang="en-US" sz="2000" b="1">
                          <a:solidFill>
                            <a:srgbClr val="FFFFFF"/>
                          </a:solidFill>
                          <a:effectLst/>
                          <a:latin typeface="Arial" panose="020B0604020202020204" pitchFamily="34" charset="0"/>
                          <a:ea typeface="Arial" panose="020B0604020202020204" pitchFamily="34" charset="0"/>
                        </a:rPr>
                        <a:t>Value / Method</a:t>
                      </a:r>
                      <a:endParaRPr lang="en-US" sz="2000">
                        <a:solidFill>
                          <a:srgbClr val="1A1A1A"/>
                        </a:solidFill>
                        <a:effectLst/>
                        <a:latin typeface="Arial" panose="020B0604020202020204" pitchFamily="34" charset="0"/>
                        <a:ea typeface="Arial" panose="020B0604020202020204" pitchFamily="34" charset="0"/>
                      </a:endParaRPr>
                    </a:p>
                  </a:txBody>
                  <a:tcPr marL="76200" marR="762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35A5C"/>
                    </a:solidFill>
                  </a:tcPr>
                </a:tc>
                <a:tc>
                  <a:txBody>
                    <a:bodyPr/>
                    <a:lstStyle/>
                    <a:p>
                      <a:pPr marL="0" marR="0" algn="ctr" rtl="0">
                        <a:buNone/>
                      </a:pPr>
                      <a:r>
                        <a:rPr lang="en-US" sz="2000" b="1">
                          <a:solidFill>
                            <a:srgbClr val="FFFFFF"/>
                          </a:solidFill>
                          <a:effectLst/>
                          <a:latin typeface="Arial" panose="020B0604020202020204" pitchFamily="34" charset="0"/>
                          <a:ea typeface="Arial" panose="020B0604020202020204" pitchFamily="34" charset="0"/>
                        </a:rPr>
                        <a:t>Purpose</a:t>
                      </a:r>
                      <a:endParaRPr lang="en-US" sz="2000">
                        <a:solidFill>
                          <a:srgbClr val="1A1A1A"/>
                        </a:solidFill>
                        <a:effectLst/>
                        <a:latin typeface="Arial" panose="020B0604020202020204" pitchFamily="34" charset="0"/>
                        <a:ea typeface="Arial" panose="020B0604020202020204" pitchFamily="34" charset="0"/>
                      </a:endParaRPr>
                    </a:p>
                  </a:txBody>
                  <a:tcPr marL="76200" marR="76200" marT="50800" marB="508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35A5C"/>
                    </a:solidFill>
                  </a:tcPr>
                </a:tc>
                <a:extLst>
                  <a:ext uri="{0D108BD9-81ED-4DB2-BD59-A6C34878D82A}">
                    <a16:rowId xmlns:a16="http://schemas.microsoft.com/office/drawing/2014/main" val="850630666"/>
                  </a:ext>
                </a:extLst>
              </a:tr>
              <a:tr h="676467">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Model initialization</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RandomForestRegressor(...)</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Create an ensemble of independent decision trees for robust price prediction</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extLst>
                  <a:ext uri="{0D108BD9-81ED-4DB2-BD59-A6C34878D82A}">
                    <a16:rowId xmlns:a16="http://schemas.microsoft.com/office/drawing/2014/main" val="222489434"/>
                  </a:ext>
                </a:extLst>
              </a:tr>
              <a:tr h="676467">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n_estimators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100</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Build 100 trees to reduce variance through averaging without excessive compute cost</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754305812"/>
                  </a:ext>
                </a:extLst>
              </a:tr>
              <a:tr h="676467">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max_depth</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20</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Cap tree depth to prevent overfitting while retaining capacity for complex patterns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extLst>
                  <a:ext uri="{0D108BD9-81ED-4DB2-BD59-A6C34878D82A}">
                    <a16:rowId xmlns:a16="http://schemas.microsoft.com/office/drawing/2014/main" val="51317651"/>
                  </a:ext>
                </a:extLst>
              </a:tr>
              <a:tr h="676467">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n_jobs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-1</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Use all available CPU cores to handle 300K+ records efficiently during training</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992035775"/>
                  </a:ext>
                </a:extLst>
              </a:tr>
              <a:tr h="405880">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random_state</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42</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Ensure reproducible results across runs</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7F2DE"/>
                    </a:solidFill>
                  </a:tcPr>
                </a:tc>
                <a:extLst>
                  <a:ext uri="{0D108BD9-81ED-4DB2-BD59-A6C34878D82A}">
                    <a16:rowId xmlns:a16="http://schemas.microsoft.com/office/drawing/2014/main" val="4193371277"/>
                  </a:ext>
                </a:extLst>
              </a:tr>
              <a:tr h="676467">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Model fitting</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a:solidFill>
                            <a:srgbClr val="1A1A1A"/>
                          </a:solidFill>
                          <a:effectLst/>
                          <a:latin typeface="Arial" panose="020B0604020202020204" pitchFamily="34" charset="0"/>
                          <a:ea typeface="Arial" panose="020B0604020202020204" pitchFamily="34" charset="0"/>
                        </a:rPr>
                        <a:t>model.fit(X_train, y_train)</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tc>
                  <a:txBody>
                    <a:bodyPr/>
                    <a:lstStyle/>
                    <a:p>
                      <a:pPr marL="0" marR="0" algn="l" rtl="0">
                        <a:buNone/>
                      </a:pPr>
                      <a:r>
                        <a:rPr lang="en-US" sz="2000" dirty="0">
                          <a:solidFill>
                            <a:srgbClr val="1A1A1A"/>
                          </a:solidFill>
                          <a:effectLst/>
                          <a:latin typeface="Arial" panose="020B0604020202020204" pitchFamily="34" charset="0"/>
                          <a:ea typeface="Arial" panose="020B0604020202020204" pitchFamily="34" charset="0"/>
                        </a:rPr>
                        <a:t>Train all 100 trees on the 80% training partition</a:t>
                      </a:r>
                    </a:p>
                  </a:txBody>
                  <a:tcPr marL="76200" marR="76200" marT="38100" marB="38100">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23718505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91E5B9A1-4665-7421-06B6-0E9EC31E8E2E}"/>
              </a:ext>
            </a:extLst>
          </p:cNvPr>
          <p:cNvSpPr/>
          <p:nvPr/>
        </p:nvSpPr>
        <p:spPr>
          <a:xfrm>
            <a:off x="10896600" y="2336777"/>
            <a:ext cx="1473084" cy="361508"/>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dirty="0"/>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707313" y="5215370"/>
            <a:ext cx="10211915" cy="4693766"/>
            <a:chOff x="0" y="0"/>
            <a:chExt cx="13615886" cy="6258355"/>
          </a:xfrm>
        </p:grpSpPr>
        <p:grpSp>
          <p:nvGrpSpPr>
            <p:cNvPr id="13" name="Group 13"/>
            <p:cNvGrpSpPr/>
            <p:nvPr/>
          </p:nvGrpSpPr>
          <p:grpSpPr>
            <a:xfrm rot="-5400000">
              <a:off x="4094980" y="-3262552"/>
              <a:ext cx="6258355" cy="12783458"/>
              <a:chOff x="0" y="0"/>
              <a:chExt cx="786084" cy="1605673"/>
            </a:xfrm>
          </p:grpSpPr>
          <p:sp>
            <p:nvSpPr>
              <p:cNvPr id="14" name="Freeform 14"/>
              <p:cNvSpPr/>
              <p:nvPr/>
            </p:nvSpPr>
            <p:spPr>
              <a:xfrm>
                <a:off x="0" y="0"/>
                <a:ext cx="786084" cy="1605673"/>
              </a:xfrm>
              <a:custGeom>
                <a:avLst/>
                <a:gdLst/>
                <a:ahLst/>
                <a:cxnLst/>
                <a:rect l="l" t="t" r="r" b="b"/>
                <a:pathLst>
                  <a:path w="786084" h="1605673">
                    <a:moveTo>
                      <a:pt x="262170" y="1586604"/>
                    </a:moveTo>
                    <a:cubicBezTo>
                      <a:pt x="302470" y="1598118"/>
                      <a:pt x="348287" y="1605673"/>
                      <a:pt x="393254" y="1605673"/>
                    </a:cubicBezTo>
                    <a:cubicBezTo>
                      <a:pt x="438222" y="1605673"/>
                      <a:pt x="481493" y="1599196"/>
                      <a:pt x="521369" y="1587682"/>
                    </a:cubicBezTo>
                    <a:cubicBezTo>
                      <a:pt x="522218" y="1587323"/>
                      <a:pt x="523066" y="1587323"/>
                      <a:pt x="523914" y="1586963"/>
                    </a:cubicBezTo>
                    <a:cubicBezTo>
                      <a:pt x="673665" y="1540908"/>
                      <a:pt x="783963" y="1419294"/>
                      <a:pt x="786084" y="1259559"/>
                    </a:cubicBezTo>
                    <a:lnTo>
                      <a:pt x="786084" y="0"/>
                    </a:lnTo>
                    <a:lnTo>
                      <a:pt x="0" y="0"/>
                    </a:lnTo>
                    <a:lnTo>
                      <a:pt x="0" y="1258624"/>
                    </a:lnTo>
                    <a:cubicBezTo>
                      <a:pt x="2121" y="1420013"/>
                      <a:pt x="110722" y="1541628"/>
                      <a:pt x="262170" y="1586604"/>
                    </a:cubicBezTo>
                    <a:close/>
                  </a:path>
                </a:pathLst>
              </a:custGeom>
              <a:solidFill>
                <a:srgbClr val="043732"/>
              </a:solidFill>
            </p:spPr>
            <p:txBody>
              <a:bodyPr/>
              <a:lstStyle/>
              <a:p>
                <a:endParaRPr lang="ar-EG"/>
              </a:p>
            </p:txBody>
          </p:sp>
          <p:sp>
            <p:nvSpPr>
              <p:cNvPr id="15" name="TextBox 15"/>
              <p:cNvSpPr txBox="1"/>
              <p:nvPr/>
            </p:nvSpPr>
            <p:spPr>
              <a:xfrm>
                <a:off x="0" y="-28575"/>
                <a:ext cx="786084" cy="1507248"/>
              </a:xfrm>
              <a:prstGeom prst="rect">
                <a:avLst/>
              </a:prstGeom>
            </p:spPr>
            <p:txBody>
              <a:bodyPr lIns="61142" tIns="61142" rIns="61142" bIns="61142" rtlCol="0" anchor="ctr"/>
              <a:lstStyle/>
              <a:p>
                <a:pPr algn="ctr">
                  <a:lnSpc>
                    <a:spcPts val="2520"/>
                  </a:lnSpc>
                </a:pPr>
                <a:endParaRPr/>
              </a:p>
            </p:txBody>
          </p:sp>
        </p:grpSp>
        <p:grpSp>
          <p:nvGrpSpPr>
            <p:cNvPr id="16" name="Group 16"/>
            <p:cNvGrpSpPr/>
            <p:nvPr/>
          </p:nvGrpSpPr>
          <p:grpSpPr>
            <a:xfrm>
              <a:off x="0" y="247281"/>
              <a:ext cx="11950984" cy="824393"/>
              <a:chOff x="0" y="0"/>
              <a:chExt cx="1961396" cy="135299"/>
            </a:xfrm>
          </p:grpSpPr>
          <p:sp>
            <p:nvSpPr>
              <p:cNvPr id="17" name="Freeform 17"/>
              <p:cNvSpPr/>
              <p:nvPr/>
            </p:nvSpPr>
            <p:spPr>
              <a:xfrm>
                <a:off x="0" y="0"/>
                <a:ext cx="1961396" cy="135299"/>
              </a:xfrm>
              <a:custGeom>
                <a:avLst/>
                <a:gdLst/>
                <a:ahLst/>
                <a:cxnLst/>
                <a:rect l="l" t="t" r="r" b="b"/>
                <a:pathLst>
                  <a:path w="1961396" h="135299">
                    <a:moveTo>
                      <a:pt x="0" y="0"/>
                    </a:moveTo>
                    <a:lnTo>
                      <a:pt x="1758196" y="0"/>
                    </a:lnTo>
                    <a:lnTo>
                      <a:pt x="1961396" y="67650"/>
                    </a:lnTo>
                    <a:lnTo>
                      <a:pt x="1758196" y="135299"/>
                    </a:lnTo>
                    <a:lnTo>
                      <a:pt x="0" y="135299"/>
                    </a:lnTo>
                    <a:lnTo>
                      <a:pt x="203200" y="67650"/>
                    </a:lnTo>
                    <a:lnTo>
                      <a:pt x="0" y="0"/>
                    </a:lnTo>
                    <a:close/>
                  </a:path>
                </a:pathLst>
              </a:custGeom>
              <a:solidFill>
                <a:srgbClr val="F7F2DE"/>
              </a:solidFill>
            </p:spPr>
            <p:txBody>
              <a:bodyPr/>
              <a:lstStyle/>
              <a:p>
                <a:endParaRPr lang="ar-EG"/>
              </a:p>
            </p:txBody>
          </p:sp>
          <p:sp>
            <p:nvSpPr>
              <p:cNvPr id="18" name="TextBox 18"/>
              <p:cNvSpPr txBox="1"/>
              <p:nvPr/>
            </p:nvSpPr>
            <p:spPr>
              <a:xfrm>
                <a:off x="177800" y="-28575"/>
                <a:ext cx="1707396" cy="163874"/>
              </a:xfrm>
              <a:prstGeom prst="rect">
                <a:avLst/>
              </a:prstGeom>
            </p:spPr>
            <p:txBody>
              <a:bodyPr lIns="61142" tIns="61142" rIns="61142" bIns="61142" rtlCol="0" anchor="ctr"/>
              <a:lstStyle/>
              <a:p>
                <a:pPr algn="ctr">
                  <a:lnSpc>
                    <a:spcPts val="2520"/>
                  </a:lnSpc>
                </a:pPr>
                <a:endParaRPr/>
              </a:p>
            </p:txBody>
          </p:sp>
        </p:grpSp>
        <p:sp>
          <p:nvSpPr>
            <p:cNvPr id="19" name="TextBox 19"/>
            <p:cNvSpPr txBox="1"/>
            <p:nvPr/>
          </p:nvSpPr>
          <p:spPr>
            <a:xfrm>
              <a:off x="1362584" y="161556"/>
              <a:ext cx="10191890" cy="910118"/>
            </a:xfrm>
            <a:prstGeom prst="rect">
              <a:avLst/>
            </a:prstGeom>
          </p:spPr>
          <p:txBody>
            <a:bodyPr lIns="0" tIns="0" rIns="0" bIns="0" rtlCol="0" anchor="t">
              <a:spAutoFit/>
            </a:bodyPr>
            <a:lstStyle/>
            <a:p>
              <a:pPr algn="l">
                <a:lnSpc>
                  <a:spcPts val="5729"/>
                </a:lnSpc>
              </a:pPr>
              <a:r>
                <a:rPr lang="en-US" sz="4092" b="1">
                  <a:solidFill>
                    <a:srgbClr val="043732"/>
                  </a:solidFill>
                  <a:latin typeface="Canva Sans Bold"/>
                  <a:ea typeface="Canva Sans Bold"/>
                  <a:cs typeface="Canva Sans Bold"/>
                  <a:sym typeface="Canva Sans Bold"/>
                </a:rPr>
                <a:t>Results &amp; Model Evaluation</a:t>
              </a:r>
            </a:p>
          </p:txBody>
        </p:sp>
        <p:sp>
          <p:nvSpPr>
            <p:cNvPr id="20" name="TextBox 20"/>
            <p:cNvSpPr txBox="1"/>
            <p:nvPr/>
          </p:nvSpPr>
          <p:spPr>
            <a:xfrm>
              <a:off x="1362584" y="1338375"/>
              <a:ext cx="10588399" cy="4919980"/>
            </a:xfrm>
            <a:prstGeom prst="rect">
              <a:avLst/>
            </a:prstGeom>
          </p:spPr>
          <p:txBody>
            <a:bodyPr lIns="0" tIns="0" rIns="0" bIns="0" rtlCol="0" anchor="t">
              <a:spAutoFit/>
            </a:bodyPr>
            <a:lstStyle/>
            <a:p>
              <a:pPr algn="l">
                <a:lnSpc>
                  <a:spcPts val="2940"/>
                </a:lnSpc>
              </a:pPr>
              <a:r>
                <a:rPr lang="en-US" sz="2100">
                  <a:solidFill>
                    <a:srgbClr val="F7F2DE"/>
                  </a:solidFill>
                  <a:latin typeface="Canva Sans"/>
                  <a:ea typeface="Canva Sans"/>
                  <a:cs typeface="Canva Sans"/>
                  <a:sym typeface="Canva Sans"/>
                </a:rPr>
                <a:t>After training, predictions were converted back from log-scale to actual SAR values using expm1 before computing all metrics. The model achieved the following results on the held-out 20% test set</a:t>
              </a:r>
            </a:p>
            <a:p>
              <a:pPr algn="l">
                <a:lnSpc>
                  <a:spcPts val="2940"/>
                </a:lnSpc>
              </a:pPr>
              <a:endParaRPr lang="en-US" sz="2100">
                <a:solidFill>
                  <a:srgbClr val="F7F2DE"/>
                </a:solidFill>
                <a:latin typeface="Canva Sans"/>
                <a:ea typeface="Canva Sans"/>
                <a:cs typeface="Canva Sans"/>
                <a:sym typeface="Canva Sans"/>
              </a:endParaRPr>
            </a:p>
            <a:p>
              <a:pPr algn="l">
                <a:lnSpc>
                  <a:spcPts val="2940"/>
                </a:lnSpc>
              </a:pPr>
              <a:r>
                <a:rPr lang="en-US" sz="2100">
                  <a:solidFill>
                    <a:srgbClr val="F7F2DE"/>
                  </a:solidFill>
                  <a:latin typeface="Canva Sans"/>
                  <a:ea typeface="Canva Sans"/>
                  <a:cs typeface="Canva Sans"/>
                  <a:sym typeface="Canva Sans"/>
                </a:rPr>
                <a:t>In addition to a feature importance chart was generated, ranking all twelve input features by their contribution — with area, location coordinates, and age consistently topping the list, validating the EDA findings.</a:t>
              </a:r>
            </a:p>
            <a:p>
              <a:pPr algn="l">
                <a:lnSpc>
                  <a:spcPts val="2940"/>
                </a:lnSpc>
              </a:pPr>
              <a:endParaRPr lang="en-US" sz="2100">
                <a:solidFill>
                  <a:srgbClr val="F7F2DE"/>
                </a:solidFill>
                <a:latin typeface="Canva Sans"/>
                <a:ea typeface="Canva Sans"/>
                <a:cs typeface="Canva Sans"/>
                <a:sym typeface="Canva Sans"/>
              </a:endParaRPr>
            </a:p>
          </p:txBody>
        </p:sp>
      </p:grpSp>
      <p:sp>
        <p:nvSpPr>
          <p:cNvPr id="21" name="Freeform 21"/>
          <p:cNvSpPr/>
          <p:nvPr/>
        </p:nvSpPr>
        <p:spPr>
          <a:xfrm>
            <a:off x="0" y="2177536"/>
            <a:ext cx="9504601" cy="2718314"/>
          </a:xfrm>
          <a:custGeom>
            <a:avLst/>
            <a:gdLst/>
            <a:ahLst/>
            <a:cxnLst/>
            <a:rect l="l" t="t" r="r" b="b"/>
            <a:pathLst>
              <a:path w="9504601" h="2718314">
                <a:moveTo>
                  <a:pt x="0" y="0"/>
                </a:moveTo>
                <a:lnTo>
                  <a:pt x="9504601" y="0"/>
                </a:lnTo>
                <a:lnTo>
                  <a:pt x="9504601" y="2718314"/>
                </a:lnTo>
                <a:lnTo>
                  <a:pt x="0" y="2718314"/>
                </a:lnTo>
                <a:lnTo>
                  <a:pt x="0" y="0"/>
                </a:lnTo>
                <a:close/>
              </a:path>
            </a:pathLst>
          </a:custGeom>
          <a:blipFill>
            <a:blip r:embed="rId6"/>
            <a:stretch>
              <a:fillRect b="-4428"/>
            </a:stretch>
          </a:blipFill>
        </p:spPr>
        <p:txBody>
          <a:bodyPr/>
          <a:lstStyle/>
          <a:p>
            <a:endParaRPr lang="ar-EG"/>
          </a:p>
        </p:txBody>
      </p:sp>
      <p:sp>
        <p:nvSpPr>
          <p:cNvPr id="22" name="Freeform 22"/>
          <p:cNvSpPr/>
          <p:nvPr/>
        </p:nvSpPr>
        <p:spPr>
          <a:xfrm>
            <a:off x="8469854" y="4086537"/>
            <a:ext cx="9705302" cy="5659719"/>
          </a:xfrm>
          <a:custGeom>
            <a:avLst/>
            <a:gdLst/>
            <a:ahLst/>
            <a:cxnLst/>
            <a:rect l="l" t="t" r="r" b="b"/>
            <a:pathLst>
              <a:path w="9705302" h="5659719">
                <a:moveTo>
                  <a:pt x="0" y="0"/>
                </a:moveTo>
                <a:lnTo>
                  <a:pt x="9705302" y="0"/>
                </a:lnTo>
                <a:lnTo>
                  <a:pt x="9705302" y="5659718"/>
                </a:lnTo>
                <a:lnTo>
                  <a:pt x="0" y="5659718"/>
                </a:lnTo>
                <a:lnTo>
                  <a:pt x="0" y="0"/>
                </a:lnTo>
                <a:close/>
              </a:path>
            </a:pathLst>
          </a:custGeom>
          <a:blipFill>
            <a:blip r:embed="rId7"/>
            <a:stretch>
              <a:fillRect b="-1695"/>
            </a:stretch>
          </a:blipFill>
        </p:spPr>
        <p:txBody>
          <a:bodyPr/>
          <a:lstStyle/>
          <a:p>
            <a:endParaRPr lang="ar-EG"/>
          </a:p>
        </p:txBody>
      </p:sp>
      <p:sp>
        <p:nvSpPr>
          <p:cNvPr id="23" name="TextBox 23"/>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4" name="TextBox 24"/>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5" name="TextBox 25"/>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6" name="TextBox 26"/>
          <p:cNvSpPr txBox="1"/>
          <p:nvPr/>
        </p:nvSpPr>
        <p:spPr>
          <a:xfrm>
            <a:off x="11320711"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5</a:t>
            </a:r>
          </a:p>
        </p:txBody>
      </p:sp>
      <p:sp>
        <p:nvSpPr>
          <p:cNvPr id="27" name="TextBox 27"/>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28" name="TextBox 28"/>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29" name="TextBox 29"/>
          <p:cNvSpPr txBox="1"/>
          <p:nvPr/>
        </p:nvSpPr>
        <p:spPr>
          <a:xfrm>
            <a:off x="10282878" y="2361967"/>
            <a:ext cx="2704826" cy="306689"/>
          </a:xfrm>
          <a:prstGeom prst="rect">
            <a:avLst/>
          </a:prstGeom>
        </p:spPr>
        <p:txBody>
          <a:bodyPr lIns="0" tIns="0" rIns="0" bIns="0" rtlCol="0" anchor="t">
            <a:spAutoFit/>
          </a:bodyPr>
          <a:lstStyle/>
          <a:p>
            <a:pPr marL="0" lvl="0" indent="0" algn="ctr">
              <a:lnSpc>
                <a:spcPts val="2447"/>
              </a:lnSpc>
              <a:spcBef>
                <a:spcPct val="0"/>
              </a:spcBef>
            </a:pPr>
            <a:r>
              <a:rPr lang="en-US" sz="1911" b="1" u="none" strike="noStrike">
                <a:solidFill>
                  <a:srgbClr val="043732"/>
                </a:solidFill>
                <a:latin typeface="Montserrat Bold"/>
                <a:ea typeface="Montserrat Bold"/>
                <a:cs typeface="Montserrat Bold"/>
                <a:sym typeface="Montserrat Bold"/>
              </a:rPr>
              <a:t>ML model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1"/>
            <p:extLst>
              <p:ext uri="{DAA4B4D4-6D71-4841-9C94-3DE7FCFB9230}">
                <p14:media xmlns:p14="http://schemas.microsoft.com/office/powerpoint/2010/main" r:embed="rId2">
                  <p14:trim st="1310" end="2979.966"/>
                </p14:media>
              </p:ext>
            </p:extLst>
          </p:nvPr>
        </p:nvPicPr>
        <p:blipFill>
          <a:blip r:embed="rId4"/>
          <a:srcRect t="227" r="506" b="227"/>
          <a:stretch>
            <a:fillRect/>
          </a:stretch>
        </p:blipFill>
        <p:spPr>
          <a:xfrm>
            <a:off x="0" y="282050"/>
            <a:ext cx="18288000" cy="9722899"/>
          </a:xfrm>
          <a:prstGeom prst="rect">
            <a:avLst/>
          </a:prstGeom>
        </p:spPr>
      </p:pic>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42" name="Rectangle: Rounded Corners 41">
            <a:extLst>
              <a:ext uri="{FF2B5EF4-FFF2-40B4-BE49-F238E27FC236}">
                <a16:creationId xmlns:a16="http://schemas.microsoft.com/office/drawing/2014/main" id="{76EA03A3-B38F-406F-D251-BD3A9046ACF1}"/>
              </a:ext>
            </a:extLst>
          </p:cNvPr>
          <p:cNvSpPr/>
          <p:nvPr/>
        </p:nvSpPr>
        <p:spPr>
          <a:xfrm>
            <a:off x="10896600" y="2336777"/>
            <a:ext cx="1473084" cy="361508"/>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dirty="0"/>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a:grpSpLocks noChangeAspect="1"/>
          </p:cNvGrpSpPr>
          <p:nvPr/>
        </p:nvGrpSpPr>
        <p:grpSpPr>
          <a:xfrm>
            <a:off x="179317" y="2916306"/>
            <a:ext cx="11935156" cy="6547403"/>
            <a:chOff x="0" y="0"/>
            <a:chExt cx="5908040" cy="3241040"/>
          </a:xfrm>
        </p:grpSpPr>
        <p:sp>
          <p:nvSpPr>
            <p:cNvPr id="13" name="Freeform 13"/>
            <p:cNvSpPr/>
            <p:nvPr/>
          </p:nvSpPr>
          <p:spPr>
            <a:xfrm>
              <a:off x="6350" y="6350"/>
              <a:ext cx="5895340" cy="180340"/>
            </a:xfrm>
            <a:custGeom>
              <a:avLst/>
              <a:gdLst/>
              <a:ahLst/>
              <a:cxnLst/>
              <a:rect l="l" t="t" r="r" b="b"/>
              <a:pathLst>
                <a:path w="5895340" h="180340">
                  <a:moveTo>
                    <a:pt x="0" y="0"/>
                  </a:moveTo>
                  <a:lnTo>
                    <a:pt x="5895340" y="0"/>
                  </a:lnTo>
                  <a:lnTo>
                    <a:pt x="5895340" y="180340"/>
                  </a:lnTo>
                  <a:lnTo>
                    <a:pt x="0" y="180340"/>
                  </a:lnTo>
                  <a:lnTo>
                    <a:pt x="0" y="0"/>
                  </a:lnTo>
                  <a:close/>
                </a:path>
              </a:pathLst>
            </a:custGeom>
            <a:solidFill>
              <a:srgbClr val="F8DB52"/>
            </a:solidFill>
          </p:spPr>
          <p:txBody>
            <a:bodyPr/>
            <a:lstStyle/>
            <a:p>
              <a:endParaRPr lang="ar-EG"/>
            </a:p>
          </p:txBody>
        </p:sp>
        <p:sp>
          <p:nvSpPr>
            <p:cNvPr id="14" name="Freeform 14"/>
            <p:cNvSpPr/>
            <p:nvPr/>
          </p:nvSpPr>
          <p:spPr>
            <a:xfrm>
              <a:off x="6350" y="193040"/>
              <a:ext cx="5895340" cy="3041650"/>
            </a:xfrm>
            <a:custGeom>
              <a:avLst/>
              <a:gdLst/>
              <a:ahLst/>
              <a:cxnLst/>
              <a:rect l="l" t="t" r="r" b="b"/>
              <a:pathLst>
                <a:path w="5895340" h="3041650">
                  <a:moveTo>
                    <a:pt x="5895340" y="3041650"/>
                  </a:moveTo>
                  <a:lnTo>
                    <a:pt x="0" y="3041650"/>
                  </a:lnTo>
                  <a:lnTo>
                    <a:pt x="0" y="0"/>
                  </a:lnTo>
                  <a:lnTo>
                    <a:pt x="5895340" y="0"/>
                  </a:lnTo>
                  <a:lnTo>
                    <a:pt x="5895340" y="3041650"/>
                  </a:lnTo>
                  <a:close/>
                </a:path>
              </a:pathLst>
            </a:custGeom>
            <a:blipFill>
              <a:blip r:embed="rId6"/>
              <a:stretch>
                <a:fillRect r="-13507"/>
              </a:stretch>
            </a:blipFill>
          </p:spPr>
          <p:txBody>
            <a:bodyPr/>
            <a:lstStyle/>
            <a:p>
              <a:endParaRPr lang="ar-EG"/>
            </a:p>
          </p:txBody>
        </p:sp>
        <p:sp>
          <p:nvSpPr>
            <p:cNvPr id="15" name="Freeform 15"/>
            <p:cNvSpPr/>
            <p:nvPr/>
          </p:nvSpPr>
          <p:spPr>
            <a:xfrm>
              <a:off x="0" y="0"/>
              <a:ext cx="5908040" cy="3241040"/>
            </a:xfrm>
            <a:custGeom>
              <a:avLst/>
              <a:gdLst/>
              <a:ahLst/>
              <a:cxnLst/>
              <a:rect l="l" t="t" r="r" b="b"/>
              <a:pathLst>
                <a:path w="5908040" h="3241040">
                  <a:moveTo>
                    <a:pt x="5908040" y="3241040"/>
                  </a:moveTo>
                  <a:lnTo>
                    <a:pt x="0" y="3241040"/>
                  </a:lnTo>
                  <a:lnTo>
                    <a:pt x="0" y="0"/>
                  </a:lnTo>
                  <a:lnTo>
                    <a:pt x="5908040" y="0"/>
                  </a:lnTo>
                  <a:lnTo>
                    <a:pt x="5908040" y="3241040"/>
                  </a:lnTo>
                  <a:close/>
                  <a:moveTo>
                    <a:pt x="12700" y="3228340"/>
                  </a:moveTo>
                  <a:lnTo>
                    <a:pt x="5895340" y="3228340"/>
                  </a:lnTo>
                  <a:lnTo>
                    <a:pt x="5895340" y="12700"/>
                  </a:lnTo>
                  <a:lnTo>
                    <a:pt x="12700" y="12700"/>
                  </a:lnTo>
                  <a:lnTo>
                    <a:pt x="12700" y="3228340"/>
                  </a:lnTo>
                  <a:close/>
                  <a:moveTo>
                    <a:pt x="5895340" y="186690"/>
                  </a:moveTo>
                  <a:lnTo>
                    <a:pt x="12700" y="186690"/>
                  </a:lnTo>
                  <a:lnTo>
                    <a:pt x="12700" y="199390"/>
                  </a:lnTo>
                  <a:lnTo>
                    <a:pt x="5895340" y="199390"/>
                  </a:lnTo>
                  <a:lnTo>
                    <a:pt x="5895340" y="186690"/>
                  </a:lnTo>
                  <a:close/>
                </a:path>
              </a:pathLst>
            </a:custGeom>
            <a:solidFill>
              <a:srgbClr val="000000"/>
            </a:solidFill>
          </p:spPr>
          <p:txBody>
            <a:bodyPr/>
            <a:lstStyle/>
            <a:p>
              <a:endParaRPr lang="ar-EG"/>
            </a:p>
          </p:txBody>
        </p:sp>
        <p:sp>
          <p:nvSpPr>
            <p:cNvPr id="16" name="Freeform 16"/>
            <p:cNvSpPr/>
            <p:nvPr/>
          </p:nvSpPr>
          <p:spPr>
            <a:xfrm>
              <a:off x="149860" y="73660"/>
              <a:ext cx="299720" cy="63500"/>
            </a:xfrm>
            <a:custGeom>
              <a:avLst/>
              <a:gdLst/>
              <a:ahLst/>
              <a:cxnLst/>
              <a:rect l="l" t="t" r="r" b="b"/>
              <a:pathLst>
                <a:path w="299720" h="63500">
                  <a:moveTo>
                    <a:pt x="118110" y="0"/>
                  </a:moveTo>
                  <a:lnTo>
                    <a:pt x="181610" y="0"/>
                  </a:lnTo>
                  <a:lnTo>
                    <a:pt x="181610" y="63500"/>
                  </a:lnTo>
                  <a:lnTo>
                    <a:pt x="118110" y="63500"/>
                  </a:lnTo>
                  <a:lnTo>
                    <a:pt x="118110" y="0"/>
                  </a:lnTo>
                  <a:close/>
                  <a:moveTo>
                    <a:pt x="31750" y="0"/>
                  </a:moveTo>
                  <a:cubicBezTo>
                    <a:pt x="49530" y="0"/>
                    <a:pt x="63500" y="13970"/>
                    <a:pt x="63500" y="31750"/>
                  </a:cubicBezTo>
                  <a:cubicBezTo>
                    <a:pt x="63500" y="49530"/>
                    <a:pt x="49530" y="63500"/>
                    <a:pt x="31750" y="63500"/>
                  </a:cubicBezTo>
                  <a:cubicBezTo>
                    <a:pt x="13970" y="63500"/>
                    <a:pt x="0" y="49530"/>
                    <a:pt x="0" y="31750"/>
                  </a:cubicBezTo>
                  <a:cubicBezTo>
                    <a:pt x="0" y="13970"/>
                    <a:pt x="13970" y="0"/>
                    <a:pt x="31750" y="0"/>
                  </a:cubicBezTo>
                  <a:close/>
                  <a:moveTo>
                    <a:pt x="267970" y="0"/>
                  </a:moveTo>
                  <a:lnTo>
                    <a:pt x="236220" y="63500"/>
                  </a:lnTo>
                  <a:lnTo>
                    <a:pt x="299720" y="63500"/>
                  </a:lnTo>
                  <a:lnTo>
                    <a:pt x="267970" y="0"/>
                  </a:lnTo>
                  <a:close/>
                </a:path>
              </a:pathLst>
            </a:custGeom>
            <a:solidFill>
              <a:srgbClr val="484FA2"/>
            </a:solidFill>
          </p:spPr>
          <p:txBody>
            <a:bodyPr/>
            <a:lstStyle/>
            <a:p>
              <a:endParaRPr lang="ar-EG"/>
            </a:p>
          </p:txBody>
        </p:sp>
        <p:sp>
          <p:nvSpPr>
            <p:cNvPr id="17" name="Freeform 17"/>
            <p:cNvSpPr/>
            <p:nvPr/>
          </p:nvSpPr>
          <p:spPr>
            <a:xfrm>
              <a:off x="591820" y="88900"/>
              <a:ext cx="5175250" cy="33020"/>
            </a:xfrm>
            <a:custGeom>
              <a:avLst/>
              <a:gdLst/>
              <a:ahLst/>
              <a:cxnLst/>
              <a:rect l="l" t="t" r="r" b="b"/>
              <a:pathLst>
                <a:path w="5175250" h="33020">
                  <a:moveTo>
                    <a:pt x="5158740" y="33020"/>
                  </a:moveTo>
                  <a:lnTo>
                    <a:pt x="16510" y="33020"/>
                  </a:lnTo>
                  <a:cubicBezTo>
                    <a:pt x="7620" y="33020"/>
                    <a:pt x="0" y="25400"/>
                    <a:pt x="0" y="16510"/>
                  </a:cubicBezTo>
                  <a:lnTo>
                    <a:pt x="0" y="16510"/>
                  </a:lnTo>
                  <a:cubicBezTo>
                    <a:pt x="0" y="7620"/>
                    <a:pt x="7620" y="0"/>
                    <a:pt x="16510" y="0"/>
                  </a:cubicBezTo>
                  <a:lnTo>
                    <a:pt x="5158740" y="0"/>
                  </a:lnTo>
                  <a:cubicBezTo>
                    <a:pt x="5167630" y="0"/>
                    <a:pt x="5175250" y="7620"/>
                    <a:pt x="5175250" y="16510"/>
                  </a:cubicBezTo>
                  <a:lnTo>
                    <a:pt x="5175250" y="16510"/>
                  </a:lnTo>
                  <a:cubicBezTo>
                    <a:pt x="5173980" y="25400"/>
                    <a:pt x="5167630" y="33020"/>
                    <a:pt x="5158740" y="33020"/>
                  </a:cubicBezTo>
                  <a:close/>
                </a:path>
              </a:pathLst>
            </a:custGeom>
            <a:solidFill>
              <a:srgbClr val="F26D6F"/>
            </a:solidFill>
          </p:spPr>
          <p:txBody>
            <a:bodyPr/>
            <a:lstStyle/>
            <a:p>
              <a:endParaRPr lang="ar-EG"/>
            </a:p>
          </p:txBody>
        </p:sp>
      </p:grpSp>
      <p:grpSp>
        <p:nvGrpSpPr>
          <p:cNvPr id="18" name="Group 18"/>
          <p:cNvGrpSpPr>
            <a:grpSpLocks noChangeAspect="1"/>
          </p:cNvGrpSpPr>
          <p:nvPr/>
        </p:nvGrpSpPr>
        <p:grpSpPr>
          <a:xfrm>
            <a:off x="11320711" y="4187903"/>
            <a:ext cx="2757635" cy="5721234"/>
            <a:chOff x="0" y="0"/>
            <a:chExt cx="9182100" cy="19050000"/>
          </a:xfrm>
        </p:grpSpPr>
        <p:sp>
          <p:nvSpPr>
            <p:cNvPr id="19" name="Freeform 19"/>
            <p:cNvSpPr/>
            <p:nvPr/>
          </p:nvSpPr>
          <p:spPr>
            <a:xfrm>
              <a:off x="395859" y="240665"/>
              <a:ext cx="8381619" cy="18062447"/>
            </a:xfrm>
            <a:custGeom>
              <a:avLst/>
              <a:gdLst/>
              <a:ahLst/>
              <a:cxnLst/>
              <a:rect l="l" t="t" r="r" b="b"/>
              <a:pathLst>
                <a:path w="8381619" h="18062447">
                  <a:moveTo>
                    <a:pt x="7301738" y="18062447"/>
                  </a:moveTo>
                  <a:lnTo>
                    <a:pt x="1080008" y="18062447"/>
                  </a:lnTo>
                  <a:cubicBezTo>
                    <a:pt x="483489" y="18062447"/>
                    <a:pt x="0" y="17578832"/>
                    <a:pt x="0" y="16982439"/>
                  </a:cubicBezTo>
                  <a:lnTo>
                    <a:pt x="0" y="1082675"/>
                  </a:lnTo>
                  <a:cubicBezTo>
                    <a:pt x="0" y="484759"/>
                    <a:pt x="484759" y="0"/>
                    <a:pt x="1082675" y="0"/>
                  </a:cubicBezTo>
                  <a:lnTo>
                    <a:pt x="7299071" y="0"/>
                  </a:lnTo>
                  <a:cubicBezTo>
                    <a:pt x="7896988" y="0"/>
                    <a:pt x="8381619" y="484759"/>
                    <a:pt x="8381619" y="1082548"/>
                  </a:cubicBezTo>
                  <a:lnTo>
                    <a:pt x="8381619" y="16982439"/>
                  </a:lnTo>
                  <a:cubicBezTo>
                    <a:pt x="8381873" y="17578959"/>
                    <a:pt x="7898384" y="18062447"/>
                    <a:pt x="7301738" y="18062447"/>
                  </a:cubicBezTo>
                  <a:close/>
                </a:path>
              </a:pathLst>
            </a:custGeom>
            <a:blipFill>
              <a:blip r:embed="rId7"/>
              <a:stretch>
                <a:fillRect t="-1559" b="-1559"/>
              </a:stretch>
            </a:blipFill>
          </p:spPr>
          <p:txBody>
            <a:bodyPr/>
            <a:lstStyle/>
            <a:p>
              <a:endParaRPr lang="ar-EG"/>
            </a:p>
          </p:txBody>
        </p:sp>
        <p:sp>
          <p:nvSpPr>
            <p:cNvPr id="20" name="Freeform 20"/>
            <p:cNvSpPr/>
            <p:nvPr/>
          </p:nvSpPr>
          <p:spPr>
            <a:xfrm>
              <a:off x="0" y="0"/>
              <a:ext cx="9182100" cy="19050000"/>
            </a:xfrm>
            <a:custGeom>
              <a:avLst/>
              <a:gdLst/>
              <a:ahLst/>
              <a:cxnLst/>
              <a:rect l="l" t="t" r="r" b="b"/>
              <a:pathLst>
                <a:path w="9182100" h="19050000">
                  <a:moveTo>
                    <a:pt x="9182100" y="0"/>
                  </a:moveTo>
                  <a:lnTo>
                    <a:pt x="9182100" y="19050000"/>
                  </a:lnTo>
                  <a:lnTo>
                    <a:pt x="0" y="19050000"/>
                  </a:lnTo>
                  <a:lnTo>
                    <a:pt x="0" y="0"/>
                  </a:lnTo>
                  <a:lnTo>
                    <a:pt x="9182100" y="0"/>
                  </a:lnTo>
                  <a:close/>
                </a:path>
              </a:pathLst>
            </a:custGeom>
            <a:blipFill>
              <a:blip r:embed="rId8"/>
              <a:stretch>
                <a:fillRect t="-208" b="-208"/>
              </a:stretch>
            </a:blipFill>
          </p:spPr>
          <p:txBody>
            <a:bodyPr/>
            <a:lstStyle/>
            <a:p>
              <a:endParaRPr lang="ar-EG"/>
            </a:p>
          </p:txBody>
        </p:sp>
      </p:grpSp>
      <p:grpSp>
        <p:nvGrpSpPr>
          <p:cNvPr id="21" name="Group 21"/>
          <p:cNvGrpSpPr/>
          <p:nvPr/>
        </p:nvGrpSpPr>
        <p:grpSpPr>
          <a:xfrm>
            <a:off x="14209566" y="2916306"/>
            <a:ext cx="4930620" cy="4017744"/>
            <a:chOff x="0" y="0"/>
            <a:chExt cx="6574160" cy="5356993"/>
          </a:xfrm>
        </p:grpSpPr>
        <p:grpSp>
          <p:nvGrpSpPr>
            <p:cNvPr id="22" name="Group 22"/>
            <p:cNvGrpSpPr/>
            <p:nvPr/>
          </p:nvGrpSpPr>
          <p:grpSpPr>
            <a:xfrm rot="5400000">
              <a:off x="149250" y="-149250"/>
              <a:ext cx="5356993" cy="5655493"/>
              <a:chOff x="0" y="0"/>
              <a:chExt cx="1058171" cy="1117134"/>
            </a:xfrm>
          </p:grpSpPr>
          <p:sp>
            <p:nvSpPr>
              <p:cNvPr id="23" name="Freeform 23"/>
              <p:cNvSpPr/>
              <p:nvPr/>
            </p:nvSpPr>
            <p:spPr>
              <a:xfrm>
                <a:off x="0" y="0"/>
                <a:ext cx="1058171" cy="1117134"/>
              </a:xfrm>
              <a:custGeom>
                <a:avLst/>
                <a:gdLst/>
                <a:ahLst/>
                <a:cxnLst/>
                <a:rect l="l" t="t" r="r" b="b"/>
                <a:pathLst>
                  <a:path w="1058171" h="1117134">
                    <a:moveTo>
                      <a:pt x="352914" y="1098065"/>
                    </a:moveTo>
                    <a:cubicBezTo>
                      <a:pt x="407164" y="1109579"/>
                      <a:pt x="468839" y="1117134"/>
                      <a:pt x="529371" y="1117134"/>
                    </a:cubicBezTo>
                    <a:cubicBezTo>
                      <a:pt x="589904" y="1117134"/>
                      <a:pt x="648152" y="1110657"/>
                      <a:pt x="701830" y="1099144"/>
                    </a:cubicBezTo>
                    <a:cubicBezTo>
                      <a:pt x="702974" y="1098784"/>
                      <a:pt x="704115" y="1098784"/>
                      <a:pt x="705257" y="1098425"/>
                    </a:cubicBezTo>
                    <a:cubicBezTo>
                      <a:pt x="906841" y="1052369"/>
                      <a:pt x="1055316" y="930755"/>
                      <a:pt x="1058171" y="781872"/>
                    </a:cubicBezTo>
                    <a:lnTo>
                      <a:pt x="1058171" y="0"/>
                    </a:lnTo>
                    <a:lnTo>
                      <a:pt x="0" y="0"/>
                    </a:lnTo>
                    <a:lnTo>
                      <a:pt x="0" y="781292"/>
                    </a:lnTo>
                    <a:cubicBezTo>
                      <a:pt x="2855" y="931474"/>
                      <a:pt x="149046" y="1053089"/>
                      <a:pt x="352914" y="1098065"/>
                    </a:cubicBezTo>
                    <a:close/>
                  </a:path>
                </a:pathLst>
              </a:custGeom>
              <a:solidFill>
                <a:srgbClr val="043732"/>
              </a:solidFill>
            </p:spPr>
            <p:txBody>
              <a:bodyPr/>
              <a:lstStyle/>
              <a:p>
                <a:endParaRPr lang="ar-EG"/>
              </a:p>
            </p:txBody>
          </p:sp>
          <p:sp>
            <p:nvSpPr>
              <p:cNvPr id="24" name="TextBox 24"/>
              <p:cNvSpPr txBox="1"/>
              <p:nvPr/>
            </p:nvSpPr>
            <p:spPr>
              <a:xfrm>
                <a:off x="0" y="-28575"/>
                <a:ext cx="1058171" cy="1018709"/>
              </a:xfrm>
              <a:prstGeom prst="rect">
                <a:avLst/>
              </a:prstGeom>
            </p:spPr>
            <p:txBody>
              <a:bodyPr lIns="50800" tIns="50800" rIns="50800" bIns="50800" rtlCol="0" anchor="ctr"/>
              <a:lstStyle/>
              <a:p>
                <a:pPr marL="0" lvl="0" indent="0" algn="ctr">
                  <a:lnSpc>
                    <a:spcPts val="2520"/>
                  </a:lnSpc>
                  <a:spcBef>
                    <a:spcPct val="0"/>
                  </a:spcBef>
                </a:pPr>
                <a:endParaRPr/>
              </a:p>
            </p:txBody>
          </p:sp>
        </p:grpSp>
        <p:grpSp>
          <p:nvGrpSpPr>
            <p:cNvPr id="25" name="Group 25"/>
            <p:cNvGrpSpPr/>
            <p:nvPr/>
          </p:nvGrpSpPr>
          <p:grpSpPr>
            <a:xfrm>
              <a:off x="630780" y="276368"/>
              <a:ext cx="5943380" cy="1717159"/>
              <a:chOff x="0" y="0"/>
              <a:chExt cx="975428" cy="281820"/>
            </a:xfrm>
          </p:grpSpPr>
          <p:sp>
            <p:nvSpPr>
              <p:cNvPr id="26" name="Freeform 26"/>
              <p:cNvSpPr/>
              <p:nvPr/>
            </p:nvSpPr>
            <p:spPr>
              <a:xfrm>
                <a:off x="0" y="0"/>
                <a:ext cx="975428" cy="281820"/>
              </a:xfrm>
              <a:custGeom>
                <a:avLst/>
                <a:gdLst/>
                <a:ahLst/>
                <a:cxnLst/>
                <a:rect l="l" t="t" r="r" b="b"/>
                <a:pathLst>
                  <a:path w="975428" h="281820">
                    <a:moveTo>
                      <a:pt x="0" y="0"/>
                    </a:moveTo>
                    <a:lnTo>
                      <a:pt x="772228" y="0"/>
                    </a:lnTo>
                    <a:lnTo>
                      <a:pt x="975428" y="140910"/>
                    </a:lnTo>
                    <a:lnTo>
                      <a:pt x="772228" y="281820"/>
                    </a:lnTo>
                    <a:lnTo>
                      <a:pt x="0" y="281820"/>
                    </a:lnTo>
                    <a:lnTo>
                      <a:pt x="203200" y="140910"/>
                    </a:lnTo>
                    <a:lnTo>
                      <a:pt x="0" y="0"/>
                    </a:lnTo>
                    <a:close/>
                  </a:path>
                </a:pathLst>
              </a:custGeom>
              <a:solidFill>
                <a:srgbClr val="F7F2DE"/>
              </a:solidFill>
            </p:spPr>
            <p:txBody>
              <a:bodyPr/>
              <a:lstStyle/>
              <a:p>
                <a:endParaRPr lang="ar-EG"/>
              </a:p>
            </p:txBody>
          </p:sp>
          <p:sp>
            <p:nvSpPr>
              <p:cNvPr id="27" name="TextBox 27"/>
              <p:cNvSpPr txBox="1"/>
              <p:nvPr/>
            </p:nvSpPr>
            <p:spPr>
              <a:xfrm>
                <a:off x="177800" y="-66675"/>
                <a:ext cx="721428" cy="348495"/>
              </a:xfrm>
              <a:prstGeom prst="rect">
                <a:avLst/>
              </a:prstGeom>
            </p:spPr>
            <p:txBody>
              <a:bodyPr lIns="61142" tIns="61142" rIns="61142" bIns="61142" rtlCol="0" anchor="ctr"/>
              <a:lstStyle/>
              <a:p>
                <a:pPr algn="ctr">
                  <a:lnSpc>
                    <a:spcPts val="3500"/>
                  </a:lnSpc>
                </a:pPr>
                <a:endParaRPr/>
              </a:p>
            </p:txBody>
          </p:sp>
        </p:grpSp>
        <p:sp>
          <p:nvSpPr>
            <p:cNvPr id="28" name="TextBox 28"/>
            <p:cNvSpPr txBox="1"/>
            <p:nvPr/>
          </p:nvSpPr>
          <p:spPr>
            <a:xfrm>
              <a:off x="906519" y="2271190"/>
              <a:ext cx="4250530" cy="2756910"/>
            </a:xfrm>
            <a:prstGeom prst="rect">
              <a:avLst/>
            </a:prstGeom>
          </p:spPr>
          <p:txBody>
            <a:bodyPr lIns="0" tIns="0" rIns="0" bIns="0" rtlCol="0" anchor="t">
              <a:spAutoFit/>
            </a:bodyPr>
            <a:lstStyle/>
            <a:p>
              <a:pPr algn="ctr">
                <a:lnSpc>
                  <a:spcPts val="4059"/>
                </a:lnSpc>
              </a:pPr>
              <a:r>
                <a:rPr lang="en-US" sz="2899" u="sng" dirty="0">
                  <a:solidFill>
                    <a:schemeClr val="bg1"/>
                  </a:solidFill>
                  <a:latin typeface="Canva Sans"/>
                  <a:ea typeface="Canva Sans"/>
                  <a:cs typeface="Canva Sans"/>
                  <a:sym typeface="Canva Sans"/>
                  <a:hlinkClick r:id="rId9" tooltip="https://predicting-real-estate-prices-in-saudi-arabia-ne64og9uhlvbyyzy.streamlit.app">
                    <a:extLst>
                      <a:ext uri="{A12FA001-AC4F-418D-AE19-62706E023703}">
                        <ahyp:hlinkClr xmlns:ahyp="http://schemas.microsoft.com/office/drawing/2018/hyperlinkcolor" val="tx"/>
                      </a:ext>
                    </a:extLst>
                  </a:hlinkClick>
                </a:rPr>
                <a:t>Try it by yourself and see which property deal suits you </a:t>
              </a:r>
            </a:p>
          </p:txBody>
        </p:sp>
        <p:sp>
          <p:nvSpPr>
            <p:cNvPr id="29" name="TextBox 29"/>
            <p:cNvSpPr txBox="1"/>
            <p:nvPr/>
          </p:nvSpPr>
          <p:spPr>
            <a:xfrm>
              <a:off x="1804408" y="115917"/>
              <a:ext cx="3596123" cy="1877610"/>
            </a:xfrm>
            <a:prstGeom prst="rect">
              <a:avLst/>
            </a:prstGeom>
          </p:spPr>
          <p:txBody>
            <a:bodyPr lIns="0" tIns="0" rIns="0" bIns="0" rtlCol="0" anchor="t">
              <a:spAutoFit/>
            </a:bodyPr>
            <a:lstStyle/>
            <a:p>
              <a:pPr algn="ctr">
                <a:lnSpc>
                  <a:spcPts val="5725"/>
                </a:lnSpc>
              </a:pPr>
              <a:r>
                <a:rPr lang="en-US" sz="4089" b="1">
                  <a:solidFill>
                    <a:srgbClr val="043732"/>
                  </a:solidFill>
                  <a:latin typeface="Canva Sans Bold"/>
                  <a:ea typeface="Canva Sans Bold"/>
                  <a:cs typeface="Canva Sans Bold"/>
                  <a:sym typeface="Canva Sans Bold"/>
                </a:rPr>
                <a:t>AI Price Predictor</a:t>
              </a:r>
            </a:p>
          </p:txBody>
        </p:sp>
      </p:grpSp>
      <p:grpSp>
        <p:nvGrpSpPr>
          <p:cNvPr id="30" name="Group 30"/>
          <p:cNvGrpSpPr/>
          <p:nvPr/>
        </p:nvGrpSpPr>
        <p:grpSpPr>
          <a:xfrm>
            <a:off x="15530135" y="7174228"/>
            <a:ext cx="2289481" cy="2289481"/>
            <a:chOff x="0" y="0"/>
            <a:chExt cx="3052641" cy="3052641"/>
          </a:xfrm>
        </p:grpSpPr>
        <p:grpSp>
          <p:nvGrpSpPr>
            <p:cNvPr id="31" name="Group 31"/>
            <p:cNvGrpSpPr/>
            <p:nvPr/>
          </p:nvGrpSpPr>
          <p:grpSpPr>
            <a:xfrm>
              <a:off x="0" y="0"/>
              <a:ext cx="3052641" cy="3052641"/>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33" name="TextBox 33"/>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sp>
          <p:nvSpPr>
            <p:cNvPr id="34" name="Freeform 34"/>
            <p:cNvSpPr/>
            <p:nvPr/>
          </p:nvSpPr>
          <p:spPr>
            <a:xfrm>
              <a:off x="623329" y="623329"/>
              <a:ext cx="1805983" cy="1805983"/>
            </a:xfrm>
            <a:custGeom>
              <a:avLst/>
              <a:gdLst/>
              <a:ahLst/>
              <a:cxnLst/>
              <a:rect l="l" t="t" r="r" b="b"/>
              <a:pathLst>
                <a:path w="1805983" h="1805983">
                  <a:moveTo>
                    <a:pt x="0" y="0"/>
                  </a:moveTo>
                  <a:lnTo>
                    <a:pt x="1805983" y="0"/>
                  </a:lnTo>
                  <a:lnTo>
                    <a:pt x="1805983" y="1805983"/>
                  </a:lnTo>
                  <a:lnTo>
                    <a:pt x="0" y="1805983"/>
                  </a:lnTo>
                  <a:lnTo>
                    <a:pt x="0" y="0"/>
                  </a:lnTo>
                  <a:close/>
                </a:path>
              </a:pathLst>
            </a:custGeom>
            <a:blipFill>
              <a:blip r:embed="rId10"/>
              <a:stretch>
                <a:fillRect/>
              </a:stretch>
            </a:blipFill>
          </p:spPr>
          <p:txBody>
            <a:bodyPr/>
            <a:lstStyle/>
            <a:p>
              <a:endParaRPr lang="ar-EG"/>
            </a:p>
          </p:txBody>
        </p:sp>
      </p:grpSp>
      <p:sp>
        <p:nvSpPr>
          <p:cNvPr id="35" name="TextBox 35"/>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36" name="TextBox 36"/>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37" name="TextBox 37"/>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38" name="TextBox 38"/>
          <p:cNvSpPr txBox="1"/>
          <p:nvPr/>
        </p:nvSpPr>
        <p:spPr>
          <a:xfrm>
            <a:off x="11320711"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5</a:t>
            </a:r>
          </a:p>
        </p:txBody>
      </p:sp>
      <p:sp>
        <p:nvSpPr>
          <p:cNvPr id="39" name="TextBox 39"/>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6</a:t>
            </a:r>
          </a:p>
        </p:txBody>
      </p:sp>
      <p:sp>
        <p:nvSpPr>
          <p:cNvPr id="40" name="TextBox 40"/>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41" name="TextBox 41"/>
          <p:cNvSpPr txBox="1"/>
          <p:nvPr/>
        </p:nvSpPr>
        <p:spPr>
          <a:xfrm>
            <a:off x="10282878" y="2361967"/>
            <a:ext cx="2704826" cy="306689"/>
          </a:xfrm>
          <a:prstGeom prst="rect">
            <a:avLst/>
          </a:prstGeom>
        </p:spPr>
        <p:txBody>
          <a:bodyPr lIns="0" tIns="0" rIns="0" bIns="0" rtlCol="0" anchor="t">
            <a:spAutoFit/>
          </a:bodyPr>
          <a:lstStyle/>
          <a:p>
            <a:pPr marL="0" lvl="0" indent="0" algn="ctr">
              <a:lnSpc>
                <a:spcPts val="2447"/>
              </a:lnSpc>
              <a:spcBef>
                <a:spcPct val="0"/>
              </a:spcBef>
            </a:pPr>
            <a:r>
              <a:rPr lang="en-US" sz="1911" b="1" u="none" strike="noStrike">
                <a:solidFill>
                  <a:srgbClr val="043732"/>
                </a:solidFill>
                <a:latin typeface="Montserrat Bold"/>
                <a:ea typeface="Montserrat Bold"/>
                <a:cs typeface="Montserrat Bold"/>
                <a:sym typeface="Montserrat Bold"/>
              </a:rPr>
              <a:t>ML model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2B7BD11F-98DB-C63A-81A5-FA8887FB515E}"/>
              </a:ext>
            </a:extLst>
          </p:cNvPr>
          <p:cNvSpPr/>
          <p:nvPr/>
        </p:nvSpPr>
        <p:spPr>
          <a:xfrm>
            <a:off x="12585962" y="2350789"/>
            <a:ext cx="1511037" cy="352845"/>
          </a:xfrm>
          <a:prstGeom prst="roundRect">
            <a:avLst/>
          </a:prstGeom>
          <a:solidFill>
            <a:srgbClr val="08B19E"/>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EG" dirty="0"/>
          </a:p>
        </p:txBody>
      </p:sp>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sp>
        <p:nvSpPr>
          <p:cNvPr id="11" name="Freeform 11"/>
          <p:cNvSpPr/>
          <p:nvPr/>
        </p:nvSpPr>
        <p:spPr>
          <a:xfrm>
            <a:off x="5053226" y="686546"/>
            <a:ext cx="8269279" cy="691612"/>
          </a:xfrm>
          <a:custGeom>
            <a:avLst/>
            <a:gdLst/>
            <a:ahLst/>
            <a:cxnLst/>
            <a:rect l="l" t="t" r="r" b="b"/>
            <a:pathLst>
              <a:path w="8269279" h="691612">
                <a:moveTo>
                  <a:pt x="0" y="0"/>
                </a:moveTo>
                <a:lnTo>
                  <a:pt x="8269279" y="0"/>
                </a:lnTo>
                <a:lnTo>
                  <a:pt x="8269279" y="691612"/>
                </a:lnTo>
                <a:lnTo>
                  <a:pt x="0" y="6916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grpSp>
        <p:nvGrpSpPr>
          <p:cNvPr id="12" name="Group 12"/>
          <p:cNvGrpSpPr/>
          <p:nvPr/>
        </p:nvGrpSpPr>
        <p:grpSpPr>
          <a:xfrm>
            <a:off x="11499125" y="2970873"/>
            <a:ext cx="6640864" cy="6640864"/>
            <a:chOff x="0" y="0"/>
            <a:chExt cx="8854485" cy="8854485"/>
          </a:xfrm>
        </p:grpSpPr>
        <p:grpSp>
          <p:nvGrpSpPr>
            <p:cNvPr id="13" name="Group 13"/>
            <p:cNvGrpSpPr/>
            <p:nvPr/>
          </p:nvGrpSpPr>
          <p:grpSpPr>
            <a:xfrm>
              <a:off x="0" y="0"/>
              <a:ext cx="8854485" cy="885448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43732"/>
              </a:solidFill>
            </p:spPr>
            <p:txBody>
              <a:bodyPr/>
              <a:lstStyle/>
              <a:p>
                <a:endParaRPr lang="ar-EG"/>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359"/>
                  </a:lnSpc>
                </a:pPr>
                <a:endParaRPr/>
              </a:p>
            </p:txBody>
          </p:sp>
        </p:grpSp>
        <p:grpSp>
          <p:nvGrpSpPr>
            <p:cNvPr id="16" name="Group 16"/>
            <p:cNvGrpSpPr/>
            <p:nvPr/>
          </p:nvGrpSpPr>
          <p:grpSpPr>
            <a:xfrm>
              <a:off x="672991" y="641897"/>
              <a:ext cx="7481786" cy="748178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25471" r="-25471"/>
                </a:stretch>
              </a:blipFill>
            </p:spPr>
            <p:txBody>
              <a:bodyPr/>
              <a:lstStyle/>
              <a:p>
                <a:endParaRPr lang="ar-EG"/>
              </a:p>
            </p:txBody>
          </p:sp>
        </p:grpSp>
      </p:grpSp>
      <p:sp>
        <p:nvSpPr>
          <p:cNvPr id="18" name="TextBox 18"/>
          <p:cNvSpPr txBox="1"/>
          <p:nvPr/>
        </p:nvSpPr>
        <p:spPr>
          <a:xfrm>
            <a:off x="284062" y="3705860"/>
            <a:ext cx="10797659" cy="6581140"/>
          </a:xfrm>
          <a:prstGeom prst="rect">
            <a:avLst/>
          </a:prstGeom>
        </p:spPr>
        <p:txBody>
          <a:bodyPr lIns="0" tIns="0" rIns="0" bIns="0" rtlCol="0" anchor="t">
            <a:spAutoFit/>
          </a:bodyPr>
          <a:lstStyle/>
          <a:p>
            <a:pPr algn="l">
              <a:lnSpc>
                <a:spcPts val="4759"/>
              </a:lnSpc>
            </a:pPr>
            <a:r>
              <a:rPr lang="en-US" sz="3399">
                <a:solidFill>
                  <a:srgbClr val="043732"/>
                </a:solidFill>
                <a:latin typeface="Canva Sans"/>
                <a:ea typeface="Canva Sans"/>
                <a:cs typeface="Canva Sans"/>
                <a:sym typeface="Canva Sans"/>
              </a:rPr>
              <a:t>The Intelligent Investment Consultant</a:t>
            </a:r>
          </a:p>
          <a:p>
            <a:pPr marL="734059" lvl="1" indent="-367030" algn="l">
              <a:lnSpc>
                <a:spcPts val="4759"/>
              </a:lnSpc>
              <a:buFont typeface="Arial"/>
              <a:buChar char="•"/>
            </a:pPr>
            <a:r>
              <a:rPr lang="en-US" sz="3399">
                <a:solidFill>
                  <a:srgbClr val="043732"/>
                </a:solidFill>
                <a:latin typeface="Canva Sans"/>
                <a:ea typeface="Canva Sans"/>
                <a:cs typeface="Canva Sans"/>
                <a:sym typeface="Canva Sans"/>
              </a:rPr>
              <a:t>The Scale: 300k+ Listings | 13 Provinces | Unified Database.</a:t>
            </a:r>
          </a:p>
          <a:p>
            <a:pPr marL="734059" lvl="1" indent="-367030" algn="l">
              <a:lnSpc>
                <a:spcPts val="4759"/>
              </a:lnSpc>
              <a:buFont typeface="Arial"/>
              <a:buChar char="•"/>
            </a:pPr>
            <a:r>
              <a:rPr lang="en-US" sz="3399">
                <a:solidFill>
                  <a:srgbClr val="043732"/>
                </a:solidFill>
                <a:latin typeface="Canva Sans"/>
                <a:ea typeface="Canva Sans"/>
                <a:cs typeface="Canva Sans"/>
                <a:sym typeface="Canva Sans"/>
              </a:rPr>
              <a:t>The Tech: Power BI Dashboard + ML-Powered Streamlit App.</a:t>
            </a:r>
          </a:p>
          <a:p>
            <a:pPr marL="734059" lvl="1" indent="-367030" algn="l">
              <a:lnSpc>
                <a:spcPts val="4759"/>
              </a:lnSpc>
              <a:buFont typeface="Arial"/>
              <a:buChar char="•"/>
            </a:pPr>
            <a:r>
              <a:rPr lang="en-US" sz="3399">
                <a:solidFill>
                  <a:srgbClr val="043732"/>
                </a:solidFill>
                <a:latin typeface="Canva Sans"/>
                <a:ea typeface="Canva Sans"/>
                <a:cs typeface="Canva Sans"/>
                <a:sym typeface="Canva Sans"/>
              </a:rPr>
              <a:t>The Accuracy: 90.84% Precision in Property Valuations.</a:t>
            </a:r>
          </a:p>
          <a:p>
            <a:pPr marL="734059" lvl="1" indent="-367030" algn="l">
              <a:lnSpc>
                <a:spcPts val="4759"/>
              </a:lnSpc>
              <a:buFont typeface="Arial"/>
              <a:buChar char="•"/>
            </a:pPr>
            <a:r>
              <a:rPr lang="en-US" sz="3399">
                <a:solidFill>
                  <a:srgbClr val="043732"/>
                </a:solidFill>
                <a:latin typeface="Canva Sans"/>
                <a:ea typeface="Canva Sans"/>
                <a:cs typeface="Canva Sans"/>
                <a:sym typeface="Canva Sans"/>
              </a:rPr>
              <a:t>The Mission: Turning complex market information into confident, data-backed decisions.</a:t>
            </a:r>
          </a:p>
          <a:p>
            <a:pPr algn="l">
              <a:lnSpc>
                <a:spcPts val="4759"/>
              </a:lnSpc>
            </a:pPr>
            <a:endParaRPr lang="en-US" sz="3399">
              <a:solidFill>
                <a:srgbClr val="043732"/>
              </a:solidFill>
              <a:latin typeface="Canva Sans"/>
              <a:ea typeface="Canva Sans"/>
              <a:cs typeface="Canva Sans"/>
              <a:sym typeface="Canva Sans"/>
            </a:endParaRPr>
          </a:p>
        </p:txBody>
      </p:sp>
      <p:sp>
        <p:nvSpPr>
          <p:cNvPr id="19" name="TextBox 19"/>
          <p:cNvSpPr txBox="1"/>
          <p:nvPr/>
        </p:nvSpPr>
        <p:spPr>
          <a:xfrm>
            <a:off x="635714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2</a:t>
            </a:r>
          </a:p>
        </p:txBody>
      </p:sp>
      <p:sp>
        <p:nvSpPr>
          <p:cNvPr id="20" name="TextBox 20"/>
          <p:cNvSpPr txBox="1"/>
          <p:nvPr/>
        </p:nvSpPr>
        <p:spPr>
          <a:xfrm>
            <a:off x="8013736" y="1563533"/>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3</a:t>
            </a:r>
          </a:p>
        </p:txBody>
      </p:sp>
      <p:sp>
        <p:nvSpPr>
          <p:cNvPr id="21" name="TextBox 21"/>
          <p:cNvSpPr txBox="1"/>
          <p:nvPr/>
        </p:nvSpPr>
        <p:spPr>
          <a:xfrm>
            <a:off x="9633496" y="1581525"/>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4</a:t>
            </a:r>
          </a:p>
        </p:txBody>
      </p:sp>
      <p:sp>
        <p:nvSpPr>
          <p:cNvPr id="22" name="TextBox 22"/>
          <p:cNvSpPr txBox="1"/>
          <p:nvPr/>
        </p:nvSpPr>
        <p:spPr>
          <a:xfrm>
            <a:off x="11320711" y="1572000"/>
            <a:ext cx="629161" cy="585235"/>
          </a:xfrm>
          <a:prstGeom prst="rect">
            <a:avLst/>
          </a:prstGeom>
        </p:spPr>
        <p:txBody>
          <a:bodyPr lIns="0" tIns="0" rIns="0" bIns="0" rtlCol="0" anchor="t">
            <a:spAutoFit/>
          </a:bodyPr>
          <a:lstStyle/>
          <a:p>
            <a:pPr marL="0" lvl="0" indent="0" algn="ctr">
              <a:lnSpc>
                <a:spcPts val="4756"/>
              </a:lnSpc>
            </a:pPr>
            <a:r>
              <a:rPr lang="en-US" sz="3497" b="1">
                <a:solidFill>
                  <a:srgbClr val="043732"/>
                </a:solidFill>
                <a:latin typeface="Montserrat Ultra-Bold"/>
                <a:ea typeface="Montserrat Ultra-Bold"/>
                <a:cs typeface="Montserrat Ultra-Bold"/>
                <a:sym typeface="Montserrat Ultra-Bold"/>
              </a:rPr>
              <a:t>5</a:t>
            </a:r>
          </a:p>
        </p:txBody>
      </p:sp>
      <p:sp>
        <p:nvSpPr>
          <p:cNvPr id="23" name="TextBox 23"/>
          <p:cNvSpPr txBox="1"/>
          <p:nvPr/>
        </p:nvSpPr>
        <p:spPr>
          <a:xfrm>
            <a:off x="12978571" y="1558589"/>
            <a:ext cx="629161" cy="570892"/>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8B19E"/>
                </a:solidFill>
                <a:latin typeface="Montserrat Ultra-Bold"/>
                <a:ea typeface="Montserrat Ultra-Bold"/>
                <a:cs typeface="Montserrat Ultra-Bold"/>
                <a:sym typeface="Montserrat Ultra-Bold"/>
              </a:rPr>
              <a:t>6</a:t>
            </a:r>
          </a:p>
        </p:txBody>
      </p:sp>
      <p:sp>
        <p:nvSpPr>
          <p:cNvPr id="24" name="TextBox 24"/>
          <p:cNvSpPr txBox="1"/>
          <p:nvPr/>
        </p:nvSpPr>
        <p:spPr>
          <a:xfrm>
            <a:off x="4738646" y="1563533"/>
            <a:ext cx="629161" cy="565948"/>
          </a:xfrm>
          <a:prstGeom prst="rect">
            <a:avLst/>
          </a:prstGeom>
        </p:spPr>
        <p:txBody>
          <a:bodyPr lIns="0" tIns="0" rIns="0" bIns="0" rtlCol="0" anchor="t">
            <a:spAutoFit/>
          </a:bodyPr>
          <a:lstStyle/>
          <a:p>
            <a:pPr marL="0" lvl="0" indent="0" algn="ctr">
              <a:lnSpc>
                <a:spcPts val="4696"/>
              </a:lnSpc>
              <a:spcBef>
                <a:spcPct val="0"/>
              </a:spcBef>
            </a:pPr>
            <a:r>
              <a:rPr lang="en-US" sz="3453" b="1" u="none" strike="noStrike">
                <a:solidFill>
                  <a:srgbClr val="043732"/>
                </a:solidFill>
                <a:latin typeface="Montserrat Ultra-Bold"/>
                <a:ea typeface="Montserrat Ultra-Bold"/>
                <a:cs typeface="Montserrat Ultra-Bold"/>
                <a:sym typeface="Montserrat Ultra-Bold"/>
              </a:rPr>
              <a:t>1</a:t>
            </a:r>
          </a:p>
        </p:txBody>
      </p:sp>
      <p:sp>
        <p:nvSpPr>
          <p:cNvPr id="25" name="TextBox 25"/>
          <p:cNvSpPr txBox="1"/>
          <p:nvPr/>
        </p:nvSpPr>
        <p:spPr>
          <a:xfrm>
            <a:off x="11825454" y="2366785"/>
            <a:ext cx="2994103" cy="306689"/>
          </a:xfrm>
          <a:prstGeom prst="rect">
            <a:avLst/>
          </a:prstGeom>
        </p:spPr>
        <p:txBody>
          <a:bodyPr lIns="0" tIns="0" rIns="0" bIns="0" rtlCol="0" anchor="t">
            <a:spAutoFit/>
          </a:bodyPr>
          <a:lstStyle/>
          <a:p>
            <a:pPr marL="0" lvl="0" indent="0" algn="ctr">
              <a:lnSpc>
                <a:spcPts val="2447"/>
              </a:lnSpc>
              <a:spcBef>
                <a:spcPct val="0"/>
              </a:spcBef>
            </a:pPr>
            <a:r>
              <a:rPr lang="en-US" sz="1911" b="1">
                <a:solidFill>
                  <a:srgbClr val="043732"/>
                </a:solidFill>
                <a:latin typeface="Montserrat Bold"/>
                <a:ea typeface="Montserrat Bold"/>
                <a:cs typeface="Montserrat Bold"/>
                <a:sym typeface="Montserrat Bold"/>
              </a:rPr>
              <a:t>Conclusion </a:t>
            </a:r>
          </a:p>
        </p:txBody>
      </p:sp>
      <p:sp>
        <p:nvSpPr>
          <p:cNvPr id="26" name="TextBox 26"/>
          <p:cNvSpPr txBox="1"/>
          <p:nvPr/>
        </p:nvSpPr>
        <p:spPr>
          <a:xfrm>
            <a:off x="284062" y="2435284"/>
            <a:ext cx="6737831" cy="1193800"/>
          </a:xfrm>
          <a:prstGeom prst="rect">
            <a:avLst/>
          </a:prstGeom>
        </p:spPr>
        <p:txBody>
          <a:bodyPr lIns="0" tIns="0" rIns="0" bIns="0" rtlCol="0" anchor="t">
            <a:spAutoFit/>
          </a:bodyPr>
          <a:lstStyle/>
          <a:p>
            <a:pPr algn="l">
              <a:lnSpc>
                <a:spcPts val="9799"/>
              </a:lnSpc>
            </a:pPr>
            <a:r>
              <a:rPr lang="en-US" sz="6999" b="1">
                <a:solidFill>
                  <a:srgbClr val="043732"/>
                </a:solidFill>
                <a:latin typeface="Canva Sans Bold"/>
                <a:ea typeface="Canva Sans Bold"/>
                <a:cs typeface="Canva Sans Bold"/>
                <a:sym typeface="Canva Sans Bold"/>
              </a:rPr>
              <a:t>Conclusion</a:t>
            </a:r>
          </a:p>
        </p:txBody>
      </p:sp>
    </p:spTree>
  </p:cSld>
  <p:clrMapOvr>
    <a:masterClrMapping/>
  </p:clrMapOvr>
  <p:transition spd="slow">
    <p:cover dir="lu"/>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grpSp>
        <p:nvGrpSpPr>
          <p:cNvPr id="2" name="Group 2"/>
          <p:cNvGrpSpPr/>
          <p:nvPr/>
        </p:nvGrpSpPr>
        <p:grpSpPr>
          <a:xfrm>
            <a:off x="-182585" y="184622"/>
            <a:ext cx="18470585" cy="1695460"/>
            <a:chOff x="0" y="0"/>
            <a:chExt cx="24627447" cy="2260613"/>
          </a:xfrm>
        </p:grpSpPr>
        <p:sp>
          <p:nvSpPr>
            <p:cNvPr id="3" name="AutoShape 3"/>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4" name="AutoShape 4"/>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sp>
          <p:nvSpPr>
            <p:cNvPr id="5" name="Freeform 5"/>
            <p:cNvSpPr/>
            <p:nvPr/>
          </p:nvSpPr>
          <p:spPr>
            <a:xfrm>
              <a:off x="243447" y="3760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2"/>
              <a:stretch>
                <a:fillRect/>
              </a:stretch>
            </a:blipFill>
          </p:spPr>
          <p:txBody>
            <a:bodyPr/>
            <a:lstStyle/>
            <a:p>
              <a:endParaRPr lang="ar-EG"/>
            </a:p>
          </p:txBody>
        </p:sp>
        <p:sp>
          <p:nvSpPr>
            <p:cNvPr id="6" name="Freeform 6"/>
            <p:cNvSpPr/>
            <p:nvPr/>
          </p:nvSpPr>
          <p:spPr>
            <a:xfrm>
              <a:off x="2136405" y="29210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3"/>
              <a:stretch>
                <a:fillRect/>
              </a:stretch>
            </a:blipFill>
          </p:spPr>
          <p:txBody>
            <a:bodyPr/>
            <a:lstStyle/>
            <a:p>
              <a:endParaRPr lang="ar-EG"/>
            </a:p>
          </p:txBody>
        </p:sp>
        <p:sp>
          <p:nvSpPr>
            <p:cNvPr id="7" name="Freeform 7"/>
            <p:cNvSpPr/>
            <p:nvPr/>
          </p:nvSpPr>
          <p:spPr>
            <a:xfrm>
              <a:off x="21277144" y="376068"/>
              <a:ext cx="3350302" cy="1884545"/>
            </a:xfrm>
            <a:custGeom>
              <a:avLst/>
              <a:gdLst/>
              <a:ahLst/>
              <a:cxnLst/>
              <a:rect l="l" t="t" r="r" b="b"/>
              <a:pathLst>
                <a:path w="3350302" h="1884545">
                  <a:moveTo>
                    <a:pt x="0" y="0"/>
                  </a:moveTo>
                  <a:lnTo>
                    <a:pt x="3350303" y="0"/>
                  </a:lnTo>
                  <a:lnTo>
                    <a:pt x="3350303" y="1884545"/>
                  </a:lnTo>
                  <a:lnTo>
                    <a:pt x="0" y="1884545"/>
                  </a:lnTo>
                  <a:lnTo>
                    <a:pt x="0" y="0"/>
                  </a:lnTo>
                  <a:close/>
                </a:path>
              </a:pathLst>
            </a:custGeom>
            <a:blipFill>
              <a:blip r:embed="rId4"/>
              <a:stretch>
                <a:fillRect/>
              </a:stretch>
            </a:blipFill>
          </p:spPr>
          <p:txBody>
            <a:bodyPr/>
            <a:lstStyle/>
            <a:p>
              <a:endParaRPr lang="ar-EG"/>
            </a:p>
          </p:txBody>
        </p:sp>
      </p:grpSp>
      <p:grpSp>
        <p:nvGrpSpPr>
          <p:cNvPr id="8" name="Group 8"/>
          <p:cNvGrpSpPr/>
          <p:nvPr/>
        </p:nvGrpSpPr>
        <p:grpSpPr>
          <a:xfrm>
            <a:off x="-19400" y="9909136"/>
            <a:ext cx="18470585" cy="221262"/>
            <a:chOff x="0" y="0"/>
            <a:chExt cx="24627447" cy="295016"/>
          </a:xfrm>
        </p:grpSpPr>
        <p:sp>
          <p:nvSpPr>
            <p:cNvPr id="9" name="AutoShape 9"/>
            <p:cNvSpPr/>
            <p:nvPr/>
          </p:nvSpPr>
          <p:spPr>
            <a:xfrm>
              <a:off x="0" y="147508"/>
              <a:ext cx="24627447" cy="0"/>
            </a:xfrm>
            <a:prstGeom prst="line">
              <a:avLst/>
            </a:prstGeom>
            <a:ln w="295016" cap="flat">
              <a:solidFill>
                <a:srgbClr val="135A5C"/>
              </a:solidFill>
              <a:prstDash val="solid"/>
              <a:headEnd type="none" w="sm" len="sm"/>
              <a:tailEnd type="none" w="sm" len="sm"/>
            </a:ln>
          </p:spPr>
          <p:txBody>
            <a:bodyPr/>
            <a:lstStyle/>
            <a:p>
              <a:endParaRPr lang="ar-EG"/>
            </a:p>
          </p:txBody>
        </p:sp>
        <p:sp>
          <p:nvSpPr>
            <p:cNvPr id="10" name="AutoShape 10"/>
            <p:cNvSpPr/>
            <p:nvPr/>
          </p:nvSpPr>
          <p:spPr>
            <a:xfrm flipV="1">
              <a:off x="0" y="147508"/>
              <a:ext cx="24627447" cy="0"/>
            </a:xfrm>
            <a:prstGeom prst="line">
              <a:avLst/>
            </a:prstGeom>
            <a:ln w="51307" cap="flat">
              <a:solidFill>
                <a:srgbClr val="FAE2A6"/>
              </a:solidFill>
              <a:prstDash val="solid"/>
              <a:headEnd type="none" w="sm" len="sm"/>
              <a:tailEnd type="none" w="sm" len="sm"/>
            </a:ln>
          </p:spPr>
          <p:txBody>
            <a:bodyPr/>
            <a:lstStyle/>
            <a:p>
              <a:endParaRPr lang="ar-EG"/>
            </a:p>
          </p:txBody>
        </p:sp>
      </p:grpSp>
      <p:grpSp>
        <p:nvGrpSpPr>
          <p:cNvPr id="11" name="Group 11"/>
          <p:cNvGrpSpPr/>
          <p:nvPr/>
        </p:nvGrpSpPr>
        <p:grpSpPr>
          <a:xfrm rot="5400000">
            <a:off x="3744644" y="-1106499"/>
            <a:ext cx="1205108" cy="8772526"/>
            <a:chOff x="0" y="0"/>
            <a:chExt cx="303134" cy="2206650"/>
          </a:xfrm>
        </p:grpSpPr>
        <p:sp>
          <p:nvSpPr>
            <p:cNvPr id="12" name="Freeform 12"/>
            <p:cNvSpPr/>
            <p:nvPr/>
          </p:nvSpPr>
          <p:spPr>
            <a:xfrm>
              <a:off x="0" y="0"/>
              <a:ext cx="303134" cy="2206650"/>
            </a:xfrm>
            <a:custGeom>
              <a:avLst/>
              <a:gdLst/>
              <a:ahLst/>
              <a:cxnLst/>
              <a:rect l="l" t="t" r="r" b="b"/>
              <a:pathLst>
                <a:path w="303134" h="2206650">
                  <a:moveTo>
                    <a:pt x="101099" y="19070"/>
                  </a:moveTo>
                  <a:cubicBezTo>
                    <a:pt x="116590" y="7556"/>
                    <a:pt x="134308" y="0"/>
                    <a:pt x="151649" y="0"/>
                  </a:cubicBezTo>
                  <a:cubicBezTo>
                    <a:pt x="168990" y="0"/>
                    <a:pt x="185676" y="6476"/>
                    <a:pt x="201053" y="17990"/>
                  </a:cubicBezTo>
                  <a:cubicBezTo>
                    <a:pt x="201381" y="18350"/>
                    <a:pt x="201708" y="18350"/>
                    <a:pt x="202035" y="18710"/>
                  </a:cubicBezTo>
                  <a:cubicBezTo>
                    <a:pt x="259782" y="64765"/>
                    <a:pt x="302316" y="186379"/>
                    <a:pt x="303134" y="359463"/>
                  </a:cubicBezTo>
                  <a:lnTo>
                    <a:pt x="303134" y="2206650"/>
                  </a:lnTo>
                  <a:lnTo>
                    <a:pt x="0" y="2206650"/>
                  </a:lnTo>
                  <a:lnTo>
                    <a:pt x="0" y="360834"/>
                  </a:lnTo>
                  <a:cubicBezTo>
                    <a:pt x="818" y="185660"/>
                    <a:pt x="42697" y="64045"/>
                    <a:pt x="101099" y="19070"/>
                  </a:cubicBezTo>
                  <a:close/>
                </a:path>
              </a:pathLst>
            </a:custGeom>
            <a:solidFill>
              <a:srgbClr val="043732"/>
            </a:solidFill>
          </p:spPr>
          <p:txBody>
            <a:bodyPr/>
            <a:lstStyle/>
            <a:p>
              <a:endParaRPr lang="ar-EG"/>
            </a:p>
          </p:txBody>
        </p:sp>
        <p:sp>
          <p:nvSpPr>
            <p:cNvPr id="13" name="TextBox 13"/>
            <p:cNvSpPr txBox="1"/>
            <p:nvPr/>
          </p:nvSpPr>
          <p:spPr>
            <a:xfrm>
              <a:off x="0" y="69850"/>
              <a:ext cx="303134" cy="2136800"/>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rot="5400000">
            <a:off x="3783709" y="320602"/>
            <a:ext cx="1205108" cy="8772526"/>
            <a:chOff x="0" y="0"/>
            <a:chExt cx="303134" cy="2206650"/>
          </a:xfrm>
        </p:grpSpPr>
        <p:sp>
          <p:nvSpPr>
            <p:cNvPr id="15" name="Freeform 15"/>
            <p:cNvSpPr/>
            <p:nvPr/>
          </p:nvSpPr>
          <p:spPr>
            <a:xfrm>
              <a:off x="0" y="0"/>
              <a:ext cx="303134" cy="2206650"/>
            </a:xfrm>
            <a:custGeom>
              <a:avLst/>
              <a:gdLst/>
              <a:ahLst/>
              <a:cxnLst/>
              <a:rect l="l" t="t" r="r" b="b"/>
              <a:pathLst>
                <a:path w="303134" h="2206650">
                  <a:moveTo>
                    <a:pt x="101099" y="19070"/>
                  </a:moveTo>
                  <a:cubicBezTo>
                    <a:pt x="116590" y="7556"/>
                    <a:pt x="134308" y="0"/>
                    <a:pt x="151649" y="0"/>
                  </a:cubicBezTo>
                  <a:cubicBezTo>
                    <a:pt x="168990" y="0"/>
                    <a:pt x="185676" y="6476"/>
                    <a:pt x="201053" y="17990"/>
                  </a:cubicBezTo>
                  <a:cubicBezTo>
                    <a:pt x="201381" y="18350"/>
                    <a:pt x="201708" y="18350"/>
                    <a:pt x="202035" y="18710"/>
                  </a:cubicBezTo>
                  <a:cubicBezTo>
                    <a:pt x="259782" y="64765"/>
                    <a:pt x="302316" y="186379"/>
                    <a:pt x="303134" y="359463"/>
                  </a:cubicBezTo>
                  <a:lnTo>
                    <a:pt x="303134" y="2206650"/>
                  </a:lnTo>
                  <a:lnTo>
                    <a:pt x="0" y="2206650"/>
                  </a:lnTo>
                  <a:lnTo>
                    <a:pt x="0" y="360834"/>
                  </a:lnTo>
                  <a:cubicBezTo>
                    <a:pt x="818" y="185660"/>
                    <a:pt x="42697" y="64045"/>
                    <a:pt x="101099" y="19070"/>
                  </a:cubicBezTo>
                  <a:close/>
                </a:path>
              </a:pathLst>
            </a:custGeom>
            <a:solidFill>
              <a:srgbClr val="043732"/>
            </a:solidFill>
          </p:spPr>
          <p:txBody>
            <a:bodyPr/>
            <a:lstStyle/>
            <a:p>
              <a:endParaRPr lang="ar-EG"/>
            </a:p>
          </p:txBody>
        </p:sp>
        <p:sp>
          <p:nvSpPr>
            <p:cNvPr id="16" name="TextBox 16"/>
            <p:cNvSpPr txBox="1"/>
            <p:nvPr/>
          </p:nvSpPr>
          <p:spPr>
            <a:xfrm>
              <a:off x="0" y="69850"/>
              <a:ext cx="303134" cy="2136800"/>
            </a:xfrm>
            <a:prstGeom prst="rect">
              <a:avLst/>
            </a:prstGeom>
          </p:spPr>
          <p:txBody>
            <a:bodyPr lIns="50800" tIns="50800" rIns="50800" bIns="50800" rtlCol="0" anchor="ctr"/>
            <a:lstStyle/>
            <a:p>
              <a:pPr algn="ctr">
                <a:lnSpc>
                  <a:spcPts val="3359"/>
                </a:lnSpc>
              </a:pPr>
              <a:endParaRPr/>
            </a:p>
          </p:txBody>
        </p:sp>
      </p:grpSp>
      <p:grpSp>
        <p:nvGrpSpPr>
          <p:cNvPr id="17" name="Group 17"/>
          <p:cNvGrpSpPr/>
          <p:nvPr/>
        </p:nvGrpSpPr>
        <p:grpSpPr>
          <a:xfrm rot="5400000">
            <a:off x="3783709" y="1746208"/>
            <a:ext cx="1205108" cy="8772526"/>
            <a:chOff x="0" y="0"/>
            <a:chExt cx="303134" cy="2206650"/>
          </a:xfrm>
        </p:grpSpPr>
        <p:sp>
          <p:nvSpPr>
            <p:cNvPr id="18" name="Freeform 18"/>
            <p:cNvSpPr/>
            <p:nvPr/>
          </p:nvSpPr>
          <p:spPr>
            <a:xfrm>
              <a:off x="0" y="0"/>
              <a:ext cx="303134" cy="2206650"/>
            </a:xfrm>
            <a:custGeom>
              <a:avLst/>
              <a:gdLst/>
              <a:ahLst/>
              <a:cxnLst/>
              <a:rect l="l" t="t" r="r" b="b"/>
              <a:pathLst>
                <a:path w="303134" h="2206650">
                  <a:moveTo>
                    <a:pt x="101099" y="19070"/>
                  </a:moveTo>
                  <a:cubicBezTo>
                    <a:pt x="116590" y="7556"/>
                    <a:pt x="134308" y="0"/>
                    <a:pt x="151649" y="0"/>
                  </a:cubicBezTo>
                  <a:cubicBezTo>
                    <a:pt x="168990" y="0"/>
                    <a:pt x="185676" y="6476"/>
                    <a:pt x="201053" y="17990"/>
                  </a:cubicBezTo>
                  <a:cubicBezTo>
                    <a:pt x="201381" y="18350"/>
                    <a:pt x="201708" y="18350"/>
                    <a:pt x="202035" y="18710"/>
                  </a:cubicBezTo>
                  <a:cubicBezTo>
                    <a:pt x="259782" y="64765"/>
                    <a:pt x="302316" y="186379"/>
                    <a:pt x="303134" y="359463"/>
                  </a:cubicBezTo>
                  <a:lnTo>
                    <a:pt x="303134" y="2206650"/>
                  </a:lnTo>
                  <a:lnTo>
                    <a:pt x="0" y="2206650"/>
                  </a:lnTo>
                  <a:lnTo>
                    <a:pt x="0" y="360834"/>
                  </a:lnTo>
                  <a:cubicBezTo>
                    <a:pt x="818" y="185660"/>
                    <a:pt x="42697" y="64045"/>
                    <a:pt x="101099" y="19070"/>
                  </a:cubicBezTo>
                  <a:close/>
                </a:path>
              </a:pathLst>
            </a:custGeom>
            <a:solidFill>
              <a:srgbClr val="043732"/>
            </a:solidFill>
          </p:spPr>
          <p:txBody>
            <a:bodyPr/>
            <a:lstStyle/>
            <a:p>
              <a:endParaRPr lang="ar-EG"/>
            </a:p>
          </p:txBody>
        </p:sp>
        <p:sp>
          <p:nvSpPr>
            <p:cNvPr id="19" name="TextBox 19"/>
            <p:cNvSpPr txBox="1"/>
            <p:nvPr/>
          </p:nvSpPr>
          <p:spPr>
            <a:xfrm>
              <a:off x="0" y="69850"/>
              <a:ext cx="303134" cy="2136800"/>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rot="5400000">
            <a:off x="3774009" y="3162113"/>
            <a:ext cx="1205108" cy="8791925"/>
            <a:chOff x="0" y="0"/>
            <a:chExt cx="303134" cy="2211530"/>
          </a:xfrm>
        </p:grpSpPr>
        <p:sp>
          <p:nvSpPr>
            <p:cNvPr id="21" name="Freeform 21"/>
            <p:cNvSpPr/>
            <p:nvPr/>
          </p:nvSpPr>
          <p:spPr>
            <a:xfrm>
              <a:off x="0" y="0"/>
              <a:ext cx="303134" cy="2211530"/>
            </a:xfrm>
            <a:custGeom>
              <a:avLst/>
              <a:gdLst/>
              <a:ahLst/>
              <a:cxnLst/>
              <a:rect l="l" t="t" r="r" b="b"/>
              <a:pathLst>
                <a:path w="303134" h="2211530">
                  <a:moveTo>
                    <a:pt x="101099" y="19070"/>
                  </a:moveTo>
                  <a:cubicBezTo>
                    <a:pt x="116590" y="7556"/>
                    <a:pt x="134308" y="0"/>
                    <a:pt x="151649" y="0"/>
                  </a:cubicBezTo>
                  <a:cubicBezTo>
                    <a:pt x="168990" y="0"/>
                    <a:pt x="185676" y="6476"/>
                    <a:pt x="201053" y="17990"/>
                  </a:cubicBezTo>
                  <a:cubicBezTo>
                    <a:pt x="201381" y="18350"/>
                    <a:pt x="201708" y="18350"/>
                    <a:pt x="202035" y="18710"/>
                  </a:cubicBezTo>
                  <a:cubicBezTo>
                    <a:pt x="259782" y="64765"/>
                    <a:pt x="302316" y="186379"/>
                    <a:pt x="303134" y="359572"/>
                  </a:cubicBezTo>
                  <a:lnTo>
                    <a:pt x="303134" y="2211530"/>
                  </a:lnTo>
                  <a:lnTo>
                    <a:pt x="0" y="2211530"/>
                  </a:lnTo>
                  <a:lnTo>
                    <a:pt x="0" y="360946"/>
                  </a:lnTo>
                  <a:cubicBezTo>
                    <a:pt x="818" y="185660"/>
                    <a:pt x="42697" y="64045"/>
                    <a:pt x="101099" y="19070"/>
                  </a:cubicBezTo>
                  <a:close/>
                </a:path>
              </a:pathLst>
            </a:custGeom>
            <a:solidFill>
              <a:srgbClr val="043732"/>
            </a:solidFill>
          </p:spPr>
          <p:txBody>
            <a:bodyPr/>
            <a:lstStyle/>
            <a:p>
              <a:endParaRPr lang="ar-EG"/>
            </a:p>
          </p:txBody>
        </p:sp>
        <p:sp>
          <p:nvSpPr>
            <p:cNvPr id="22" name="TextBox 22"/>
            <p:cNvSpPr txBox="1"/>
            <p:nvPr/>
          </p:nvSpPr>
          <p:spPr>
            <a:xfrm>
              <a:off x="0" y="69850"/>
              <a:ext cx="303134" cy="2141680"/>
            </a:xfrm>
            <a:prstGeom prst="rect">
              <a:avLst/>
            </a:prstGeom>
          </p:spPr>
          <p:txBody>
            <a:bodyPr lIns="50800" tIns="50800" rIns="50800" bIns="50800" rtlCol="0" anchor="ctr"/>
            <a:lstStyle/>
            <a:p>
              <a:pPr algn="ctr">
                <a:lnSpc>
                  <a:spcPts val="3359"/>
                </a:lnSpc>
              </a:pPr>
              <a:endParaRPr/>
            </a:p>
          </p:txBody>
        </p:sp>
      </p:grpSp>
      <p:grpSp>
        <p:nvGrpSpPr>
          <p:cNvPr id="23" name="Group 23"/>
          <p:cNvGrpSpPr/>
          <p:nvPr/>
        </p:nvGrpSpPr>
        <p:grpSpPr>
          <a:xfrm rot="5400000">
            <a:off x="3783709" y="4597419"/>
            <a:ext cx="1205108" cy="8772526"/>
            <a:chOff x="0" y="0"/>
            <a:chExt cx="303134" cy="2206650"/>
          </a:xfrm>
        </p:grpSpPr>
        <p:sp>
          <p:nvSpPr>
            <p:cNvPr id="24" name="Freeform 24"/>
            <p:cNvSpPr/>
            <p:nvPr/>
          </p:nvSpPr>
          <p:spPr>
            <a:xfrm>
              <a:off x="0" y="0"/>
              <a:ext cx="303134" cy="2206650"/>
            </a:xfrm>
            <a:custGeom>
              <a:avLst/>
              <a:gdLst/>
              <a:ahLst/>
              <a:cxnLst/>
              <a:rect l="l" t="t" r="r" b="b"/>
              <a:pathLst>
                <a:path w="303134" h="2206650">
                  <a:moveTo>
                    <a:pt x="101099" y="19070"/>
                  </a:moveTo>
                  <a:cubicBezTo>
                    <a:pt x="116590" y="7556"/>
                    <a:pt x="134308" y="0"/>
                    <a:pt x="151649" y="0"/>
                  </a:cubicBezTo>
                  <a:cubicBezTo>
                    <a:pt x="168990" y="0"/>
                    <a:pt x="185676" y="6476"/>
                    <a:pt x="201053" y="17990"/>
                  </a:cubicBezTo>
                  <a:cubicBezTo>
                    <a:pt x="201381" y="18350"/>
                    <a:pt x="201708" y="18350"/>
                    <a:pt x="202035" y="18710"/>
                  </a:cubicBezTo>
                  <a:cubicBezTo>
                    <a:pt x="259782" y="64765"/>
                    <a:pt x="302316" y="186379"/>
                    <a:pt x="303134" y="359463"/>
                  </a:cubicBezTo>
                  <a:lnTo>
                    <a:pt x="303134" y="2206650"/>
                  </a:lnTo>
                  <a:lnTo>
                    <a:pt x="0" y="2206650"/>
                  </a:lnTo>
                  <a:lnTo>
                    <a:pt x="0" y="360834"/>
                  </a:lnTo>
                  <a:cubicBezTo>
                    <a:pt x="818" y="185660"/>
                    <a:pt x="42697" y="64045"/>
                    <a:pt x="101099" y="19070"/>
                  </a:cubicBezTo>
                  <a:close/>
                </a:path>
              </a:pathLst>
            </a:custGeom>
            <a:solidFill>
              <a:srgbClr val="043732"/>
            </a:solidFill>
          </p:spPr>
          <p:txBody>
            <a:bodyPr/>
            <a:lstStyle/>
            <a:p>
              <a:endParaRPr lang="ar-EG"/>
            </a:p>
          </p:txBody>
        </p:sp>
        <p:sp>
          <p:nvSpPr>
            <p:cNvPr id="25" name="TextBox 25"/>
            <p:cNvSpPr txBox="1"/>
            <p:nvPr/>
          </p:nvSpPr>
          <p:spPr>
            <a:xfrm>
              <a:off x="0" y="69850"/>
              <a:ext cx="303134" cy="2136800"/>
            </a:xfrm>
            <a:prstGeom prst="rect">
              <a:avLst/>
            </a:prstGeom>
          </p:spPr>
          <p:txBody>
            <a:bodyPr lIns="50800" tIns="50800" rIns="50800" bIns="50800" rtlCol="0" anchor="ctr"/>
            <a:lstStyle/>
            <a:p>
              <a:pPr algn="ctr">
                <a:lnSpc>
                  <a:spcPts val="3359"/>
                </a:lnSpc>
              </a:pPr>
              <a:endParaRPr/>
            </a:p>
          </p:txBody>
        </p:sp>
      </p:grpSp>
      <p:grpSp>
        <p:nvGrpSpPr>
          <p:cNvPr id="26" name="Group 26"/>
          <p:cNvGrpSpPr/>
          <p:nvPr/>
        </p:nvGrpSpPr>
        <p:grpSpPr>
          <a:xfrm>
            <a:off x="12206810" y="2267891"/>
            <a:ext cx="6081190" cy="6524051"/>
            <a:chOff x="0" y="0"/>
            <a:chExt cx="1959073" cy="1718269"/>
          </a:xfrm>
        </p:grpSpPr>
        <p:sp>
          <p:nvSpPr>
            <p:cNvPr id="27" name="Freeform 27"/>
            <p:cNvSpPr/>
            <p:nvPr/>
          </p:nvSpPr>
          <p:spPr>
            <a:xfrm>
              <a:off x="0" y="0"/>
              <a:ext cx="1959073" cy="1718269"/>
            </a:xfrm>
            <a:custGeom>
              <a:avLst/>
              <a:gdLst/>
              <a:ahLst/>
              <a:cxnLst/>
              <a:rect l="l" t="t" r="r" b="b"/>
              <a:pathLst>
                <a:path w="1959073" h="1718269">
                  <a:moveTo>
                    <a:pt x="0" y="0"/>
                  </a:moveTo>
                  <a:lnTo>
                    <a:pt x="1959073" y="0"/>
                  </a:lnTo>
                  <a:lnTo>
                    <a:pt x="1959073" y="1718269"/>
                  </a:lnTo>
                  <a:lnTo>
                    <a:pt x="0" y="1718269"/>
                  </a:lnTo>
                  <a:close/>
                </a:path>
              </a:pathLst>
            </a:custGeom>
            <a:solidFill>
              <a:srgbClr val="043732"/>
            </a:solidFill>
          </p:spPr>
          <p:txBody>
            <a:bodyPr/>
            <a:lstStyle/>
            <a:p>
              <a:endParaRPr lang="ar-EG"/>
            </a:p>
          </p:txBody>
        </p:sp>
        <p:sp>
          <p:nvSpPr>
            <p:cNvPr id="28" name="TextBox 28"/>
            <p:cNvSpPr txBox="1"/>
            <p:nvPr/>
          </p:nvSpPr>
          <p:spPr>
            <a:xfrm>
              <a:off x="0" y="-57150"/>
              <a:ext cx="1959073" cy="1775419"/>
            </a:xfrm>
            <a:prstGeom prst="rect">
              <a:avLst/>
            </a:prstGeom>
          </p:spPr>
          <p:txBody>
            <a:bodyPr lIns="50800" tIns="50800" rIns="50800" bIns="50800" rtlCol="0" anchor="ctr"/>
            <a:lstStyle/>
            <a:p>
              <a:pPr algn="ctr">
                <a:lnSpc>
                  <a:spcPts val="3359"/>
                </a:lnSpc>
              </a:pPr>
              <a:endParaRPr/>
            </a:p>
          </p:txBody>
        </p:sp>
      </p:grpSp>
      <p:grpSp>
        <p:nvGrpSpPr>
          <p:cNvPr id="29" name="Group 29"/>
          <p:cNvGrpSpPr/>
          <p:nvPr/>
        </p:nvGrpSpPr>
        <p:grpSpPr>
          <a:xfrm>
            <a:off x="10051908" y="2677210"/>
            <a:ext cx="7718287" cy="6907530"/>
            <a:chOff x="0" y="0"/>
            <a:chExt cx="1195765" cy="1070157"/>
          </a:xfrm>
        </p:grpSpPr>
        <p:sp>
          <p:nvSpPr>
            <p:cNvPr id="30" name="Freeform 30"/>
            <p:cNvSpPr/>
            <p:nvPr/>
          </p:nvSpPr>
          <p:spPr>
            <a:xfrm>
              <a:off x="0" y="0"/>
              <a:ext cx="1195765" cy="1070157"/>
            </a:xfrm>
            <a:custGeom>
              <a:avLst/>
              <a:gdLst/>
              <a:ahLst/>
              <a:cxnLst/>
              <a:rect l="l" t="t" r="r" b="b"/>
              <a:pathLst>
                <a:path w="1195765" h="1070157">
                  <a:moveTo>
                    <a:pt x="0" y="0"/>
                  </a:moveTo>
                  <a:lnTo>
                    <a:pt x="1195765" y="0"/>
                  </a:lnTo>
                  <a:lnTo>
                    <a:pt x="1195765" y="1070157"/>
                  </a:lnTo>
                  <a:lnTo>
                    <a:pt x="0" y="1070157"/>
                  </a:lnTo>
                  <a:close/>
                </a:path>
              </a:pathLst>
            </a:custGeom>
            <a:blipFill>
              <a:blip r:embed="rId5"/>
              <a:stretch>
                <a:fillRect l="-40803" r="-2422"/>
              </a:stretch>
            </a:blipFill>
          </p:spPr>
          <p:txBody>
            <a:bodyPr/>
            <a:lstStyle/>
            <a:p>
              <a:endParaRPr lang="ar-EG"/>
            </a:p>
          </p:txBody>
        </p:sp>
      </p:grpSp>
      <p:sp>
        <p:nvSpPr>
          <p:cNvPr id="31" name="TextBox 31"/>
          <p:cNvSpPr txBox="1"/>
          <p:nvPr/>
        </p:nvSpPr>
        <p:spPr>
          <a:xfrm>
            <a:off x="4261839" y="466072"/>
            <a:ext cx="9908105" cy="1566544"/>
          </a:xfrm>
          <a:prstGeom prst="rect">
            <a:avLst/>
          </a:prstGeom>
        </p:spPr>
        <p:txBody>
          <a:bodyPr wrap="square" lIns="0" tIns="0" rIns="0" bIns="0" rtlCol="0" anchor="t">
            <a:spAutoFit/>
          </a:bodyPr>
          <a:lstStyle/>
          <a:p>
            <a:pPr algn="ctr">
              <a:lnSpc>
                <a:spcPts val="12880"/>
              </a:lnSpc>
            </a:pPr>
            <a:r>
              <a:rPr lang="en-US" sz="9200" b="1" dirty="0">
                <a:solidFill>
                  <a:srgbClr val="043732"/>
                </a:solidFill>
                <a:latin typeface="Canva Sans Bold"/>
                <a:ea typeface="Canva Sans Bold"/>
                <a:cs typeface="Canva Sans Bold"/>
                <a:sym typeface="Canva Sans Bold"/>
              </a:rPr>
              <a:t>Team Members</a:t>
            </a:r>
          </a:p>
        </p:txBody>
      </p:sp>
      <p:sp>
        <p:nvSpPr>
          <p:cNvPr id="32" name="TextBox 32"/>
          <p:cNvSpPr txBox="1"/>
          <p:nvPr/>
        </p:nvSpPr>
        <p:spPr>
          <a:xfrm>
            <a:off x="562528" y="4214197"/>
            <a:ext cx="5816798" cy="887095"/>
          </a:xfrm>
          <a:prstGeom prst="rect">
            <a:avLst/>
          </a:prstGeom>
        </p:spPr>
        <p:txBody>
          <a:bodyPr lIns="0" tIns="0" rIns="0" bIns="0" rtlCol="0" anchor="t">
            <a:spAutoFit/>
          </a:bodyPr>
          <a:lstStyle/>
          <a:p>
            <a:pPr algn="l">
              <a:lnSpc>
                <a:spcPts val="7279"/>
              </a:lnSpc>
            </a:pPr>
            <a:r>
              <a:rPr lang="en-US" sz="5199" b="1">
                <a:solidFill>
                  <a:srgbClr val="F7F2DE"/>
                </a:solidFill>
                <a:latin typeface="Canva Sans Bold"/>
                <a:ea typeface="Canva Sans Bold"/>
                <a:cs typeface="Canva Sans Bold"/>
                <a:sym typeface="Canva Sans Bold"/>
              </a:rPr>
              <a:t>Fatma Ashraf Zain</a:t>
            </a:r>
          </a:p>
        </p:txBody>
      </p:sp>
      <p:sp>
        <p:nvSpPr>
          <p:cNvPr id="33" name="TextBox 33"/>
          <p:cNvSpPr txBox="1"/>
          <p:nvPr/>
        </p:nvSpPr>
        <p:spPr>
          <a:xfrm>
            <a:off x="578125" y="2788591"/>
            <a:ext cx="6480291" cy="887095"/>
          </a:xfrm>
          <a:prstGeom prst="rect">
            <a:avLst/>
          </a:prstGeom>
        </p:spPr>
        <p:txBody>
          <a:bodyPr lIns="0" tIns="0" rIns="0" bIns="0" rtlCol="0" anchor="t">
            <a:spAutoFit/>
          </a:bodyPr>
          <a:lstStyle/>
          <a:p>
            <a:pPr algn="ctr">
              <a:lnSpc>
                <a:spcPts val="7279"/>
              </a:lnSpc>
            </a:pPr>
            <a:r>
              <a:rPr lang="en-US" sz="5199" b="1">
                <a:solidFill>
                  <a:srgbClr val="F7F2DE"/>
                </a:solidFill>
                <a:latin typeface="Canva Sans Bold"/>
                <a:ea typeface="Canva Sans Bold"/>
                <a:cs typeface="Canva Sans Bold"/>
                <a:sym typeface="Canva Sans Bold"/>
              </a:rPr>
              <a:t>Fady Talat Abdallah </a:t>
            </a:r>
          </a:p>
        </p:txBody>
      </p:sp>
      <p:sp>
        <p:nvSpPr>
          <p:cNvPr id="34" name="TextBox 34"/>
          <p:cNvSpPr txBox="1"/>
          <p:nvPr/>
        </p:nvSpPr>
        <p:spPr>
          <a:xfrm>
            <a:off x="578125" y="5639802"/>
            <a:ext cx="3090982" cy="887095"/>
          </a:xfrm>
          <a:prstGeom prst="rect">
            <a:avLst/>
          </a:prstGeom>
        </p:spPr>
        <p:txBody>
          <a:bodyPr lIns="0" tIns="0" rIns="0" bIns="0" rtlCol="0" anchor="t">
            <a:spAutoFit/>
          </a:bodyPr>
          <a:lstStyle/>
          <a:p>
            <a:pPr algn="ctr">
              <a:lnSpc>
                <a:spcPts val="7279"/>
              </a:lnSpc>
            </a:pPr>
            <a:r>
              <a:rPr lang="en-US" sz="5199" b="1">
                <a:solidFill>
                  <a:srgbClr val="F7F2DE"/>
                </a:solidFill>
                <a:latin typeface="Canva Sans Bold"/>
                <a:ea typeface="Canva Sans Bold"/>
                <a:cs typeface="Canva Sans Bold"/>
                <a:sym typeface="Canva Sans Bold"/>
              </a:rPr>
              <a:t>Ali Kamar</a:t>
            </a:r>
          </a:p>
        </p:txBody>
      </p:sp>
      <p:sp>
        <p:nvSpPr>
          <p:cNvPr id="35" name="TextBox 35"/>
          <p:cNvSpPr txBox="1"/>
          <p:nvPr/>
        </p:nvSpPr>
        <p:spPr>
          <a:xfrm>
            <a:off x="562528" y="7116024"/>
            <a:ext cx="7258764" cy="887095"/>
          </a:xfrm>
          <a:prstGeom prst="rect">
            <a:avLst/>
          </a:prstGeom>
        </p:spPr>
        <p:txBody>
          <a:bodyPr lIns="0" tIns="0" rIns="0" bIns="0" rtlCol="0" anchor="t">
            <a:spAutoFit/>
          </a:bodyPr>
          <a:lstStyle/>
          <a:p>
            <a:pPr algn="l">
              <a:lnSpc>
                <a:spcPts val="7279"/>
              </a:lnSpc>
            </a:pPr>
            <a:r>
              <a:rPr lang="en-US" sz="5199" b="1">
                <a:solidFill>
                  <a:srgbClr val="F7F2DE"/>
                </a:solidFill>
                <a:latin typeface="Canva Sans Bold"/>
                <a:ea typeface="Canva Sans Bold"/>
                <a:cs typeface="Canva Sans Bold"/>
                <a:sym typeface="Canva Sans Bold"/>
              </a:rPr>
              <a:t>Mohamed El Ashmawy</a:t>
            </a:r>
          </a:p>
        </p:txBody>
      </p:sp>
      <p:sp>
        <p:nvSpPr>
          <p:cNvPr id="36" name="TextBox 36"/>
          <p:cNvSpPr txBox="1"/>
          <p:nvPr/>
        </p:nvSpPr>
        <p:spPr>
          <a:xfrm>
            <a:off x="562528" y="8492509"/>
            <a:ext cx="4144923" cy="887095"/>
          </a:xfrm>
          <a:prstGeom prst="rect">
            <a:avLst/>
          </a:prstGeom>
        </p:spPr>
        <p:txBody>
          <a:bodyPr lIns="0" tIns="0" rIns="0" bIns="0" rtlCol="0" anchor="t">
            <a:spAutoFit/>
          </a:bodyPr>
          <a:lstStyle/>
          <a:p>
            <a:pPr algn="ctr">
              <a:lnSpc>
                <a:spcPts val="7279"/>
              </a:lnSpc>
            </a:pPr>
            <a:r>
              <a:rPr lang="en-US" sz="5199" b="1">
                <a:solidFill>
                  <a:srgbClr val="F7F2DE"/>
                </a:solidFill>
                <a:latin typeface="Canva Sans Bold"/>
                <a:ea typeface="Canva Sans Bold"/>
                <a:cs typeface="Canva Sans Bold"/>
                <a:sym typeface="Canva Sans Bold"/>
              </a:rPr>
              <a:t>Eslam Gamal</a:t>
            </a:r>
          </a:p>
        </p:txBody>
      </p:sp>
      <p:sp>
        <p:nvSpPr>
          <p:cNvPr id="37" name="TextBox 37"/>
          <p:cNvSpPr txBox="1"/>
          <p:nvPr/>
        </p:nvSpPr>
        <p:spPr>
          <a:xfrm>
            <a:off x="7058416" y="3251189"/>
            <a:ext cx="1436422" cy="300082"/>
          </a:xfrm>
          <a:prstGeom prst="rect">
            <a:avLst/>
          </a:prstGeom>
        </p:spPr>
        <p:txBody>
          <a:bodyPr wrap="square" lIns="0" tIns="0" rIns="0" bIns="0" rtlCol="0" anchor="t">
            <a:spAutoFit/>
          </a:bodyPr>
          <a:lstStyle/>
          <a:p>
            <a:pPr algn="ctr">
              <a:lnSpc>
                <a:spcPts val="2520"/>
              </a:lnSpc>
            </a:pPr>
            <a:r>
              <a:rPr lang="en-US" sz="1800" dirty="0">
                <a:solidFill>
                  <a:srgbClr val="F7F2DE"/>
                </a:solidFill>
                <a:latin typeface="Canva Sans"/>
                <a:ea typeface="Canva Sans"/>
                <a:cs typeface="Canva Sans"/>
                <a:sym typeface="Canva Sans"/>
              </a:rPr>
              <a:t>Team leader</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2DE"/>
        </a:solidFill>
        <a:effectLst/>
      </p:bgPr>
    </p:bg>
    <p:spTree>
      <p:nvGrpSpPr>
        <p:cNvPr id="1" name=""/>
        <p:cNvGrpSpPr/>
        <p:nvPr/>
      </p:nvGrpSpPr>
      <p:grpSpPr>
        <a:xfrm>
          <a:off x="0" y="0"/>
          <a:ext cx="0" cy="0"/>
          <a:chOff x="0" y="0"/>
          <a:chExt cx="0" cy="0"/>
        </a:xfrm>
      </p:grpSpPr>
      <p:sp>
        <p:nvSpPr>
          <p:cNvPr id="2" name="Freeform 2"/>
          <p:cNvSpPr/>
          <p:nvPr/>
        </p:nvSpPr>
        <p:spPr>
          <a:xfrm>
            <a:off x="0" y="-190500"/>
            <a:ext cx="18288000" cy="10477500"/>
          </a:xfrm>
          <a:custGeom>
            <a:avLst/>
            <a:gdLst/>
            <a:ahLst/>
            <a:cxnLst/>
            <a:rect l="l" t="t" r="r" b="b"/>
            <a:pathLst>
              <a:path w="18288000" h="11427393">
                <a:moveTo>
                  <a:pt x="0" y="0"/>
                </a:moveTo>
                <a:lnTo>
                  <a:pt x="18288000" y="0"/>
                </a:lnTo>
                <a:lnTo>
                  <a:pt x="18288000" y="11427393"/>
                </a:lnTo>
                <a:lnTo>
                  <a:pt x="0" y="11427393"/>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647700"/>
            <a:ext cx="18288000" cy="109347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43732">
                <a:alpha val="55686"/>
              </a:srgbClr>
            </a:solidFill>
          </p:spPr>
          <p:txBody>
            <a:bodyPr/>
            <a:lstStyle/>
            <a:p>
              <a:endParaRPr lang="ar-EG"/>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0" y="403697"/>
            <a:ext cx="18288000" cy="1476385"/>
            <a:chOff x="0" y="0"/>
            <a:chExt cx="24384000" cy="1968513"/>
          </a:xfrm>
        </p:grpSpPr>
        <p:sp>
          <p:nvSpPr>
            <p:cNvPr id="7" name="Freeform 7"/>
            <p:cNvSpPr/>
            <p:nvPr/>
          </p:nvSpPr>
          <p:spPr>
            <a:xfrm>
              <a:off x="0" y="839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3"/>
              <a:stretch>
                <a:fillRect/>
              </a:stretch>
            </a:blipFill>
          </p:spPr>
          <p:txBody>
            <a:bodyPr/>
            <a:lstStyle/>
            <a:p>
              <a:endParaRPr lang="ar-EG"/>
            </a:p>
          </p:txBody>
        </p:sp>
        <p:sp>
          <p:nvSpPr>
            <p:cNvPr id="8" name="Freeform 8"/>
            <p:cNvSpPr/>
            <p:nvPr/>
          </p:nvSpPr>
          <p:spPr>
            <a:xfrm>
              <a:off x="1892958" y="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4"/>
              <a:stretch>
                <a:fillRect/>
              </a:stretch>
            </a:blipFill>
          </p:spPr>
          <p:txBody>
            <a:bodyPr/>
            <a:lstStyle/>
            <a:p>
              <a:endParaRPr lang="ar-EG"/>
            </a:p>
          </p:txBody>
        </p:sp>
        <p:sp>
          <p:nvSpPr>
            <p:cNvPr id="9" name="Freeform 9"/>
            <p:cNvSpPr/>
            <p:nvPr/>
          </p:nvSpPr>
          <p:spPr>
            <a:xfrm>
              <a:off x="21033698" y="83968"/>
              <a:ext cx="3350302" cy="1884545"/>
            </a:xfrm>
            <a:custGeom>
              <a:avLst/>
              <a:gdLst/>
              <a:ahLst/>
              <a:cxnLst/>
              <a:rect l="l" t="t" r="r" b="b"/>
              <a:pathLst>
                <a:path w="3350302" h="1884545">
                  <a:moveTo>
                    <a:pt x="0" y="0"/>
                  </a:moveTo>
                  <a:lnTo>
                    <a:pt x="3350302" y="0"/>
                  </a:lnTo>
                  <a:lnTo>
                    <a:pt x="3350302" y="1884545"/>
                  </a:lnTo>
                  <a:lnTo>
                    <a:pt x="0" y="1884545"/>
                  </a:lnTo>
                  <a:lnTo>
                    <a:pt x="0" y="0"/>
                  </a:lnTo>
                  <a:close/>
                </a:path>
              </a:pathLst>
            </a:custGeom>
            <a:blipFill>
              <a:blip r:embed="rId5"/>
              <a:stretch>
                <a:fillRect/>
              </a:stretch>
            </a:blipFill>
          </p:spPr>
          <p:txBody>
            <a:bodyPr/>
            <a:lstStyle/>
            <a:p>
              <a:endParaRPr lang="ar-EG"/>
            </a:p>
          </p:txBody>
        </p:sp>
        <p:sp>
          <p:nvSpPr>
            <p:cNvPr id="10" name="TextBox 10"/>
            <p:cNvSpPr txBox="1"/>
            <p:nvPr/>
          </p:nvSpPr>
          <p:spPr>
            <a:xfrm>
              <a:off x="2887186" y="298668"/>
              <a:ext cx="18609628" cy="534670"/>
            </a:xfrm>
            <a:prstGeom prst="rect">
              <a:avLst/>
            </a:prstGeom>
          </p:spPr>
          <p:txBody>
            <a:bodyPr lIns="0" tIns="0" rIns="0" bIns="0" rtlCol="0" anchor="t">
              <a:spAutoFit/>
            </a:bodyPr>
            <a:lstStyle/>
            <a:p>
              <a:pPr algn="ctr">
                <a:lnSpc>
                  <a:spcPts val="3359"/>
                </a:lnSpc>
              </a:pPr>
              <a:r>
                <a:rPr lang="en-US" sz="2400" b="1">
                  <a:solidFill>
                    <a:srgbClr val="F7F2DE"/>
                  </a:solidFill>
                  <a:latin typeface="Arial Bold"/>
                  <a:ea typeface="Arial Bold"/>
                  <a:cs typeface="Arial Bold"/>
                  <a:sym typeface="Arial Bold"/>
                </a:rPr>
                <a:t>KSA Real Estate Analysis</a:t>
              </a:r>
            </a:p>
          </p:txBody>
        </p:sp>
      </p:grpSp>
      <p:grpSp>
        <p:nvGrpSpPr>
          <p:cNvPr id="11" name="Group 11"/>
          <p:cNvGrpSpPr/>
          <p:nvPr/>
        </p:nvGrpSpPr>
        <p:grpSpPr>
          <a:xfrm>
            <a:off x="0" y="184622"/>
            <a:ext cx="18288000" cy="219075"/>
            <a:chOff x="0" y="0"/>
            <a:chExt cx="24384000" cy="292100"/>
          </a:xfrm>
        </p:grpSpPr>
        <p:sp>
          <p:nvSpPr>
            <p:cNvPr id="12" name="AutoShape 12"/>
            <p:cNvSpPr/>
            <p:nvPr/>
          </p:nvSpPr>
          <p:spPr>
            <a:xfrm>
              <a:off x="0" y="146050"/>
              <a:ext cx="24384000" cy="0"/>
            </a:xfrm>
            <a:prstGeom prst="line">
              <a:avLst/>
            </a:prstGeom>
            <a:ln w="292100" cap="flat">
              <a:solidFill>
                <a:srgbClr val="135A5C"/>
              </a:solidFill>
              <a:prstDash val="solid"/>
              <a:headEnd type="none" w="sm" len="sm"/>
              <a:tailEnd type="none" w="sm" len="sm"/>
            </a:ln>
          </p:spPr>
          <p:txBody>
            <a:bodyPr/>
            <a:lstStyle/>
            <a:p>
              <a:endParaRPr lang="ar-EG"/>
            </a:p>
          </p:txBody>
        </p:sp>
        <p:sp>
          <p:nvSpPr>
            <p:cNvPr id="13" name="AutoShape 13"/>
            <p:cNvSpPr/>
            <p:nvPr/>
          </p:nvSpPr>
          <p:spPr>
            <a:xfrm flipV="1">
              <a:off x="0" y="146050"/>
              <a:ext cx="24384000" cy="0"/>
            </a:xfrm>
            <a:prstGeom prst="line">
              <a:avLst/>
            </a:prstGeom>
            <a:ln w="50800" cap="flat">
              <a:solidFill>
                <a:srgbClr val="FAE2A6"/>
              </a:solidFill>
              <a:prstDash val="solid"/>
              <a:headEnd type="none" w="sm" len="sm"/>
              <a:tailEnd type="none" w="sm" len="sm"/>
            </a:ln>
          </p:spPr>
          <p:txBody>
            <a:bodyPr/>
            <a:lstStyle/>
            <a:p>
              <a:endParaRPr lang="ar-EG"/>
            </a:p>
          </p:txBody>
        </p:sp>
      </p:grpSp>
      <p:grpSp>
        <p:nvGrpSpPr>
          <p:cNvPr id="14" name="Group 14"/>
          <p:cNvGrpSpPr/>
          <p:nvPr/>
        </p:nvGrpSpPr>
        <p:grpSpPr>
          <a:xfrm>
            <a:off x="0" y="9779554"/>
            <a:ext cx="18288000" cy="219075"/>
            <a:chOff x="0" y="0"/>
            <a:chExt cx="24384000" cy="292100"/>
          </a:xfrm>
        </p:grpSpPr>
        <p:sp>
          <p:nvSpPr>
            <p:cNvPr id="15" name="AutoShape 15"/>
            <p:cNvSpPr/>
            <p:nvPr/>
          </p:nvSpPr>
          <p:spPr>
            <a:xfrm>
              <a:off x="0" y="146050"/>
              <a:ext cx="24384000" cy="0"/>
            </a:xfrm>
            <a:prstGeom prst="line">
              <a:avLst/>
            </a:prstGeom>
            <a:ln w="292100" cap="flat">
              <a:solidFill>
                <a:srgbClr val="135A5C"/>
              </a:solidFill>
              <a:prstDash val="solid"/>
              <a:headEnd type="none" w="sm" len="sm"/>
              <a:tailEnd type="none" w="sm" len="sm"/>
            </a:ln>
          </p:spPr>
          <p:txBody>
            <a:bodyPr/>
            <a:lstStyle/>
            <a:p>
              <a:endParaRPr lang="ar-EG"/>
            </a:p>
          </p:txBody>
        </p:sp>
        <p:sp>
          <p:nvSpPr>
            <p:cNvPr id="16" name="AutoShape 16"/>
            <p:cNvSpPr/>
            <p:nvPr/>
          </p:nvSpPr>
          <p:spPr>
            <a:xfrm flipV="1">
              <a:off x="0" y="146050"/>
              <a:ext cx="24384000" cy="0"/>
            </a:xfrm>
            <a:prstGeom prst="line">
              <a:avLst/>
            </a:prstGeom>
            <a:ln w="50800" cap="flat">
              <a:solidFill>
                <a:srgbClr val="FAE2A6"/>
              </a:solidFill>
              <a:prstDash val="solid"/>
              <a:headEnd type="none" w="sm" len="sm"/>
              <a:tailEnd type="none" w="sm" len="sm"/>
            </a:ln>
          </p:spPr>
          <p:txBody>
            <a:bodyPr/>
            <a:lstStyle/>
            <a:p>
              <a:endParaRPr lang="ar-EG"/>
            </a:p>
          </p:txBody>
        </p:sp>
      </p:grpSp>
      <p:grpSp>
        <p:nvGrpSpPr>
          <p:cNvPr id="17" name="Group 17"/>
          <p:cNvGrpSpPr/>
          <p:nvPr/>
        </p:nvGrpSpPr>
        <p:grpSpPr>
          <a:xfrm>
            <a:off x="2604506" y="1267085"/>
            <a:ext cx="13606531" cy="8371678"/>
            <a:chOff x="0" y="0"/>
            <a:chExt cx="18142042" cy="11162238"/>
          </a:xfrm>
        </p:grpSpPr>
        <p:grpSp>
          <p:nvGrpSpPr>
            <p:cNvPr id="18" name="Group 18"/>
            <p:cNvGrpSpPr/>
            <p:nvPr/>
          </p:nvGrpSpPr>
          <p:grpSpPr>
            <a:xfrm>
              <a:off x="0" y="0"/>
              <a:ext cx="18142042" cy="11162238"/>
              <a:chOff x="0" y="0"/>
              <a:chExt cx="1409893" cy="867463"/>
            </a:xfrm>
          </p:grpSpPr>
          <p:sp>
            <p:nvSpPr>
              <p:cNvPr id="19" name="Freeform 19"/>
              <p:cNvSpPr/>
              <p:nvPr/>
            </p:nvSpPr>
            <p:spPr>
              <a:xfrm>
                <a:off x="0" y="0"/>
                <a:ext cx="1409893" cy="867463"/>
              </a:xfrm>
              <a:custGeom>
                <a:avLst/>
                <a:gdLst/>
                <a:ahLst/>
                <a:cxnLst/>
                <a:rect l="l" t="t" r="r" b="b"/>
                <a:pathLst>
                  <a:path w="1409893" h="867463">
                    <a:moveTo>
                      <a:pt x="704946" y="0"/>
                    </a:moveTo>
                    <a:lnTo>
                      <a:pt x="1409893" y="433732"/>
                    </a:lnTo>
                    <a:lnTo>
                      <a:pt x="704946" y="867463"/>
                    </a:lnTo>
                    <a:lnTo>
                      <a:pt x="0" y="433732"/>
                    </a:lnTo>
                    <a:lnTo>
                      <a:pt x="704946" y="0"/>
                    </a:lnTo>
                    <a:close/>
                  </a:path>
                </a:pathLst>
              </a:custGeom>
              <a:solidFill>
                <a:srgbClr val="043732">
                  <a:alpha val="69804"/>
                </a:srgbClr>
              </a:solidFill>
            </p:spPr>
            <p:txBody>
              <a:bodyPr/>
              <a:lstStyle/>
              <a:p>
                <a:endParaRPr lang="ar-EG"/>
              </a:p>
            </p:txBody>
          </p:sp>
          <p:sp>
            <p:nvSpPr>
              <p:cNvPr id="20" name="TextBox 20"/>
              <p:cNvSpPr txBox="1"/>
              <p:nvPr/>
            </p:nvSpPr>
            <p:spPr>
              <a:xfrm>
                <a:off x="242325" y="91945"/>
                <a:ext cx="925242" cy="626423"/>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5958648" y="3738002"/>
              <a:ext cx="6224746" cy="3288991"/>
            </a:xfrm>
            <a:prstGeom prst="rect">
              <a:avLst/>
            </a:prstGeom>
          </p:spPr>
          <p:txBody>
            <a:bodyPr lIns="0" tIns="0" rIns="0" bIns="0" rtlCol="0" anchor="t">
              <a:spAutoFit/>
            </a:bodyPr>
            <a:lstStyle/>
            <a:p>
              <a:pPr algn="ctr">
                <a:lnSpc>
                  <a:spcPts val="14953"/>
                </a:lnSpc>
              </a:pPr>
              <a:r>
                <a:rPr lang="en-US" sz="10680" b="1">
                  <a:solidFill>
                    <a:srgbClr val="F7F2DE"/>
                  </a:solidFill>
                  <a:latin typeface="Canva Sans Bold"/>
                  <a:ea typeface="Canva Sans Bold"/>
                  <a:cs typeface="Canva Sans Bold"/>
                  <a:sym typeface="Canva Sans Bold"/>
                </a:rPr>
                <a:t>Q&amp;A</a:t>
              </a:r>
            </a:p>
            <a:p>
              <a:pPr algn="ctr">
                <a:lnSpc>
                  <a:spcPts val="4759"/>
                </a:lnSpc>
              </a:pPr>
              <a:r>
                <a:rPr lang="en-US" sz="3399">
                  <a:solidFill>
                    <a:srgbClr val="F7F2DE"/>
                  </a:solidFill>
                  <a:latin typeface="Canva Sans"/>
                  <a:ea typeface="Canva Sans"/>
                  <a:cs typeface="Canva Sans"/>
                  <a:sym typeface="Canva Sans"/>
                </a:rPr>
                <a:t>Any burning questions</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a:stretch>
          </a:blipFill>
        </p:spPr>
        <p:txBody>
          <a:bodyPr/>
          <a:lstStyle/>
          <a:p>
            <a:endParaRPr lang="ar-EG"/>
          </a:p>
        </p:txBody>
      </p:sp>
      <p:grpSp>
        <p:nvGrpSpPr>
          <p:cNvPr id="3" name="Group 3"/>
          <p:cNvGrpSpPr/>
          <p:nvPr/>
        </p:nvGrpSpPr>
        <p:grpSpPr>
          <a:xfrm>
            <a:off x="0" y="0"/>
            <a:ext cx="18288000" cy="10287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43732">
                <a:alpha val="55686"/>
              </a:srgbClr>
            </a:solidFill>
          </p:spPr>
          <p:txBody>
            <a:bodyPr/>
            <a:lstStyle/>
            <a:p>
              <a:endParaRPr lang="ar-EG"/>
            </a:p>
          </p:txBody>
        </p:sp>
        <p:sp>
          <p:nvSpPr>
            <p:cNvPr id="5" name="TextBox 5"/>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0" y="403697"/>
            <a:ext cx="18288000" cy="1476385"/>
            <a:chOff x="0" y="0"/>
            <a:chExt cx="24384000" cy="1968513"/>
          </a:xfrm>
        </p:grpSpPr>
        <p:sp>
          <p:nvSpPr>
            <p:cNvPr id="7" name="Freeform 7"/>
            <p:cNvSpPr/>
            <p:nvPr/>
          </p:nvSpPr>
          <p:spPr>
            <a:xfrm>
              <a:off x="0" y="83968"/>
              <a:ext cx="1892958" cy="1884545"/>
            </a:xfrm>
            <a:custGeom>
              <a:avLst/>
              <a:gdLst/>
              <a:ahLst/>
              <a:cxnLst/>
              <a:rect l="l" t="t" r="r" b="b"/>
              <a:pathLst>
                <a:path w="1892958" h="1884545">
                  <a:moveTo>
                    <a:pt x="0" y="0"/>
                  </a:moveTo>
                  <a:lnTo>
                    <a:pt x="1892958" y="0"/>
                  </a:lnTo>
                  <a:lnTo>
                    <a:pt x="1892958" y="1884545"/>
                  </a:lnTo>
                  <a:lnTo>
                    <a:pt x="0" y="1884545"/>
                  </a:lnTo>
                  <a:lnTo>
                    <a:pt x="0" y="0"/>
                  </a:lnTo>
                  <a:close/>
                </a:path>
              </a:pathLst>
            </a:custGeom>
            <a:blipFill>
              <a:blip r:embed="rId3"/>
              <a:stretch>
                <a:fillRect/>
              </a:stretch>
            </a:blipFill>
          </p:spPr>
          <p:txBody>
            <a:bodyPr/>
            <a:lstStyle/>
            <a:p>
              <a:endParaRPr lang="ar-EG"/>
            </a:p>
          </p:txBody>
        </p:sp>
        <p:sp>
          <p:nvSpPr>
            <p:cNvPr id="8" name="Freeform 8"/>
            <p:cNvSpPr/>
            <p:nvPr/>
          </p:nvSpPr>
          <p:spPr>
            <a:xfrm>
              <a:off x="1892958" y="0"/>
              <a:ext cx="1968513" cy="1968513"/>
            </a:xfrm>
            <a:custGeom>
              <a:avLst/>
              <a:gdLst/>
              <a:ahLst/>
              <a:cxnLst/>
              <a:rect l="l" t="t" r="r" b="b"/>
              <a:pathLst>
                <a:path w="1968513" h="1968513">
                  <a:moveTo>
                    <a:pt x="0" y="0"/>
                  </a:moveTo>
                  <a:lnTo>
                    <a:pt x="1968513" y="0"/>
                  </a:lnTo>
                  <a:lnTo>
                    <a:pt x="1968513" y="1968513"/>
                  </a:lnTo>
                  <a:lnTo>
                    <a:pt x="0" y="1968513"/>
                  </a:lnTo>
                  <a:lnTo>
                    <a:pt x="0" y="0"/>
                  </a:lnTo>
                  <a:close/>
                </a:path>
              </a:pathLst>
            </a:custGeom>
            <a:blipFill>
              <a:blip r:embed="rId4"/>
              <a:stretch>
                <a:fillRect/>
              </a:stretch>
            </a:blipFill>
          </p:spPr>
          <p:txBody>
            <a:bodyPr/>
            <a:lstStyle/>
            <a:p>
              <a:endParaRPr lang="ar-EG"/>
            </a:p>
          </p:txBody>
        </p:sp>
        <p:sp>
          <p:nvSpPr>
            <p:cNvPr id="9" name="Freeform 9"/>
            <p:cNvSpPr/>
            <p:nvPr/>
          </p:nvSpPr>
          <p:spPr>
            <a:xfrm>
              <a:off x="21033698" y="83968"/>
              <a:ext cx="3350302" cy="1884545"/>
            </a:xfrm>
            <a:custGeom>
              <a:avLst/>
              <a:gdLst/>
              <a:ahLst/>
              <a:cxnLst/>
              <a:rect l="l" t="t" r="r" b="b"/>
              <a:pathLst>
                <a:path w="3350302" h="1884545">
                  <a:moveTo>
                    <a:pt x="0" y="0"/>
                  </a:moveTo>
                  <a:lnTo>
                    <a:pt x="3350302" y="0"/>
                  </a:lnTo>
                  <a:lnTo>
                    <a:pt x="3350302" y="1884545"/>
                  </a:lnTo>
                  <a:lnTo>
                    <a:pt x="0" y="1884545"/>
                  </a:lnTo>
                  <a:lnTo>
                    <a:pt x="0" y="0"/>
                  </a:lnTo>
                  <a:close/>
                </a:path>
              </a:pathLst>
            </a:custGeom>
            <a:blipFill>
              <a:blip r:embed="rId5"/>
              <a:stretch>
                <a:fillRect/>
              </a:stretch>
            </a:blipFill>
          </p:spPr>
          <p:txBody>
            <a:bodyPr/>
            <a:lstStyle/>
            <a:p>
              <a:endParaRPr lang="ar-EG"/>
            </a:p>
          </p:txBody>
        </p:sp>
        <p:sp>
          <p:nvSpPr>
            <p:cNvPr id="10" name="TextBox 10"/>
            <p:cNvSpPr txBox="1"/>
            <p:nvPr/>
          </p:nvSpPr>
          <p:spPr>
            <a:xfrm>
              <a:off x="2887186" y="298668"/>
              <a:ext cx="18609628" cy="534670"/>
            </a:xfrm>
            <a:prstGeom prst="rect">
              <a:avLst/>
            </a:prstGeom>
          </p:spPr>
          <p:txBody>
            <a:bodyPr lIns="0" tIns="0" rIns="0" bIns="0" rtlCol="0" anchor="t">
              <a:spAutoFit/>
            </a:bodyPr>
            <a:lstStyle/>
            <a:p>
              <a:pPr algn="ctr">
                <a:lnSpc>
                  <a:spcPts val="3359"/>
                </a:lnSpc>
              </a:pPr>
              <a:r>
                <a:rPr lang="en-US" sz="2400" b="1">
                  <a:solidFill>
                    <a:srgbClr val="F7F2DE"/>
                  </a:solidFill>
                  <a:latin typeface="Arial Bold"/>
                  <a:ea typeface="Arial Bold"/>
                  <a:cs typeface="Arial Bold"/>
                  <a:sym typeface="Arial Bold"/>
                </a:rPr>
                <a:t>KSA Real Estate Analysis</a:t>
              </a:r>
            </a:p>
          </p:txBody>
        </p:sp>
      </p:grpSp>
      <p:grpSp>
        <p:nvGrpSpPr>
          <p:cNvPr id="11" name="Group 11"/>
          <p:cNvGrpSpPr/>
          <p:nvPr/>
        </p:nvGrpSpPr>
        <p:grpSpPr>
          <a:xfrm>
            <a:off x="0" y="3452495"/>
            <a:ext cx="18288000" cy="13781300"/>
            <a:chOff x="0" y="0"/>
            <a:chExt cx="1078598" cy="812800"/>
          </a:xfrm>
        </p:grpSpPr>
        <p:sp>
          <p:nvSpPr>
            <p:cNvPr id="12" name="Freeform 12"/>
            <p:cNvSpPr/>
            <p:nvPr/>
          </p:nvSpPr>
          <p:spPr>
            <a:xfrm>
              <a:off x="0" y="0"/>
              <a:ext cx="1078598" cy="812800"/>
            </a:xfrm>
            <a:custGeom>
              <a:avLst/>
              <a:gdLst/>
              <a:ahLst/>
              <a:cxnLst/>
              <a:rect l="l" t="t" r="r" b="b"/>
              <a:pathLst>
                <a:path w="1078598" h="812800">
                  <a:moveTo>
                    <a:pt x="539299" y="0"/>
                  </a:moveTo>
                  <a:cubicBezTo>
                    <a:pt x="241452" y="0"/>
                    <a:pt x="0" y="181951"/>
                    <a:pt x="0" y="406400"/>
                  </a:cubicBezTo>
                  <a:cubicBezTo>
                    <a:pt x="0" y="630849"/>
                    <a:pt x="241452" y="812800"/>
                    <a:pt x="539299" y="812800"/>
                  </a:cubicBezTo>
                  <a:cubicBezTo>
                    <a:pt x="837146" y="812800"/>
                    <a:pt x="1078598" y="630849"/>
                    <a:pt x="1078598" y="406400"/>
                  </a:cubicBezTo>
                  <a:cubicBezTo>
                    <a:pt x="1078598" y="181951"/>
                    <a:pt x="837146" y="0"/>
                    <a:pt x="539299" y="0"/>
                  </a:cubicBezTo>
                  <a:close/>
                </a:path>
              </a:pathLst>
            </a:custGeom>
            <a:solidFill>
              <a:srgbClr val="135A5C">
                <a:alpha val="60784"/>
              </a:srgbClr>
            </a:solidFill>
          </p:spPr>
          <p:txBody>
            <a:bodyPr/>
            <a:lstStyle/>
            <a:p>
              <a:endParaRPr lang="ar-EG"/>
            </a:p>
          </p:txBody>
        </p:sp>
        <p:sp>
          <p:nvSpPr>
            <p:cNvPr id="13" name="TextBox 13"/>
            <p:cNvSpPr txBox="1"/>
            <p:nvPr/>
          </p:nvSpPr>
          <p:spPr>
            <a:xfrm>
              <a:off x="101119" y="19050"/>
              <a:ext cx="876361" cy="717550"/>
            </a:xfrm>
            <a:prstGeom prst="rect">
              <a:avLst/>
            </a:prstGeom>
          </p:spPr>
          <p:txBody>
            <a:bodyPr lIns="50800" tIns="50800" rIns="50800" bIns="50800" rtlCol="0" anchor="ctr"/>
            <a:lstStyle/>
            <a:p>
              <a:pPr algn="ctr">
                <a:lnSpc>
                  <a:spcPts val="3359"/>
                </a:lnSpc>
              </a:pPr>
              <a:endParaRPr/>
            </a:p>
          </p:txBody>
        </p:sp>
      </p:grpSp>
      <p:sp>
        <p:nvSpPr>
          <p:cNvPr id="14" name="TextBox 14"/>
          <p:cNvSpPr txBox="1"/>
          <p:nvPr/>
        </p:nvSpPr>
        <p:spPr>
          <a:xfrm>
            <a:off x="89647" y="3355340"/>
            <a:ext cx="18288000" cy="3300094"/>
          </a:xfrm>
          <a:prstGeom prst="rect">
            <a:avLst/>
          </a:prstGeom>
        </p:spPr>
        <p:txBody>
          <a:bodyPr lIns="0" tIns="0" rIns="0" bIns="0" rtlCol="0" anchor="t">
            <a:spAutoFit/>
          </a:bodyPr>
          <a:lstStyle/>
          <a:p>
            <a:pPr algn="ctr">
              <a:lnSpc>
                <a:spcPts val="12880"/>
              </a:lnSpc>
            </a:pPr>
            <a:r>
              <a:rPr lang="en-US" sz="9200">
                <a:solidFill>
                  <a:srgbClr val="F7F2DE"/>
                </a:solidFill>
                <a:latin typeface="Horizon"/>
                <a:ea typeface="Horizon"/>
                <a:cs typeface="Horizon"/>
                <a:sym typeface="Horizon"/>
              </a:rPr>
              <a:t>Thank you for your interset</a:t>
            </a:r>
          </a:p>
        </p:txBody>
      </p:sp>
      <p:sp>
        <p:nvSpPr>
          <p:cNvPr id="15" name="TextBox 15"/>
          <p:cNvSpPr txBox="1"/>
          <p:nvPr/>
        </p:nvSpPr>
        <p:spPr>
          <a:xfrm>
            <a:off x="2165389" y="9201150"/>
            <a:ext cx="13957221" cy="415290"/>
          </a:xfrm>
          <a:prstGeom prst="rect">
            <a:avLst/>
          </a:prstGeom>
        </p:spPr>
        <p:txBody>
          <a:bodyPr lIns="0" tIns="0" rIns="0" bIns="0" rtlCol="0" anchor="t">
            <a:spAutoFit/>
          </a:bodyPr>
          <a:lstStyle/>
          <a:p>
            <a:pPr algn="ctr">
              <a:lnSpc>
                <a:spcPts val="3359"/>
              </a:lnSpc>
            </a:pPr>
            <a:r>
              <a:rPr lang="en-US" sz="2400" b="1">
                <a:solidFill>
                  <a:srgbClr val="F7F2DE"/>
                </a:solidFill>
                <a:latin typeface="Arial Bold"/>
                <a:ea typeface="Arial Bold"/>
                <a:cs typeface="Arial Bold"/>
                <a:sym typeface="Arial Bold"/>
              </a:rPr>
              <a:t>Your ultimate guide to real estate investment in KSA.</a:t>
            </a:r>
          </a:p>
        </p:txBody>
      </p:sp>
      <p:grpSp>
        <p:nvGrpSpPr>
          <p:cNvPr id="16" name="Group 16"/>
          <p:cNvGrpSpPr/>
          <p:nvPr/>
        </p:nvGrpSpPr>
        <p:grpSpPr>
          <a:xfrm>
            <a:off x="0" y="184622"/>
            <a:ext cx="18288000" cy="219075"/>
            <a:chOff x="0" y="0"/>
            <a:chExt cx="24384000" cy="292100"/>
          </a:xfrm>
        </p:grpSpPr>
        <p:sp>
          <p:nvSpPr>
            <p:cNvPr id="17" name="AutoShape 17"/>
            <p:cNvSpPr/>
            <p:nvPr/>
          </p:nvSpPr>
          <p:spPr>
            <a:xfrm>
              <a:off x="0" y="146050"/>
              <a:ext cx="24384000" cy="0"/>
            </a:xfrm>
            <a:prstGeom prst="line">
              <a:avLst/>
            </a:prstGeom>
            <a:ln w="292100" cap="flat">
              <a:solidFill>
                <a:srgbClr val="135A5C"/>
              </a:solidFill>
              <a:prstDash val="solid"/>
              <a:headEnd type="none" w="sm" len="sm"/>
              <a:tailEnd type="none" w="sm" len="sm"/>
            </a:ln>
          </p:spPr>
          <p:txBody>
            <a:bodyPr/>
            <a:lstStyle/>
            <a:p>
              <a:endParaRPr lang="ar-EG"/>
            </a:p>
          </p:txBody>
        </p:sp>
        <p:sp>
          <p:nvSpPr>
            <p:cNvPr id="18" name="AutoShape 18"/>
            <p:cNvSpPr/>
            <p:nvPr/>
          </p:nvSpPr>
          <p:spPr>
            <a:xfrm flipV="1">
              <a:off x="0" y="146050"/>
              <a:ext cx="24384000" cy="0"/>
            </a:xfrm>
            <a:prstGeom prst="line">
              <a:avLst/>
            </a:prstGeom>
            <a:ln w="50800" cap="flat">
              <a:solidFill>
                <a:srgbClr val="FAE2A6"/>
              </a:solidFill>
              <a:prstDash val="solid"/>
              <a:headEnd type="none" w="sm" len="sm"/>
              <a:tailEnd type="none" w="sm" len="sm"/>
            </a:ln>
          </p:spPr>
          <p:txBody>
            <a:bodyPr/>
            <a:lstStyle/>
            <a:p>
              <a:endParaRPr lang="ar-EG"/>
            </a:p>
          </p:txBody>
        </p:sp>
      </p:grpSp>
      <p:sp>
        <p:nvSpPr>
          <p:cNvPr id="19" name="AutoShape 19"/>
          <p:cNvSpPr/>
          <p:nvPr/>
        </p:nvSpPr>
        <p:spPr>
          <a:xfrm>
            <a:off x="0" y="9996805"/>
            <a:ext cx="18377647" cy="0"/>
          </a:xfrm>
          <a:prstGeom prst="line">
            <a:avLst/>
          </a:prstGeom>
          <a:ln w="38100" cap="flat">
            <a:solidFill>
              <a:srgbClr val="FAE2A6"/>
            </a:solidFill>
            <a:prstDash val="solid"/>
            <a:headEnd type="none" w="sm" len="sm"/>
            <a:tailEnd type="none" w="sm" len="sm"/>
          </a:ln>
        </p:spPr>
        <p:txBody>
          <a:bodyPr/>
          <a:lstStyle/>
          <a:p>
            <a:endParaRPr lang="ar-EG"/>
          </a:p>
        </p:txBody>
      </p:sp>
    </p:spTree>
  </p:cSld>
  <p:clrMapOvr>
    <a:masterClrMapping/>
  </p:clrMapOvr>
  <p:transition spd="slow">
    <p:cover dir="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179</TotalTime>
  <Words>1686</Words>
  <Application>Microsoft Office PowerPoint</Application>
  <PresentationFormat>Custom</PresentationFormat>
  <Paragraphs>272</Paragraphs>
  <Slides>30</Slides>
  <Notes>0</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 Bold</vt:lpstr>
      <vt:lpstr>Calibri</vt:lpstr>
      <vt:lpstr>Canva Sans</vt:lpstr>
      <vt:lpstr>Canva Sans Bold</vt:lpstr>
      <vt:lpstr>Montserrat Bold</vt:lpstr>
      <vt:lpstr>Cambria</vt:lpstr>
      <vt:lpstr>Horizon</vt:lpstr>
      <vt:lpstr>Montserrat Ultra-Bold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KSA Real Estate Analysis Your ultimate guide to real estate investment in KSA.</dc:title>
  <dc:creator>Lila-Roise</dc:creator>
  <cp:lastModifiedBy>fatema_2912b</cp:lastModifiedBy>
  <cp:revision>9</cp:revision>
  <dcterms:created xsi:type="dcterms:W3CDTF">2006-08-16T00:00:00Z</dcterms:created>
  <dcterms:modified xsi:type="dcterms:W3CDTF">2026-06-27T15:12:28Z</dcterms:modified>
  <dc:identifier>DAHIS7jM6MQ</dc:identifier>
</cp:coreProperties>
</file>